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5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p1914-fang (1).pdf — Abstract; Sections 1–6; Figures on multi-LLM applications, processing-function construction, and evaluation.</a:t>
            </a:r>
          </a:p>
          <a:p>
            <a:r>
              <a:t>- MIL_VLDB_0801_resubmit.zip — LaTeX source and original figure assets.</a:t>
            </a:r>
          </a:p>
          <a:p>
            <a:r>
              <a:t>- 给老板看/Mil-Fang.pptx — latest author-approved visible content and speaker notes for Slides 6 and 10–13; institution logos, result figures, and artifact QR code.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op-accent">
            <a:extLst>
              <a:ext uri="{FF2B5EF4-FFF2-40B4-BE49-F238E27FC236}">
                <a16:creationId xmlns:a16="http://schemas.microsoft.com/office/drawing/2014/main" id="{A9BACA7A-61D6-437F-8586-C0A446D8D5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1384000" cy="228600"/>
          </a:xfrm>
          <a:prstGeom prst="rect">
            <a:avLst/>
          </a:prstGeom>
          <a:solidFill>
            <a:srgbClr val="2687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itle-line-1">
            <a:extLst>
              <a:ext uri="{FF2B5EF4-FFF2-40B4-BE49-F238E27FC236}">
                <a16:creationId xmlns:a16="http://schemas.microsoft.com/office/drawing/2014/main" id="{470A5A21-A9D1-4025-994E-B212F239F77E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94976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900" b="1" i="0">
                <a:solidFill>
                  <a:srgbClr val="2687C8"/>
                </a:solidFill>
                <a:latin typeface="Arial"/>
                <a:ea typeface="Arial"/>
                <a:cs typeface="Arial"/>
              </a:defRPr>
            </a:pPr>
            <a:r>
              <a:rPr kumimoji="0" lang="en-US" altLang="zh-CN" sz="6400" b="1" i="0" u="none" strike="noStrike" kern="1200" cap="none" spc="0" normalizeH="0" baseline="0" noProof="0" dirty="0">
                <a:ln>
                  <a:noFill/>
                </a:ln>
                <a:solidFill>
                  <a:srgbClr val="2687C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Mil: </a:t>
            </a:r>
            <a:r>
              <a:rPr sz="6400" b="1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Cost-guided Minimum </a:t>
            </a:r>
            <a:r>
              <a:rPr sz="6400" b="1" i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Makespan</a:t>
            </a:r>
            <a:r>
              <a:rPr sz="6400" b="1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Scheduling</a:t>
            </a:r>
          </a:p>
        </p:txBody>
      </p:sp>
      <p:sp>
        <p:nvSpPr>
          <p:cNvPr id="5" name="title-line-2">
            <a:extLst>
              <a:ext uri="{FF2B5EF4-FFF2-40B4-BE49-F238E27FC236}">
                <a16:creationId xmlns:a16="http://schemas.microsoft.com/office/drawing/2014/main" id="{07056A2A-1ED4-4E7C-AE78-A58081ADA7A8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15525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57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400" b="1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for Applications of Multiple LLMs</a:t>
            </a:r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02C41764-38EC-465F-9908-B3A18BEF4798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495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Jingzhi Fang  ·  Yanyan Shen  ·  Yue Wang  ·  Lei Chen</a:t>
            </a:r>
          </a:p>
        </p:txBody>
      </p:sp>
      <p:sp>
        <p:nvSpPr>
          <p:cNvPr id="7" name="affiliations">
            <a:extLst>
              <a:ext uri="{FF2B5EF4-FFF2-40B4-BE49-F238E27FC236}">
                <a16:creationId xmlns:a16="http://schemas.microsoft.com/office/drawing/2014/main" id="{72ABF4B6-0404-4FB0-84BF-7B490725CBD0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15049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HKUST  ·  Shanghai Jiao Tong University  ·  Shenzhen Institute of Computing Sciences  ·  HKUST(GZ)</a:t>
            </a:r>
          </a:p>
        </p:txBody>
      </p:sp>
      <p:pic>
        <p:nvPicPr>
          <p:cNvPr id="229" name="图片 2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233199" y="2076449"/>
            <a:ext cx="2638105" cy="1381125"/>
          </a:xfrm>
          <a:prstGeom prst="rect">
            <a:avLst/>
          </a:prstGeom>
        </p:spPr>
      </p:pic>
      <p:pic>
        <p:nvPicPr>
          <p:cNvPr id="230" name="图形 2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5659100" y="3524250"/>
            <a:ext cx="2428875" cy="647700"/>
          </a:xfrm>
          <a:prstGeom prst="rect">
            <a:avLst/>
          </a:prstGeom>
        </p:spPr>
      </p:pic>
      <p:pic>
        <p:nvPicPr>
          <p:cNvPr id="231" name="图片 2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8233199" y="3524249"/>
            <a:ext cx="2867178" cy="648000"/>
          </a:xfrm>
          <a:prstGeom prst="rect">
            <a:avLst/>
          </a:prstGeom>
        </p:spPr>
      </p:pic>
      <p:sp>
        <p:nvSpPr>
          <p:cNvPr id="11" name="goal-band">
            <a:extLst>
              <a:ext uri="{FF2B5EF4-FFF2-40B4-BE49-F238E27FC236}">
                <a16:creationId xmlns:a16="http://schemas.microsoft.com/office/drawing/2014/main" id="{ED9E0968-815C-4B2D-9234-3DA327FBFFCE}"/>
              </a:ext>
            </a:extLst>
          </p:cNvPr>
          <p:cNvSpPr>
            <a:spLocks noGrp="1"/>
          </p:cNvSpPr>
          <p:nvPr/>
        </p:nvSpPr>
        <p:spPr>
          <a:xfrm>
            <a:off x="0" y="4810125"/>
            <a:ext cx="21384000" cy="60960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goal-band-text">
            <a:extLst>
              <a:ext uri="{FF2B5EF4-FFF2-40B4-BE49-F238E27FC236}">
                <a16:creationId xmlns:a16="http://schemas.microsoft.com/office/drawing/2014/main" id="{ACD68D5A-0124-4BC9-8CB8-5BBD918C9C2D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20164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Goal: minimize </a:t>
            </a:r>
            <a:r>
              <a:rPr lang="zh-CN" altLang="zh-CN" sz="2175" b="1" dirty="0">
                <a:solidFill>
                  <a:srgbClr val="FFFFFF"/>
                </a:solidFill>
                <a:latin typeface="Arial"/>
              </a:rPr>
              <a:t>offline inference</a:t>
            </a:r>
            <a:r>
              <a:rPr sz="2175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makespan</a:t>
            </a:r>
            <a:r>
              <a:rPr sz="2175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for </a:t>
            </a:r>
            <a:r>
              <a:rPr lang="en-US" altLang="zh-CN" sz="2175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multi-LLM applications</a:t>
            </a:r>
            <a:r>
              <a:rPr sz="2175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" name="column-separator-1">
            <a:extLst>
              <a:ext uri="{FF2B5EF4-FFF2-40B4-BE49-F238E27FC236}">
                <a16:creationId xmlns:a16="http://schemas.microsoft.com/office/drawing/2014/main" id="{3686552D-E9B9-4043-B2A5-888EBD787564}"/>
              </a:ext>
            </a:extLst>
          </p:cNvPr>
          <p:cNvSpPr>
            <a:spLocks noGrp="1"/>
          </p:cNvSpPr>
          <p:nvPr/>
        </p:nvSpPr>
        <p:spPr>
          <a:xfrm>
            <a:off x="6781800" y="5810250"/>
            <a:ext cx="19050" cy="23002875"/>
          </a:xfrm>
          <a:prstGeom prst="rect">
            <a:avLst/>
          </a:prstGeom>
          <a:solidFill>
            <a:srgbClr val="B8C2C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column-separator-2">
            <a:extLst>
              <a:ext uri="{FF2B5EF4-FFF2-40B4-BE49-F238E27FC236}">
                <a16:creationId xmlns:a16="http://schemas.microsoft.com/office/drawing/2014/main" id="{5392C9DE-E0AA-4850-83AD-CC01CC34EA8C}"/>
              </a:ext>
            </a:extLst>
          </p:cNvPr>
          <p:cNvSpPr>
            <a:spLocks noGrp="1"/>
          </p:cNvSpPr>
          <p:nvPr/>
        </p:nvSpPr>
        <p:spPr>
          <a:xfrm>
            <a:off x="13716000" y="5810250"/>
            <a:ext cx="19050" cy="23002875"/>
          </a:xfrm>
          <a:prstGeom prst="rect">
            <a:avLst/>
          </a:prstGeom>
          <a:solidFill>
            <a:srgbClr val="B8C2C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PROBLEM-number-bg">
            <a:extLst>
              <a:ext uri="{FF2B5EF4-FFF2-40B4-BE49-F238E27FC236}">
                <a16:creationId xmlns:a16="http://schemas.microsoft.com/office/drawing/2014/main" id="{59774CEC-9A10-435F-AA82-F145CFDA0C3D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666750" cy="590550"/>
          </a:xfrm>
          <a:prstGeom prst="rect">
            <a:avLst/>
          </a:prstGeom>
          <a:solidFill>
            <a:srgbClr val="2687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PROBLEM-number">
            <a:extLst>
              <a:ext uri="{FF2B5EF4-FFF2-40B4-BE49-F238E27FC236}">
                <a16:creationId xmlns:a16="http://schemas.microsoft.com/office/drawing/2014/main" id="{25A28903-5246-48B9-8ABA-CB15F1BCD592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PROBLEM-label">
            <a:extLst>
              <a:ext uri="{FF2B5EF4-FFF2-40B4-BE49-F238E27FC236}">
                <a16:creationId xmlns:a16="http://schemas.microsoft.com/office/drawing/2014/main" id="{DE0F49E3-7B71-43C9-B28C-4C291E73B811}"/>
              </a:ext>
            </a:extLst>
          </p:cNvPr>
          <p:cNvSpPr>
            <a:spLocks noGrp="1"/>
          </p:cNvSpPr>
          <p:nvPr/>
        </p:nvSpPr>
        <p:spPr>
          <a:xfrm>
            <a:off x="1466850" y="5762625"/>
            <a:ext cx="514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8" name="PROBLEM-rule">
            <a:extLst>
              <a:ext uri="{FF2B5EF4-FFF2-40B4-BE49-F238E27FC236}">
                <a16:creationId xmlns:a16="http://schemas.microsoft.com/office/drawing/2014/main" id="{ECA20691-25EE-4CD8-820B-C3868C50993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000750" cy="28575"/>
          </a:xfrm>
          <a:prstGeom prst="rect">
            <a:avLst/>
          </a:prstGeom>
          <a:solidFill>
            <a:srgbClr val="B8C2C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MIL-number-bg">
            <a:extLst>
              <a:ext uri="{FF2B5EF4-FFF2-40B4-BE49-F238E27FC236}">
                <a16:creationId xmlns:a16="http://schemas.microsoft.com/office/drawing/2014/main" id="{32F59FDC-4E32-4BF9-9074-1D2409E10A74}"/>
              </a:ext>
            </a:extLst>
          </p:cNvPr>
          <p:cNvSpPr>
            <a:spLocks noGrp="1"/>
          </p:cNvSpPr>
          <p:nvPr/>
        </p:nvSpPr>
        <p:spPr>
          <a:xfrm>
            <a:off x="6972300" y="5734050"/>
            <a:ext cx="666750" cy="590550"/>
          </a:xfrm>
          <a:prstGeom prst="rect">
            <a:avLst/>
          </a:prstGeom>
          <a:solidFill>
            <a:srgbClr val="1183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MIL-number">
            <a:extLst>
              <a:ext uri="{FF2B5EF4-FFF2-40B4-BE49-F238E27FC236}">
                <a16:creationId xmlns:a16="http://schemas.microsoft.com/office/drawing/2014/main" id="{96B256E4-7F19-4193-98E4-120F1FCF58B1}"/>
              </a:ext>
            </a:extLst>
          </p:cNvPr>
          <p:cNvSpPr>
            <a:spLocks noGrp="1"/>
          </p:cNvSpPr>
          <p:nvPr/>
        </p:nvSpPr>
        <p:spPr>
          <a:xfrm>
            <a:off x="6972300" y="57721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MIL-label">
            <a:extLst>
              <a:ext uri="{FF2B5EF4-FFF2-40B4-BE49-F238E27FC236}">
                <a16:creationId xmlns:a16="http://schemas.microsoft.com/office/drawing/2014/main" id="{9EF38B44-5F9E-4320-A1D1-7D738DE84D34}"/>
              </a:ext>
            </a:extLst>
          </p:cNvPr>
          <p:cNvSpPr>
            <a:spLocks noGrp="1"/>
          </p:cNvSpPr>
          <p:nvPr/>
        </p:nvSpPr>
        <p:spPr>
          <a:xfrm>
            <a:off x="7829550" y="5762625"/>
            <a:ext cx="571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MIL</a:t>
            </a:r>
          </a:p>
        </p:txBody>
      </p:sp>
      <p:sp>
        <p:nvSpPr>
          <p:cNvPr id="22" name="MIL-rule">
            <a:extLst>
              <a:ext uri="{FF2B5EF4-FFF2-40B4-BE49-F238E27FC236}">
                <a16:creationId xmlns:a16="http://schemas.microsoft.com/office/drawing/2014/main" id="{F5AE4A98-E280-4BC7-91B1-33F2D19CDF00}"/>
              </a:ext>
            </a:extLst>
          </p:cNvPr>
          <p:cNvSpPr>
            <a:spLocks noGrp="1"/>
          </p:cNvSpPr>
          <p:nvPr/>
        </p:nvSpPr>
        <p:spPr>
          <a:xfrm>
            <a:off x="6972300" y="6419850"/>
            <a:ext cx="6572250" cy="28575"/>
          </a:xfrm>
          <a:prstGeom prst="rect">
            <a:avLst/>
          </a:prstGeom>
          <a:solidFill>
            <a:srgbClr val="B8C2C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EVALUATION-number-bg">
            <a:extLst>
              <a:ext uri="{FF2B5EF4-FFF2-40B4-BE49-F238E27FC236}">
                <a16:creationId xmlns:a16="http://schemas.microsoft.com/office/drawing/2014/main" id="{A18121CB-9FC5-4741-A802-7FEFD0E6B8DF}"/>
              </a:ext>
            </a:extLst>
          </p:cNvPr>
          <p:cNvSpPr>
            <a:spLocks noGrp="1"/>
          </p:cNvSpPr>
          <p:nvPr/>
        </p:nvSpPr>
        <p:spPr>
          <a:xfrm>
            <a:off x="13906500" y="5734050"/>
            <a:ext cx="666750" cy="590550"/>
          </a:xfrm>
          <a:prstGeom prst="rect">
            <a:avLst/>
          </a:prstGeom>
          <a:solidFill>
            <a:srgbClr val="F29F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EVALUATION-number">
            <a:extLst>
              <a:ext uri="{FF2B5EF4-FFF2-40B4-BE49-F238E27FC236}">
                <a16:creationId xmlns:a16="http://schemas.microsoft.com/office/drawing/2014/main" id="{6F6AF0FE-F4C4-4715-946C-9F78EC97227E}"/>
              </a:ext>
            </a:extLst>
          </p:cNvPr>
          <p:cNvSpPr>
            <a:spLocks noGrp="1"/>
          </p:cNvSpPr>
          <p:nvPr/>
        </p:nvSpPr>
        <p:spPr>
          <a:xfrm>
            <a:off x="13906500" y="57721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EVALUATION-label">
            <a:extLst>
              <a:ext uri="{FF2B5EF4-FFF2-40B4-BE49-F238E27FC236}">
                <a16:creationId xmlns:a16="http://schemas.microsoft.com/office/drawing/2014/main" id="{66CB1397-6D47-414D-AB10-A02CF32F46C7}"/>
              </a:ext>
            </a:extLst>
          </p:cNvPr>
          <p:cNvSpPr>
            <a:spLocks noGrp="1"/>
          </p:cNvSpPr>
          <p:nvPr/>
        </p:nvSpPr>
        <p:spPr>
          <a:xfrm>
            <a:off x="14763750" y="5762625"/>
            <a:ext cx="6010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6" name="EVALUATION-rule">
            <a:extLst>
              <a:ext uri="{FF2B5EF4-FFF2-40B4-BE49-F238E27FC236}">
                <a16:creationId xmlns:a16="http://schemas.microsoft.com/office/drawing/2014/main" id="{14B32087-CA90-47DC-8517-0FBA9CE528BB}"/>
              </a:ext>
            </a:extLst>
          </p:cNvPr>
          <p:cNvSpPr>
            <a:spLocks noGrp="1"/>
          </p:cNvSpPr>
          <p:nvPr/>
        </p:nvSpPr>
        <p:spPr>
          <a:xfrm>
            <a:off x="13906500" y="6419850"/>
            <a:ext cx="6867900" cy="28575"/>
          </a:xfrm>
          <a:prstGeom prst="rect">
            <a:avLst/>
          </a:prstGeom>
          <a:solidFill>
            <a:srgbClr val="B8C2C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multi-llm-title">
            <a:extLst>
              <a:ext uri="{FF2B5EF4-FFF2-40B4-BE49-F238E27FC236}">
                <a16:creationId xmlns:a16="http://schemas.microsoft.com/office/drawing/2014/main" id="{1D9B7D9F-C22E-4667-A339-67B31CC44E68}"/>
              </a:ext>
            </a:extLst>
          </p:cNvPr>
          <p:cNvSpPr>
            <a:spLocks noGrp="1"/>
          </p:cNvSpPr>
          <p:nvPr/>
        </p:nvSpPr>
        <p:spPr>
          <a:xfrm>
            <a:off x="609600" y="6667500"/>
            <a:ext cx="600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Multi-LLM applications</a:t>
            </a:r>
          </a:p>
        </p:txBody>
      </p:sp>
      <p:pic>
        <p:nvPicPr>
          <p:cNvPr id="249" name="图片 24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81050" y="7241937"/>
            <a:ext cx="5657850" cy="3575526"/>
          </a:xfrm>
          <a:prstGeom prst="rect">
            <a:avLst/>
          </a:prstGeom>
        </p:spPr>
      </p:pic>
      <p:sp>
        <p:nvSpPr>
          <p:cNvPr id="29" name="multi-llm-caption">
            <a:extLst>
              <a:ext uri="{FF2B5EF4-FFF2-40B4-BE49-F238E27FC236}">
                <a16:creationId xmlns:a16="http://schemas.microsoft.com/office/drawing/2014/main" id="{E7542399-C08F-413D-8C3D-BDF77859237D}"/>
              </a:ext>
            </a:extLst>
          </p:cNvPr>
          <p:cNvSpPr>
            <a:spLocks noGrp="1"/>
          </p:cNvSpPr>
          <p:nvPr/>
        </p:nvSpPr>
        <p:spPr>
          <a:xfrm>
            <a:off x="800100" y="10877550"/>
            <a:ext cx="561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Computation graphs: nodes are LLMs; edges carry data. </a:t>
            </a:r>
          </a:p>
        </p:txBody>
      </p:sp>
      <p:sp>
        <p:nvSpPr>
          <p:cNvPr id="30" name="offline-problem-panel">
            <a:extLst>
              <a:ext uri="{FF2B5EF4-FFF2-40B4-BE49-F238E27FC236}">
                <a16:creationId xmlns:a16="http://schemas.microsoft.com/office/drawing/2014/main" id="{D8DDBB68-EE03-42C2-95BB-FF5CA79BF97D}"/>
              </a:ext>
            </a:extLst>
          </p:cNvPr>
          <p:cNvSpPr>
            <a:spLocks noGrp="1"/>
          </p:cNvSpPr>
          <p:nvPr/>
        </p:nvSpPr>
        <p:spPr>
          <a:xfrm>
            <a:off x="609600" y="11715750"/>
            <a:ext cx="6000750" cy="4810125"/>
          </a:xfrm>
          <a:prstGeom prst="roundRect">
            <a:avLst>
              <a:gd name="adj" fmla="val 1584"/>
            </a:avLst>
          </a:prstGeom>
          <a:solidFill>
            <a:srgbClr val="EAF6FD"/>
          </a:solidFill>
          <a:ln w="14288">
            <a:solidFill>
              <a:srgbClr val="B9DD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offline-title">
            <a:extLst>
              <a:ext uri="{FF2B5EF4-FFF2-40B4-BE49-F238E27FC236}">
                <a16:creationId xmlns:a16="http://schemas.microsoft.com/office/drawing/2014/main" id="{DF79438E-14FF-45B5-83BB-9A9BE253159F}"/>
              </a:ext>
            </a:extLst>
          </p:cNvPr>
          <p:cNvSpPr>
            <a:spLocks noGrp="1"/>
          </p:cNvSpPr>
          <p:nvPr/>
        </p:nvSpPr>
        <p:spPr>
          <a:xfrm>
            <a:off x="876300" y="11953875"/>
            <a:ext cx="546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 i="0">
                <a:solidFill>
                  <a:srgbClr val="0B5B8A"/>
                </a:solidFill>
                <a:latin typeface="Arial"/>
                <a:ea typeface="Arial"/>
                <a:cs typeface="Arial"/>
              </a:defRPr>
            </a:pPr>
            <a:r>
              <a:rPr sz="2700" b="1" i="0" dirty="0">
                <a:solidFill>
                  <a:srgbClr val="0B5B8A"/>
                </a:solidFill>
                <a:latin typeface="Arial"/>
                <a:ea typeface="Arial"/>
                <a:cs typeface="Arial"/>
              </a:rPr>
              <a:t>Offline scheduling jointly decides</a:t>
            </a:r>
          </a:p>
        </p:txBody>
      </p:sp>
      <p:sp>
        <p:nvSpPr>
          <p:cNvPr id="32" name="offline-input">
            <a:extLst>
              <a:ext uri="{FF2B5EF4-FFF2-40B4-BE49-F238E27FC236}">
                <a16:creationId xmlns:a16="http://schemas.microsoft.com/office/drawing/2014/main" id="{90AF69D2-A56D-41F4-BE03-239350D63615}"/>
              </a:ext>
            </a:extLst>
          </p:cNvPr>
          <p:cNvSpPr>
            <a:spLocks noGrp="1"/>
          </p:cNvSpPr>
          <p:nvPr/>
        </p:nvSpPr>
        <p:spPr>
          <a:xfrm>
            <a:off x="876300" y="12477750"/>
            <a:ext cx="5467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 lnSpcReduction="10000"/>
          </a:bodyPr>
          <a:lstStyle/>
          <a:p>
            <a:pPr algn="l">
              <a:defRPr sz="157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INPUT</a:t>
            </a:r>
            <a:r>
              <a:rPr lang="en-US" sz="1575" b="1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:</a:t>
            </a:r>
            <a:r>
              <a:rPr sz="1575" b="1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   application graph  +  prepared requests  + </a:t>
            </a:r>
            <a:r>
              <a:rPr lang="en-US" sz="1575" b="1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candidate </a:t>
            </a:r>
            <a:r>
              <a:rPr sz="1575" b="1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execution plans  +  N GPUs</a:t>
            </a:r>
          </a:p>
        </p:txBody>
      </p:sp>
      <p:sp>
        <p:nvSpPr>
          <p:cNvPr id="33" name="decision-1-circle">
            <a:extLst>
              <a:ext uri="{FF2B5EF4-FFF2-40B4-BE49-F238E27FC236}">
                <a16:creationId xmlns:a16="http://schemas.microsoft.com/office/drawing/2014/main" id="{054992AD-779D-4548-8859-AA9853A0777E}"/>
              </a:ext>
            </a:extLst>
          </p:cNvPr>
          <p:cNvSpPr>
            <a:spLocks noGrp="1"/>
          </p:cNvSpPr>
          <p:nvPr/>
        </p:nvSpPr>
        <p:spPr>
          <a:xfrm>
            <a:off x="914400" y="13144500"/>
            <a:ext cx="457200" cy="457200"/>
          </a:xfrm>
          <a:prstGeom prst="ellipse">
            <a:avLst/>
          </a:prstGeom>
          <a:solidFill>
            <a:srgbClr val="2687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decision-1">
            <a:extLst>
              <a:ext uri="{FF2B5EF4-FFF2-40B4-BE49-F238E27FC236}">
                <a16:creationId xmlns:a16="http://schemas.microsoft.com/office/drawing/2014/main" id="{1D43D25B-887E-4F47-BC1B-0B72EC8861C8}"/>
              </a:ext>
            </a:extLst>
          </p:cNvPr>
          <p:cNvSpPr>
            <a:spLocks noGrp="1"/>
          </p:cNvSpPr>
          <p:nvPr/>
        </p:nvSpPr>
        <p:spPr>
          <a:xfrm>
            <a:off x="914400" y="13154025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decision-1-title">
            <a:extLst>
              <a:ext uri="{FF2B5EF4-FFF2-40B4-BE49-F238E27FC236}">
                <a16:creationId xmlns:a16="http://schemas.microsoft.com/office/drawing/2014/main" id="{C7905C79-6C07-4B7A-8247-DE03EA5148D8}"/>
              </a:ext>
            </a:extLst>
          </p:cNvPr>
          <p:cNvSpPr>
            <a:spLocks noGrp="1"/>
          </p:cNvSpPr>
          <p:nvPr/>
        </p:nvSpPr>
        <p:spPr>
          <a:xfrm>
            <a:off x="1504950" y="131349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GPU allocation</a:t>
            </a:r>
          </a:p>
        </p:txBody>
      </p:sp>
      <p:sp>
        <p:nvSpPr>
          <p:cNvPr id="36" name="decision-1-sub">
            <a:extLst>
              <a:ext uri="{FF2B5EF4-FFF2-40B4-BE49-F238E27FC236}">
                <a16:creationId xmlns:a16="http://schemas.microsoft.com/office/drawing/2014/main" id="{88B28EE2-DC4B-4BC2-BD8E-1081F731F162}"/>
              </a:ext>
            </a:extLst>
          </p:cNvPr>
          <p:cNvSpPr>
            <a:spLocks noGrp="1"/>
          </p:cNvSpPr>
          <p:nvPr/>
        </p:nvSpPr>
        <p:spPr>
          <a:xfrm>
            <a:off x="3943350" y="13154024"/>
            <a:ext cx="2400300" cy="438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431" lnSpcReduction="10000"/>
          </a:bodyPr>
          <a:lstStyle/>
          <a:p>
            <a:pPr algn="l"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how many GPUs </a:t>
            </a:r>
            <a:r>
              <a:rPr lang="en-US" sz="15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for each</a:t>
            </a:r>
            <a:r>
              <a:rPr sz="15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model</a:t>
            </a:r>
          </a:p>
        </p:txBody>
      </p:sp>
      <p:sp>
        <p:nvSpPr>
          <p:cNvPr id="37" name="decision-2-circle">
            <a:extLst>
              <a:ext uri="{FF2B5EF4-FFF2-40B4-BE49-F238E27FC236}">
                <a16:creationId xmlns:a16="http://schemas.microsoft.com/office/drawing/2014/main" id="{501B84DE-9C69-4A03-9F67-45EBFC99BD6D}"/>
              </a:ext>
            </a:extLst>
          </p:cNvPr>
          <p:cNvSpPr>
            <a:spLocks noGrp="1"/>
          </p:cNvSpPr>
          <p:nvPr/>
        </p:nvSpPr>
        <p:spPr>
          <a:xfrm>
            <a:off x="914400" y="13811250"/>
            <a:ext cx="457200" cy="457200"/>
          </a:xfrm>
          <a:prstGeom prst="ellipse">
            <a:avLst/>
          </a:prstGeom>
          <a:solidFill>
            <a:srgbClr val="2687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decision-2">
            <a:extLst>
              <a:ext uri="{FF2B5EF4-FFF2-40B4-BE49-F238E27FC236}">
                <a16:creationId xmlns:a16="http://schemas.microsoft.com/office/drawing/2014/main" id="{F1FAA68C-B0DE-40DB-B5BB-4043844A2CCC}"/>
              </a:ext>
            </a:extLst>
          </p:cNvPr>
          <p:cNvSpPr>
            <a:spLocks noGrp="1"/>
          </p:cNvSpPr>
          <p:nvPr/>
        </p:nvSpPr>
        <p:spPr>
          <a:xfrm>
            <a:off x="914400" y="13820775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decision-2-sub">
            <a:extLst>
              <a:ext uri="{FF2B5EF4-FFF2-40B4-BE49-F238E27FC236}">
                <a16:creationId xmlns:a16="http://schemas.microsoft.com/office/drawing/2014/main" id="{21497882-F6F8-48D5-AEAF-690BC5722AF7}"/>
              </a:ext>
            </a:extLst>
          </p:cNvPr>
          <p:cNvSpPr>
            <a:spLocks noGrp="1"/>
          </p:cNvSpPr>
          <p:nvPr/>
        </p:nvSpPr>
        <p:spPr>
          <a:xfrm>
            <a:off x="3943350" y="13820774"/>
            <a:ext cx="2571166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pPr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575" dirty="0">
                <a:solidFill>
                  <a:srgbClr val="52606D"/>
                </a:solidFill>
                <a:latin typeface="Arial"/>
              </a:rPr>
              <a:t>parallelism</a:t>
            </a:r>
            <a:r>
              <a:rPr sz="15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strategy for each model</a:t>
            </a:r>
            <a:endParaRPr sz="1575" b="0" i="0" dirty="0">
              <a:solidFill>
                <a:srgbClr val="5260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decision-3-circle">
            <a:extLst>
              <a:ext uri="{FF2B5EF4-FFF2-40B4-BE49-F238E27FC236}">
                <a16:creationId xmlns:a16="http://schemas.microsoft.com/office/drawing/2014/main" id="{B45FA0EB-F48F-4886-AD6C-780F428BF85A}"/>
              </a:ext>
            </a:extLst>
          </p:cNvPr>
          <p:cNvSpPr>
            <a:spLocks noGrp="1"/>
          </p:cNvSpPr>
          <p:nvPr/>
        </p:nvSpPr>
        <p:spPr>
          <a:xfrm>
            <a:off x="914400" y="14478000"/>
            <a:ext cx="457200" cy="457200"/>
          </a:xfrm>
          <a:prstGeom prst="ellipse">
            <a:avLst/>
          </a:prstGeom>
          <a:solidFill>
            <a:srgbClr val="2687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decision-3">
            <a:extLst>
              <a:ext uri="{FF2B5EF4-FFF2-40B4-BE49-F238E27FC236}">
                <a16:creationId xmlns:a16="http://schemas.microsoft.com/office/drawing/2014/main" id="{5066CF42-EBFC-42E7-BEE1-18361997CA8A}"/>
              </a:ext>
            </a:extLst>
          </p:cNvPr>
          <p:cNvSpPr>
            <a:spLocks noGrp="1"/>
          </p:cNvSpPr>
          <p:nvPr/>
        </p:nvSpPr>
        <p:spPr>
          <a:xfrm>
            <a:off x="914400" y="14487525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decision-3-title">
            <a:extLst>
              <a:ext uri="{FF2B5EF4-FFF2-40B4-BE49-F238E27FC236}">
                <a16:creationId xmlns:a16="http://schemas.microsoft.com/office/drawing/2014/main" id="{A78BFE08-0FEB-41D9-8643-AF2C5EB83530}"/>
              </a:ext>
            </a:extLst>
          </p:cNvPr>
          <p:cNvSpPr>
            <a:spLocks noGrp="1"/>
          </p:cNvSpPr>
          <p:nvPr/>
        </p:nvSpPr>
        <p:spPr>
          <a:xfrm>
            <a:off x="1504950" y="144684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Model orchestration</a:t>
            </a:r>
          </a:p>
        </p:txBody>
      </p:sp>
      <p:sp>
        <p:nvSpPr>
          <p:cNvPr id="44" name="decision-3-sub">
            <a:extLst>
              <a:ext uri="{FF2B5EF4-FFF2-40B4-BE49-F238E27FC236}">
                <a16:creationId xmlns:a16="http://schemas.microsoft.com/office/drawing/2014/main" id="{3932EB61-EDA0-42E0-80EA-3F122EBB93F2}"/>
              </a:ext>
            </a:extLst>
          </p:cNvPr>
          <p:cNvSpPr>
            <a:spLocks noGrp="1"/>
          </p:cNvSpPr>
          <p:nvPr/>
        </p:nvSpPr>
        <p:spPr>
          <a:xfrm>
            <a:off x="3943350" y="14487524"/>
            <a:ext cx="24003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888"/>
          </a:bodyPr>
          <a:lstStyle/>
          <a:p>
            <a:pPr algn="l"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timing, overlap, </a:t>
            </a:r>
            <a:r>
              <a:rPr lang="en-US" sz="15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preemption</a:t>
            </a:r>
            <a:endParaRPr sz="1575" b="0" i="0" dirty="0">
              <a:solidFill>
                <a:srgbClr val="5260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objective-box">
            <a:extLst>
              <a:ext uri="{FF2B5EF4-FFF2-40B4-BE49-F238E27FC236}">
                <a16:creationId xmlns:a16="http://schemas.microsoft.com/office/drawing/2014/main" id="{CB0B56F0-7436-4917-A5BA-A5522168F71B}"/>
              </a:ext>
            </a:extLst>
          </p:cNvPr>
          <p:cNvSpPr>
            <a:spLocks noGrp="1"/>
          </p:cNvSpPr>
          <p:nvPr/>
        </p:nvSpPr>
        <p:spPr>
          <a:xfrm>
            <a:off x="876300" y="15240000"/>
            <a:ext cx="5467350" cy="95250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objective-label">
            <a:extLst>
              <a:ext uri="{FF2B5EF4-FFF2-40B4-BE49-F238E27FC236}">
                <a16:creationId xmlns:a16="http://schemas.microsoft.com/office/drawing/2014/main" id="{C00AF4DC-BBC5-4D51-91B5-C90D61915F57}"/>
              </a:ext>
            </a:extLst>
          </p:cNvPr>
          <p:cNvSpPr>
            <a:spLocks noGrp="1"/>
          </p:cNvSpPr>
          <p:nvPr/>
        </p:nvSpPr>
        <p:spPr>
          <a:xfrm>
            <a:off x="1085850" y="15401925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040"/>
          </a:bodyPr>
          <a:lstStyle/>
          <a:p>
            <a:pPr algn="l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MLAS objective</a:t>
            </a:r>
          </a:p>
        </p:txBody>
      </p:sp>
      <p:sp>
        <p:nvSpPr>
          <p:cNvPr id="47" name="objective">
            <a:extLst>
              <a:ext uri="{FF2B5EF4-FFF2-40B4-BE49-F238E27FC236}">
                <a16:creationId xmlns:a16="http://schemas.microsoft.com/office/drawing/2014/main" id="{3B29C319-1B4D-452E-8B38-69D343368E3B}"/>
              </a:ext>
            </a:extLst>
          </p:cNvPr>
          <p:cNvSpPr>
            <a:spLocks noGrp="1"/>
          </p:cNvSpPr>
          <p:nvPr/>
        </p:nvSpPr>
        <p:spPr>
          <a:xfrm>
            <a:off x="2943225" y="15401925"/>
            <a:ext cx="3095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 </a:t>
            </a:r>
            <a:r>
              <a:rPr lang="en-US" sz="21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</a:t>
            </a:r>
            <a:r>
              <a:rPr sz="21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maxⱼ Cⱼ</a:t>
            </a:r>
            <a:r>
              <a:rPr lang="en-US" sz="21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)</a:t>
            </a:r>
            <a:endParaRPr sz="2100" b="1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objective-caption">
            <a:extLst>
              <a:ext uri="{FF2B5EF4-FFF2-40B4-BE49-F238E27FC236}">
                <a16:creationId xmlns:a16="http://schemas.microsoft.com/office/drawing/2014/main" id="{90D34D3E-5F7A-4349-9449-1F576D1DDD22}"/>
              </a:ext>
            </a:extLst>
          </p:cNvPr>
          <p:cNvSpPr>
            <a:spLocks noGrp="1"/>
          </p:cNvSpPr>
          <p:nvPr/>
        </p:nvSpPr>
        <p:spPr>
          <a:xfrm>
            <a:off x="1028700" y="15811500"/>
            <a:ext cx="516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 i="0">
                <a:solidFill>
                  <a:srgbClr val="D9E7F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9E7F0"/>
                </a:solidFill>
                <a:latin typeface="Arial"/>
                <a:ea typeface="Arial"/>
                <a:cs typeface="Arial"/>
              </a:rPr>
              <a:t>Cⱼ is the completion time of model Mⱼ.</a:t>
            </a:r>
          </a:p>
        </p:txBody>
      </p:sp>
      <p:sp>
        <p:nvSpPr>
          <p:cNvPr id="49" name="why-title">
            <a:extLst>
              <a:ext uri="{FF2B5EF4-FFF2-40B4-BE49-F238E27FC236}">
                <a16:creationId xmlns:a16="http://schemas.microsoft.com/office/drawing/2014/main" id="{F303C4D8-93AD-4F29-9C01-2836D26BE7A9}"/>
              </a:ext>
            </a:extLst>
          </p:cNvPr>
          <p:cNvSpPr>
            <a:spLocks noGrp="1"/>
          </p:cNvSpPr>
          <p:nvPr/>
        </p:nvSpPr>
        <p:spPr>
          <a:xfrm>
            <a:off x="609600" y="16954500"/>
            <a:ext cx="600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830"/>
          </a:bodyPr>
          <a:lstStyle/>
          <a:p>
            <a:pPr algn="l">
              <a:defRPr sz="28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Why simple rules and prior </a:t>
            </a:r>
            <a:r>
              <a:rPr lang="en-US" sz="285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art</a:t>
            </a:r>
            <a:r>
              <a:rPr sz="285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miss</a:t>
            </a:r>
          </a:p>
        </p:txBody>
      </p:sp>
      <p:sp>
        <p:nvSpPr>
          <p:cNvPr id="50" name="simple-example-title">
            <a:extLst>
              <a:ext uri="{FF2B5EF4-FFF2-40B4-BE49-F238E27FC236}">
                <a16:creationId xmlns:a16="http://schemas.microsoft.com/office/drawing/2014/main" id="{997B5B54-976F-4A60-82F6-884B84A4F191}"/>
              </a:ext>
            </a:extLst>
          </p:cNvPr>
          <p:cNvSpPr>
            <a:spLocks noGrp="1"/>
          </p:cNvSpPr>
          <p:nvPr/>
        </p:nvSpPr>
        <p:spPr>
          <a:xfrm>
            <a:off x="704850" y="1744980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Example: ensembling six LLMs on four GPUs</a:t>
            </a:r>
          </a:p>
        </p:txBody>
      </p:sp>
      <p:sp>
        <p:nvSpPr>
          <p:cNvPr id="51" name="simple-example-assumptions">
            <a:extLst>
              <a:ext uri="{FF2B5EF4-FFF2-40B4-BE49-F238E27FC236}">
                <a16:creationId xmlns:a16="http://schemas.microsoft.com/office/drawing/2014/main" id="{A320BD4F-58EE-46DA-98E2-FB8D6E6BBBE3}"/>
              </a:ext>
            </a:extLst>
          </p:cNvPr>
          <p:cNvSpPr>
            <a:spLocks noGrp="1"/>
          </p:cNvSpPr>
          <p:nvPr/>
        </p:nvSpPr>
        <p:spPr>
          <a:xfrm>
            <a:off x="704850" y="17735550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38"/>
          </a:bodyPr>
          <a:lstStyle/>
          <a:p>
            <a:pPr algn="ctr"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Data parallelism only · rates fixed during inference · ρ₁ linear in GPU count · ρ₂–ρ₆ concave</a:t>
            </a:r>
          </a:p>
          <a:p>
            <a:pPr algn="ctr"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(ρᵢ: the processing rate of model </a:t>
            </a:r>
            <a:r>
              <a:rPr sz="1275" b="0" i="0" dirty="0" err="1">
                <a:solidFill>
                  <a:srgbClr val="52606D"/>
                </a:solidFill>
                <a:latin typeface="Arial"/>
                <a:ea typeface="Arial"/>
                <a:cs typeface="Arial"/>
              </a:rPr>
              <a:t>i</a:t>
            </a:r>
            <a:r>
              <a:rPr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pic>
        <p:nvPicPr>
          <p:cNvPr id="273" name="图片 272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68635" y="18145125"/>
            <a:ext cx="5082681" cy="2905125"/>
          </a:xfrm>
          <a:prstGeom prst="rect">
            <a:avLst/>
          </a:prstGeom>
        </p:spPr>
      </p:pic>
      <p:sp>
        <p:nvSpPr>
          <p:cNvPr id="53" name="choice-a-bg">
            <a:extLst>
              <a:ext uri="{FF2B5EF4-FFF2-40B4-BE49-F238E27FC236}">
                <a16:creationId xmlns:a16="http://schemas.microsoft.com/office/drawing/2014/main" id="{30506EC3-CB41-4F8B-A5D7-6D5B3EDE530F}"/>
              </a:ext>
            </a:extLst>
          </p:cNvPr>
          <p:cNvSpPr>
            <a:spLocks noGrp="1"/>
          </p:cNvSpPr>
          <p:nvPr/>
        </p:nvSpPr>
        <p:spPr>
          <a:xfrm>
            <a:off x="2490787" y="18138775"/>
            <a:ext cx="1095375" cy="342900"/>
          </a:xfrm>
          <a:prstGeom prst="roundRect">
            <a:avLst>
              <a:gd name="adj" fmla="val 22222"/>
            </a:avLst>
          </a:prstGeom>
          <a:solidFill>
            <a:srgbClr val="EAF6F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choice-a">
            <a:extLst>
              <a:ext uri="{FF2B5EF4-FFF2-40B4-BE49-F238E27FC236}">
                <a16:creationId xmlns:a16="http://schemas.microsoft.com/office/drawing/2014/main" id="{D7822770-9552-4A2F-9CDE-7DF614BD48C3}"/>
              </a:ext>
            </a:extLst>
          </p:cNvPr>
          <p:cNvSpPr>
            <a:spLocks noGrp="1"/>
          </p:cNvSpPr>
          <p:nvPr/>
        </p:nvSpPr>
        <p:spPr>
          <a:xfrm>
            <a:off x="2566987" y="18167350"/>
            <a:ext cx="942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0B5B8A"/>
                </a:solidFill>
                <a:latin typeface="Arial"/>
                <a:ea typeface="Arial"/>
                <a:cs typeface="Arial"/>
              </a:defRPr>
            </a:pPr>
            <a:r>
              <a:rPr sz="1425" b="1" i="0" dirty="0">
                <a:solidFill>
                  <a:srgbClr val="0B5B8A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55" name="choice-b-bg">
            <a:extLst>
              <a:ext uri="{FF2B5EF4-FFF2-40B4-BE49-F238E27FC236}">
                <a16:creationId xmlns:a16="http://schemas.microsoft.com/office/drawing/2014/main" id="{5127DD10-E7A3-4D1D-934B-92556D6B0BD1}"/>
              </a:ext>
            </a:extLst>
          </p:cNvPr>
          <p:cNvSpPr>
            <a:spLocks noGrp="1"/>
          </p:cNvSpPr>
          <p:nvPr/>
        </p:nvSpPr>
        <p:spPr>
          <a:xfrm>
            <a:off x="4829175" y="18135600"/>
            <a:ext cx="1866900" cy="342900"/>
          </a:xfrm>
          <a:prstGeom prst="roundRect">
            <a:avLst>
              <a:gd name="adj" fmla="val 22222"/>
            </a:avLst>
          </a:prstGeom>
          <a:solidFill>
            <a:srgbClr val="EAF6F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choice-b">
            <a:extLst>
              <a:ext uri="{FF2B5EF4-FFF2-40B4-BE49-F238E27FC236}">
                <a16:creationId xmlns:a16="http://schemas.microsoft.com/office/drawing/2014/main" id="{1A5AB0E2-8AEE-410C-838E-4A18B976D44C}"/>
              </a:ext>
            </a:extLst>
          </p:cNvPr>
          <p:cNvSpPr>
            <a:spLocks noGrp="1"/>
          </p:cNvSpPr>
          <p:nvPr/>
        </p:nvSpPr>
        <p:spPr>
          <a:xfrm>
            <a:off x="4905375" y="181641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0B5B8A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0B5B8A"/>
                </a:solidFill>
                <a:latin typeface="Arial"/>
                <a:ea typeface="Arial"/>
                <a:cs typeface="Arial"/>
              </a:rPr>
              <a:t>PREEMPTIVE MIN</a:t>
            </a:r>
          </a:p>
        </p:txBody>
      </p:sp>
      <p:sp>
        <p:nvSpPr>
          <p:cNvPr id="57" name="choice-c-bg">
            <a:extLst>
              <a:ext uri="{FF2B5EF4-FFF2-40B4-BE49-F238E27FC236}">
                <a16:creationId xmlns:a16="http://schemas.microsoft.com/office/drawing/2014/main" id="{3EB10EFF-F942-49FA-887B-221025A856B0}"/>
              </a:ext>
            </a:extLst>
          </p:cNvPr>
          <p:cNvSpPr>
            <a:spLocks noGrp="1"/>
          </p:cNvSpPr>
          <p:nvPr/>
        </p:nvSpPr>
        <p:spPr>
          <a:xfrm>
            <a:off x="1998416" y="19589750"/>
            <a:ext cx="2171700" cy="342900"/>
          </a:xfrm>
          <a:prstGeom prst="roundRect">
            <a:avLst>
              <a:gd name="adj" fmla="val 22222"/>
            </a:avLst>
          </a:prstGeom>
          <a:solidFill>
            <a:srgbClr val="EAF6F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choice-c">
            <a:extLst>
              <a:ext uri="{FF2B5EF4-FFF2-40B4-BE49-F238E27FC236}">
                <a16:creationId xmlns:a16="http://schemas.microsoft.com/office/drawing/2014/main" id="{7F645139-AD6D-4028-85A1-422E57FA575D}"/>
              </a:ext>
            </a:extLst>
          </p:cNvPr>
          <p:cNvSpPr>
            <a:spLocks noGrp="1"/>
          </p:cNvSpPr>
          <p:nvPr/>
        </p:nvSpPr>
        <p:spPr>
          <a:xfrm>
            <a:off x="2074616" y="1961832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 i="0">
                <a:solidFill>
                  <a:srgbClr val="0B5B8A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B5B8A"/>
                </a:solidFill>
                <a:latin typeface="Arial"/>
                <a:ea typeface="Arial"/>
                <a:cs typeface="Arial"/>
              </a:rPr>
              <a:t>NON-PREEMPTIVE MIN</a:t>
            </a:r>
          </a:p>
        </p:txBody>
      </p:sp>
      <p:sp>
        <p:nvSpPr>
          <p:cNvPr id="59" name="choice-d-bg">
            <a:extLst>
              <a:ext uri="{FF2B5EF4-FFF2-40B4-BE49-F238E27FC236}">
                <a16:creationId xmlns:a16="http://schemas.microsoft.com/office/drawing/2014/main" id="{B8F38950-5487-4064-9431-750E24834D45}"/>
              </a:ext>
            </a:extLst>
          </p:cNvPr>
          <p:cNvSpPr>
            <a:spLocks noGrp="1"/>
          </p:cNvSpPr>
          <p:nvPr/>
        </p:nvSpPr>
        <p:spPr>
          <a:xfrm>
            <a:off x="5278433" y="19618325"/>
            <a:ext cx="1404000" cy="342900"/>
          </a:xfrm>
          <a:prstGeom prst="roundRect">
            <a:avLst>
              <a:gd name="adj" fmla="val 22222"/>
            </a:avLst>
          </a:prstGeom>
          <a:solidFill>
            <a:srgbClr val="DDF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choice-d">
            <a:extLst>
              <a:ext uri="{FF2B5EF4-FFF2-40B4-BE49-F238E27FC236}">
                <a16:creationId xmlns:a16="http://schemas.microsoft.com/office/drawing/2014/main" id="{650CF3D5-AE6D-43B7-BF8C-FA0976949CBC}"/>
              </a:ext>
            </a:extLst>
          </p:cNvPr>
          <p:cNvSpPr>
            <a:spLocks noGrp="1"/>
          </p:cNvSpPr>
          <p:nvPr/>
        </p:nvSpPr>
        <p:spPr>
          <a:xfrm>
            <a:off x="5278433" y="19646900"/>
            <a:ext cx="14192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1836B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11836B"/>
                </a:solidFill>
                <a:latin typeface="Arial"/>
                <a:ea typeface="Arial"/>
                <a:cs typeface="Arial"/>
              </a:rPr>
              <a:t>RATE-AWARE</a:t>
            </a:r>
          </a:p>
        </p:txBody>
      </p:sp>
      <p:sp>
        <p:nvSpPr>
          <p:cNvPr id="61" name="rate-insight">
            <a:extLst>
              <a:ext uri="{FF2B5EF4-FFF2-40B4-BE49-F238E27FC236}">
                <a16:creationId xmlns:a16="http://schemas.microsoft.com/office/drawing/2014/main" id="{5546A012-B325-454E-B25D-AF1BCCD832D8}"/>
              </a:ext>
            </a:extLst>
          </p:cNvPr>
          <p:cNvSpPr>
            <a:spLocks noGrp="1"/>
          </p:cNvSpPr>
          <p:nvPr/>
        </p:nvSpPr>
        <p:spPr>
          <a:xfrm>
            <a:off x="609600" y="21437600"/>
            <a:ext cx="6000750" cy="1257300"/>
          </a:xfrm>
          <a:prstGeom prst="roundRect">
            <a:avLst>
              <a:gd name="adj" fmla="val 6061"/>
            </a:avLst>
          </a:prstGeom>
          <a:solidFill>
            <a:srgbClr val="DDF3EC"/>
          </a:solidFill>
          <a:ln w="14288">
            <a:solidFill>
              <a:srgbClr val="AFDC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rate-insight-text">
            <a:extLst>
              <a:ext uri="{FF2B5EF4-FFF2-40B4-BE49-F238E27FC236}">
                <a16:creationId xmlns:a16="http://schemas.microsoft.com/office/drawing/2014/main" id="{FF5C1EA0-3C38-44BD-A3C0-1B63217AEBE6}"/>
              </a:ext>
            </a:extLst>
          </p:cNvPr>
          <p:cNvSpPr>
            <a:spLocks noGrp="1"/>
          </p:cNvSpPr>
          <p:nvPr/>
        </p:nvSpPr>
        <p:spPr>
          <a:xfrm>
            <a:off x="838200" y="21580475"/>
            <a:ext cx="55435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l">
              <a:defRPr sz="1875" b="1" i="0">
                <a:solidFill>
                  <a:srgbClr val="11836B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11836B"/>
                </a:solidFill>
                <a:latin typeface="Arial"/>
                <a:ea typeface="Arial"/>
                <a:cs typeface="Arial"/>
              </a:rPr>
              <a:t>Key insight</a:t>
            </a:r>
          </a:p>
          <a:p>
            <a:pPr algn="l">
              <a:defRPr sz="1875" b="1" i="0">
                <a:solidFill>
                  <a:srgbClr val="11836B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11836B"/>
                </a:solidFill>
                <a:latin typeface="Arial"/>
                <a:ea typeface="Arial"/>
                <a:cs typeface="Arial"/>
              </a:rPr>
              <a:t>The best allocation depends on each LLM’</a:t>
            </a:r>
            <a:r>
              <a:rPr lang="en-US" sz="1875" b="1" i="0" dirty="0">
                <a:solidFill>
                  <a:srgbClr val="11836B"/>
                </a:solidFill>
                <a:latin typeface="Arial"/>
                <a:ea typeface="Arial"/>
                <a:cs typeface="Arial"/>
              </a:rPr>
              <a:t>s </a:t>
            </a:r>
            <a:r>
              <a:rPr sz="1875" b="1" i="0" dirty="0">
                <a:solidFill>
                  <a:srgbClr val="11836B"/>
                </a:solidFill>
                <a:latin typeface="Arial"/>
                <a:ea typeface="Arial"/>
                <a:cs typeface="Arial"/>
              </a:rPr>
              <a:t>processing function ρⱼ—not only on concurrency or GPU occupancy.</a:t>
            </a:r>
          </a:p>
        </p:txBody>
      </p:sp>
      <p:sp>
        <p:nvSpPr>
          <p:cNvPr id="63" name="challenge-1">
            <a:extLst>
              <a:ext uri="{FF2B5EF4-FFF2-40B4-BE49-F238E27FC236}">
                <a16:creationId xmlns:a16="http://schemas.microsoft.com/office/drawing/2014/main" id="{F75ACB39-8EBE-4FCA-B1AD-277D345EA6FD}"/>
              </a:ext>
            </a:extLst>
          </p:cNvPr>
          <p:cNvSpPr>
            <a:spLocks noGrp="1"/>
          </p:cNvSpPr>
          <p:nvPr/>
        </p:nvSpPr>
        <p:spPr>
          <a:xfrm>
            <a:off x="704850" y="22764749"/>
            <a:ext cx="581025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>
              <a:defRPr sz="19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Unknown output lengths make future batching states—and therefore processing rates—unknown; predicting </a:t>
            </a:r>
            <a:r>
              <a:rPr lang="en-US" sz="1950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output length for </a:t>
            </a:r>
            <a:r>
              <a:rPr lang="en-US" altLang="zh-CN" sz="195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each request</a:t>
            </a:r>
            <a:r>
              <a:rPr sz="1950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adds runtime cost.</a:t>
            </a:r>
          </a:p>
        </p:txBody>
      </p:sp>
      <p:sp>
        <p:nvSpPr>
          <p:cNvPr id="64" name="challenge-2">
            <a:extLst>
              <a:ext uri="{FF2B5EF4-FFF2-40B4-BE49-F238E27FC236}">
                <a16:creationId xmlns:a16="http://schemas.microsoft.com/office/drawing/2014/main" id="{F50448EC-848C-43A7-90B1-3C7B20F7621F}"/>
              </a:ext>
            </a:extLst>
          </p:cNvPr>
          <p:cNvSpPr>
            <a:spLocks noGrp="1"/>
          </p:cNvSpPr>
          <p:nvPr/>
        </p:nvSpPr>
        <p:spPr>
          <a:xfrm>
            <a:off x="704850" y="23745825"/>
            <a:ext cx="5810250" cy="795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54" lnSpcReduction="10000"/>
          </a:bodyPr>
          <a:lstStyle/>
          <a:p>
            <a:pPr algn="l">
              <a:defRPr sz="19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Rates change with the remaining requests; dependency-constrained models may overlap through model-level pipelines</a:t>
            </a:r>
            <a:r>
              <a:rPr lang="en-US" sz="1950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; model preemption is allowed</a:t>
            </a:r>
            <a:r>
              <a:rPr sz="1950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5" name="challenge-3">
            <a:extLst>
              <a:ext uri="{FF2B5EF4-FFF2-40B4-BE49-F238E27FC236}">
                <a16:creationId xmlns:a16="http://schemas.microsoft.com/office/drawing/2014/main" id="{05D1877E-6951-40F1-A65F-7FBF53A5B69A}"/>
              </a:ext>
            </a:extLst>
          </p:cNvPr>
          <p:cNvSpPr>
            <a:spLocks noGrp="1"/>
          </p:cNvSpPr>
          <p:nvPr/>
        </p:nvSpPr>
        <p:spPr>
          <a:xfrm>
            <a:off x="704850" y="24669750"/>
            <a:ext cx="5810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Fixed/phase-rate schedulers do not fit MLAS; a direct MILP becomes extremely complex with </a:t>
            </a:r>
            <a:r>
              <a:rPr lang="en-US" sz="1800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MLAS’s processing functions, </a:t>
            </a:r>
            <a:r>
              <a:rPr sz="1800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preemption and pipeline overlap; generic heuristics ignore workload and rate differences.</a:t>
            </a:r>
          </a:p>
        </p:txBody>
      </p:sp>
      <p:sp>
        <p:nvSpPr>
          <p:cNvPr id="66" name="np-hard-band">
            <a:extLst>
              <a:ext uri="{FF2B5EF4-FFF2-40B4-BE49-F238E27FC236}">
                <a16:creationId xmlns:a16="http://schemas.microsoft.com/office/drawing/2014/main" id="{F68854A7-C34A-4142-B587-11810CE55C82}"/>
              </a:ext>
            </a:extLst>
          </p:cNvPr>
          <p:cNvSpPr>
            <a:spLocks noGrp="1"/>
          </p:cNvSpPr>
          <p:nvPr/>
        </p:nvSpPr>
        <p:spPr>
          <a:xfrm>
            <a:off x="609600" y="26003250"/>
            <a:ext cx="6000750" cy="1314450"/>
          </a:xfrm>
          <a:prstGeom prst="roundRect">
            <a:avLst>
              <a:gd name="adj" fmla="val 5797"/>
            </a:avLst>
          </a:prstGeom>
          <a:solidFill>
            <a:srgbClr val="FFF3DF"/>
          </a:solidFill>
          <a:ln w="14288">
            <a:solidFill>
              <a:srgbClr val="F2C7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np-hard">
            <a:extLst>
              <a:ext uri="{FF2B5EF4-FFF2-40B4-BE49-F238E27FC236}">
                <a16:creationId xmlns:a16="http://schemas.microsoft.com/office/drawing/2014/main" id="{59738F65-DE7A-445F-A81D-1E4E431E2A59}"/>
              </a:ext>
            </a:extLst>
          </p:cNvPr>
          <p:cNvSpPr>
            <a:spLocks noGrp="1"/>
          </p:cNvSpPr>
          <p:nvPr/>
        </p:nvSpPr>
        <p:spPr>
          <a:xfrm>
            <a:off x="838200" y="26174700"/>
            <a:ext cx="5543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l">
              <a:defRPr sz="2550" b="1" i="0">
                <a:solidFill>
                  <a:srgbClr val="D3545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35454"/>
                </a:solidFill>
                <a:latin typeface="Arial"/>
                <a:ea typeface="Arial"/>
                <a:cs typeface="Arial"/>
              </a:rPr>
              <a:t>MLAS is NP-hard</a:t>
            </a:r>
          </a:p>
        </p:txBody>
      </p:sp>
      <p:sp>
        <p:nvSpPr>
          <p:cNvPr id="68" name="np-hard-proof">
            <a:extLst>
              <a:ext uri="{FF2B5EF4-FFF2-40B4-BE49-F238E27FC236}">
                <a16:creationId xmlns:a16="http://schemas.microsoft.com/office/drawing/2014/main" id="{03C8A5CB-C583-4EFD-AF6F-63FD432E5702}"/>
              </a:ext>
            </a:extLst>
          </p:cNvPr>
          <p:cNvSpPr>
            <a:spLocks noGrp="1"/>
          </p:cNvSpPr>
          <p:nvPr/>
        </p:nvSpPr>
        <p:spPr>
          <a:xfrm>
            <a:off x="838200" y="26622375"/>
            <a:ext cx="5543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898" lnSpcReduction="20000"/>
          </a:bodyPr>
          <a:lstStyle/>
          <a:p>
            <a:pPr algn="l">
              <a:defRPr sz="16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Minimum-makespan scheduling for preemptive malleable jobs without precedence constraints is a strongly NP-hard special case.</a:t>
            </a:r>
          </a:p>
        </p:txBody>
      </p:sp>
      <p:sp>
        <p:nvSpPr>
          <p:cNvPr id="69" name="framework-title">
            <a:extLst>
              <a:ext uri="{FF2B5EF4-FFF2-40B4-BE49-F238E27FC236}">
                <a16:creationId xmlns:a16="http://schemas.microsoft.com/office/drawing/2014/main" id="{44C887EC-05C7-45F7-9A78-888788A84B05}"/>
              </a:ext>
            </a:extLst>
          </p:cNvPr>
          <p:cNvSpPr>
            <a:spLocks noGrp="1"/>
          </p:cNvSpPr>
          <p:nvPr/>
        </p:nvSpPr>
        <p:spPr>
          <a:xfrm>
            <a:off x="6972300" y="666750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Mil at a glance</a:t>
            </a:r>
          </a:p>
        </p:txBody>
      </p:sp>
      <p:pic>
        <p:nvPicPr>
          <p:cNvPr id="291" name="图片 290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068134" y="7219950"/>
            <a:ext cx="6380581" cy="2790825"/>
          </a:xfrm>
          <a:prstGeom prst="rect">
            <a:avLst/>
          </a:prstGeom>
        </p:spPr>
      </p:pic>
      <p:sp>
        <p:nvSpPr>
          <p:cNvPr id="71" name="framework-caption-band">
            <a:extLst>
              <a:ext uri="{FF2B5EF4-FFF2-40B4-BE49-F238E27FC236}">
                <a16:creationId xmlns:a16="http://schemas.microsoft.com/office/drawing/2014/main" id="{904244D5-E51F-4CF5-8CC8-FE932EA09DA0}"/>
              </a:ext>
            </a:extLst>
          </p:cNvPr>
          <p:cNvSpPr>
            <a:spLocks noGrp="1"/>
          </p:cNvSpPr>
          <p:nvPr/>
        </p:nvSpPr>
        <p:spPr>
          <a:xfrm>
            <a:off x="6972300" y="10058400"/>
            <a:ext cx="6572250" cy="819150"/>
          </a:xfrm>
          <a:prstGeom prst="roundRect">
            <a:avLst>
              <a:gd name="adj" fmla="val 9302"/>
            </a:avLst>
          </a:prstGeom>
          <a:solidFill>
            <a:srgbClr val="DDF3EC"/>
          </a:solidFill>
          <a:ln w="11430">
            <a:solidFill>
              <a:srgbClr val="AFDC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framework-caption">
            <a:extLst>
              <a:ext uri="{FF2B5EF4-FFF2-40B4-BE49-F238E27FC236}">
                <a16:creationId xmlns:a16="http://schemas.microsoft.com/office/drawing/2014/main" id="{65D14816-6DFA-43C7-B669-B4A5A001AC10}"/>
              </a:ext>
            </a:extLst>
          </p:cNvPr>
          <p:cNvSpPr>
            <a:spLocks noGrp="1"/>
          </p:cNvSpPr>
          <p:nvPr/>
        </p:nvSpPr>
        <p:spPr>
          <a:xfrm>
            <a:off x="7181850" y="10201275"/>
            <a:ext cx="615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11836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836B"/>
                </a:solidFill>
                <a:latin typeface="Arial"/>
                <a:ea typeface="Arial"/>
                <a:cs typeface="Arial"/>
              </a:rPr>
              <a:t>Offline planning builds the schedule; Mil adjusts it at runtime when actual model completion orders differ.</a:t>
            </a:r>
          </a:p>
        </p:txBody>
      </p:sp>
      <p:sp>
        <p:nvSpPr>
          <p:cNvPr id="73" name="component-1-panel">
            <a:extLst>
              <a:ext uri="{FF2B5EF4-FFF2-40B4-BE49-F238E27FC236}">
                <a16:creationId xmlns:a16="http://schemas.microsoft.com/office/drawing/2014/main" id="{F5C730E0-2757-45F4-A1F2-D2DA5FE208C0}"/>
              </a:ext>
            </a:extLst>
          </p:cNvPr>
          <p:cNvSpPr>
            <a:spLocks noGrp="1"/>
          </p:cNvSpPr>
          <p:nvPr/>
        </p:nvSpPr>
        <p:spPr>
          <a:xfrm>
            <a:off x="6972300" y="11144250"/>
            <a:ext cx="6572250" cy="8048625"/>
          </a:xfrm>
          <a:prstGeom prst="roundRect">
            <a:avLst>
              <a:gd name="adj" fmla="val 1159"/>
            </a:avLst>
          </a:prstGeom>
          <a:solidFill>
            <a:srgbClr val="F3F6F9"/>
          </a:solidFill>
          <a:ln w="14288">
            <a:solidFill>
              <a:srgbClr val="CCD6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component-1-accent">
            <a:extLst>
              <a:ext uri="{FF2B5EF4-FFF2-40B4-BE49-F238E27FC236}">
                <a16:creationId xmlns:a16="http://schemas.microsoft.com/office/drawing/2014/main" id="{2B56E0EA-F722-4EF1-9142-416822F7B260}"/>
              </a:ext>
            </a:extLst>
          </p:cNvPr>
          <p:cNvSpPr>
            <a:spLocks noGrp="1"/>
          </p:cNvSpPr>
          <p:nvPr/>
        </p:nvSpPr>
        <p:spPr>
          <a:xfrm>
            <a:off x="6972300" y="11144250"/>
            <a:ext cx="95250" cy="8048625"/>
          </a:xfrm>
          <a:prstGeom prst="rect">
            <a:avLst/>
          </a:prstGeom>
          <a:solidFill>
            <a:srgbClr val="2687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component-1-title">
            <a:extLst>
              <a:ext uri="{FF2B5EF4-FFF2-40B4-BE49-F238E27FC236}">
                <a16:creationId xmlns:a16="http://schemas.microsoft.com/office/drawing/2014/main" id="{6DAFD822-AAD8-4935-8563-BEB616E85855}"/>
              </a:ext>
            </a:extLst>
          </p:cNvPr>
          <p:cNvSpPr>
            <a:spLocks noGrp="1"/>
          </p:cNvSpPr>
          <p:nvPr/>
        </p:nvSpPr>
        <p:spPr>
          <a:xfrm>
            <a:off x="7258050" y="11382375"/>
            <a:ext cx="600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 i="0">
                <a:solidFill>
                  <a:srgbClr val="0B5B8A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5B8A"/>
                </a:solidFill>
                <a:latin typeface="Arial"/>
                <a:ea typeface="Arial"/>
                <a:cs typeface="Arial"/>
              </a:rPr>
              <a:t>1  Processing-function estimation</a:t>
            </a:r>
          </a:p>
        </p:txBody>
      </p:sp>
      <p:sp>
        <p:nvSpPr>
          <p:cNvPr id="76" name="component-1-insight-bg">
            <a:extLst>
              <a:ext uri="{FF2B5EF4-FFF2-40B4-BE49-F238E27FC236}">
                <a16:creationId xmlns:a16="http://schemas.microsoft.com/office/drawing/2014/main" id="{73275F89-892D-441E-8FDC-2AC52CBC244A}"/>
              </a:ext>
            </a:extLst>
          </p:cNvPr>
          <p:cNvSpPr>
            <a:spLocks noGrp="1"/>
          </p:cNvSpPr>
          <p:nvPr/>
        </p:nvSpPr>
        <p:spPr>
          <a:xfrm>
            <a:off x="7219950" y="11925300"/>
            <a:ext cx="6076950" cy="1066800"/>
          </a:xfrm>
          <a:prstGeom prst="roundRect">
            <a:avLst>
              <a:gd name="adj" fmla="val 7143"/>
            </a:avLst>
          </a:prstGeom>
          <a:solidFill>
            <a:srgbClr val="EAF6FD"/>
          </a:solidFill>
          <a:ln w="11430">
            <a:solidFill>
              <a:srgbClr val="B9DD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component-1-insight">
            <a:extLst>
              <a:ext uri="{FF2B5EF4-FFF2-40B4-BE49-F238E27FC236}">
                <a16:creationId xmlns:a16="http://schemas.microsoft.com/office/drawing/2014/main" id="{2D7AEC2D-51D4-4220-AD4E-67890E725DAD}"/>
              </a:ext>
            </a:extLst>
          </p:cNvPr>
          <p:cNvSpPr>
            <a:spLocks noGrp="1"/>
          </p:cNvSpPr>
          <p:nvPr/>
        </p:nvSpPr>
        <p:spPr>
          <a:xfrm>
            <a:off x="7410450" y="12068175"/>
            <a:ext cx="5695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0B5B8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5B8A"/>
                </a:solidFill>
                <a:latin typeface="Arial"/>
                <a:ea typeface="Arial"/>
                <a:cs typeface="Arial"/>
              </a:rPr>
              <a:t>Key insight: sample output lengths for the entire request set, then simulate its continuous-batching trajectory—without training a per-request predictor.</a:t>
            </a:r>
          </a:p>
        </p:txBody>
      </p:sp>
      <p:sp>
        <p:nvSpPr>
          <p:cNvPr id="78" name="pf-step-1-circle">
            <a:extLst>
              <a:ext uri="{FF2B5EF4-FFF2-40B4-BE49-F238E27FC236}">
                <a16:creationId xmlns:a16="http://schemas.microsoft.com/office/drawing/2014/main" id="{0539053A-8CAD-45CD-B649-04835CA396F3}"/>
              </a:ext>
            </a:extLst>
          </p:cNvPr>
          <p:cNvSpPr>
            <a:spLocks noGrp="1"/>
          </p:cNvSpPr>
          <p:nvPr/>
        </p:nvSpPr>
        <p:spPr>
          <a:xfrm>
            <a:off x="7258050" y="13211175"/>
            <a:ext cx="457200" cy="457200"/>
          </a:xfrm>
          <a:prstGeom prst="ellipse">
            <a:avLst/>
          </a:prstGeom>
          <a:solidFill>
            <a:srgbClr val="2687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pf-step-1">
            <a:extLst>
              <a:ext uri="{FF2B5EF4-FFF2-40B4-BE49-F238E27FC236}">
                <a16:creationId xmlns:a16="http://schemas.microsoft.com/office/drawing/2014/main" id="{9BD4FFB6-C4DD-427B-8F4D-A8F94914C083}"/>
              </a:ext>
            </a:extLst>
          </p:cNvPr>
          <p:cNvSpPr>
            <a:spLocks noGrp="1"/>
          </p:cNvSpPr>
          <p:nvPr/>
        </p:nvSpPr>
        <p:spPr>
          <a:xfrm>
            <a:off x="7258050" y="1322070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0" name="pf-step-1-title">
            <a:extLst>
              <a:ext uri="{FF2B5EF4-FFF2-40B4-BE49-F238E27FC236}">
                <a16:creationId xmlns:a16="http://schemas.microsoft.com/office/drawing/2014/main" id="{557009F7-EC0D-45E3-B5D7-A26DB9DBAD94}"/>
              </a:ext>
            </a:extLst>
          </p:cNvPr>
          <p:cNvSpPr>
            <a:spLocks noGrp="1"/>
          </p:cNvSpPr>
          <p:nvPr/>
        </p:nvSpPr>
        <p:spPr>
          <a:xfrm>
            <a:off x="7829550" y="13096874"/>
            <a:ext cx="26098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559"/>
          </a:bodyPr>
          <a:lstStyle/>
          <a:p>
            <a: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SAMPLE OUTPUT LENGTHS</a:t>
            </a:r>
          </a:p>
        </p:txBody>
      </p:sp>
      <p:sp>
        <p:nvSpPr>
          <p:cNvPr id="81" name="pf-step-1-body">
            <a:extLst>
              <a:ext uri="{FF2B5EF4-FFF2-40B4-BE49-F238E27FC236}">
                <a16:creationId xmlns:a16="http://schemas.microsoft.com/office/drawing/2014/main" id="{E7B36715-0CCF-46F6-A662-F3DCEE366A96}"/>
              </a:ext>
            </a:extLst>
          </p:cNvPr>
          <p:cNvSpPr>
            <a:spLocks noGrp="1"/>
          </p:cNvSpPr>
          <p:nvPr/>
        </p:nvSpPr>
        <p:spPr>
          <a:xfrm>
            <a:off x="7829550" y="13447998"/>
            <a:ext cx="2705100" cy="12305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908" lnSpcReduction="20000"/>
          </a:bodyPr>
          <a:lstStyle/>
          <a:p>
            <a:pPr>
              <a:defRPr sz="13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400" dirty="0"/>
              <a:t>To estimate the inference process for a model given a set of requests rather than predict the request latency, it is sufficient to know how the output length distribution.</a:t>
            </a:r>
          </a:p>
          <a:p>
            <a:pPr>
              <a:defRPr sz="13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52606D"/>
                </a:solidFill>
                <a:latin typeface="Arial"/>
                <a:cs typeface="Arial"/>
              </a:rPr>
              <a:t>For normal unconstrained prompts, distributions are similar across input lengths and request categories. </a:t>
            </a:r>
          </a:p>
        </p:txBody>
      </p:sp>
      <p:pic>
        <p:nvPicPr>
          <p:cNvPr id="303" name="图片 302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544175" y="13272030"/>
            <a:ext cx="2762250" cy="1173689"/>
          </a:xfrm>
          <a:prstGeom prst="rect">
            <a:avLst/>
          </a:prstGeom>
        </p:spPr>
      </p:pic>
      <p:sp>
        <p:nvSpPr>
          <p:cNvPr id="83" name="pf-step-2-circle">
            <a:extLst>
              <a:ext uri="{FF2B5EF4-FFF2-40B4-BE49-F238E27FC236}">
                <a16:creationId xmlns:a16="http://schemas.microsoft.com/office/drawing/2014/main" id="{86680FD5-6F1E-4E54-859E-8104ACCCDEAF}"/>
              </a:ext>
            </a:extLst>
          </p:cNvPr>
          <p:cNvSpPr>
            <a:spLocks noGrp="1"/>
          </p:cNvSpPr>
          <p:nvPr/>
        </p:nvSpPr>
        <p:spPr>
          <a:xfrm>
            <a:off x="7258050" y="14820900"/>
            <a:ext cx="457200" cy="457200"/>
          </a:xfrm>
          <a:prstGeom prst="ellipse">
            <a:avLst/>
          </a:prstGeom>
          <a:solidFill>
            <a:srgbClr val="2687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pf-step-2">
            <a:extLst>
              <a:ext uri="{FF2B5EF4-FFF2-40B4-BE49-F238E27FC236}">
                <a16:creationId xmlns:a16="http://schemas.microsoft.com/office/drawing/2014/main" id="{2B32814F-B49B-4A2A-ACB0-5A59AE45A0F6}"/>
              </a:ext>
            </a:extLst>
          </p:cNvPr>
          <p:cNvSpPr>
            <a:spLocks noGrp="1"/>
          </p:cNvSpPr>
          <p:nvPr/>
        </p:nvSpPr>
        <p:spPr>
          <a:xfrm>
            <a:off x="7258050" y="14716125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5" name="pf-step-2-title">
            <a:extLst>
              <a:ext uri="{FF2B5EF4-FFF2-40B4-BE49-F238E27FC236}">
                <a16:creationId xmlns:a16="http://schemas.microsoft.com/office/drawing/2014/main" id="{50E581E3-3964-41E9-B88A-B0EF005AA163}"/>
              </a:ext>
            </a:extLst>
          </p:cNvPr>
          <p:cNvSpPr>
            <a:spLocks noGrp="1"/>
          </p:cNvSpPr>
          <p:nvPr/>
        </p:nvSpPr>
        <p:spPr>
          <a:xfrm>
            <a:off x="7829550" y="1480185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270" lnSpcReduction="20000"/>
          </a:bodyPr>
          <a:lstStyle/>
          <a:p>
            <a:pPr algn="l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SIMULATE CONTINUOUS BATCHING</a:t>
            </a:r>
          </a:p>
        </p:txBody>
      </p:sp>
      <p:sp>
        <p:nvSpPr>
          <p:cNvPr id="86" name="pf-step-2-body">
            <a:extLst>
              <a:ext uri="{FF2B5EF4-FFF2-40B4-BE49-F238E27FC236}">
                <a16:creationId xmlns:a16="http://schemas.microsoft.com/office/drawing/2014/main" id="{1C942E8C-5B3A-4E49-B853-8EC8C0E09343}"/>
              </a:ext>
            </a:extLst>
          </p:cNvPr>
          <p:cNvSpPr>
            <a:spLocks noGrp="1"/>
          </p:cNvSpPr>
          <p:nvPr/>
        </p:nvSpPr>
        <p:spPr>
          <a:xfrm>
            <a:off x="7829550" y="15201900"/>
            <a:ext cx="2686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Request-ready times + scheduling policy + KV cache → batch and sequence lengths at every generation iteration.</a:t>
            </a:r>
          </a:p>
        </p:txBody>
      </p:sp>
      <p:pic>
        <p:nvPicPr>
          <p:cNvPr id="308" name="图片 307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0648950" y="14827597"/>
            <a:ext cx="2619375" cy="1129605"/>
          </a:xfrm>
          <a:prstGeom prst="rect">
            <a:avLst/>
          </a:prstGeom>
        </p:spPr>
      </p:pic>
      <p:sp>
        <p:nvSpPr>
          <p:cNvPr id="88" name="pf-step-3-circle">
            <a:extLst>
              <a:ext uri="{FF2B5EF4-FFF2-40B4-BE49-F238E27FC236}">
                <a16:creationId xmlns:a16="http://schemas.microsoft.com/office/drawing/2014/main" id="{DE94FFB1-DBD0-4393-AD13-AB1C88EF502D}"/>
              </a:ext>
            </a:extLst>
          </p:cNvPr>
          <p:cNvSpPr>
            <a:spLocks noGrp="1"/>
          </p:cNvSpPr>
          <p:nvPr/>
        </p:nvSpPr>
        <p:spPr>
          <a:xfrm>
            <a:off x="7258050" y="16259175"/>
            <a:ext cx="457200" cy="457200"/>
          </a:xfrm>
          <a:prstGeom prst="ellipse">
            <a:avLst/>
          </a:prstGeom>
          <a:solidFill>
            <a:srgbClr val="2687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pf-step-3">
            <a:extLst>
              <a:ext uri="{FF2B5EF4-FFF2-40B4-BE49-F238E27FC236}">
                <a16:creationId xmlns:a16="http://schemas.microsoft.com/office/drawing/2014/main" id="{9F8884C9-9E32-42C9-B241-39A2BDD3D658}"/>
              </a:ext>
            </a:extLst>
          </p:cNvPr>
          <p:cNvSpPr>
            <a:spLocks noGrp="1"/>
          </p:cNvSpPr>
          <p:nvPr/>
        </p:nvSpPr>
        <p:spPr>
          <a:xfrm>
            <a:off x="7258050" y="1615440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0" name="pf-step-3-title">
            <a:extLst>
              <a:ext uri="{FF2B5EF4-FFF2-40B4-BE49-F238E27FC236}">
                <a16:creationId xmlns:a16="http://schemas.microsoft.com/office/drawing/2014/main" id="{3BB1A375-F7ED-434B-BDB7-7494495EA328}"/>
              </a:ext>
            </a:extLst>
          </p:cNvPr>
          <p:cNvSpPr>
            <a:spLocks noGrp="1"/>
          </p:cNvSpPr>
          <p:nvPr/>
        </p:nvSpPr>
        <p:spPr>
          <a:xfrm>
            <a:off x="7829550" y="16240125"/>
            <a:ext cx="2619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406"/>
          </a:bodyPr>
          <a:lstStyle/>
          <a:p>
            <a: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ESTIMATE EACH ITERATION</a:t>
            </a:r>
          </a:p>
        </p:txBody>
      </p:sp>
      <p:sp>
        <p:nvSpPr>
          <p:cNvPr id="91" name="pf-step-3-body">
            <a:extLst>
              <a:ext uri="{FF2B5EF4-FFF2-40B4-BE49-F238E27FC236}">
                <a16:creationId xmlns:a16="http://schemas.microsoft.com/office/drawing/2014/main" id="{ACD80DEA-0032-4A82-9015-43CDCCDFF2B8}"/>
              </a:ext>
            </a:extLst>
          </p:cNvPr>
          <p:cNvSpPr>
            <a:spLocks noGrp="1"/>
          </p:cNvSpPr>
          <p:nvPr/>
        </p:nvSpPr>
        <p:spPr>
          <a:xfrm>
            <a:off x="7829550" y="16640175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Profile linear latency functions and estimate tₖ = tcomp + tprep + tsamp for every simulated iteration.</a:t>
            </a:r>
          </a:p>
        </p:txBody>
      </p:sp>
      <p:pic>
        <p:nvPicPr>
          <p:cNvPr id="313" name="图片 312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0837013" y="16059150"/>
            <a:ext cx="1938449" cy="1504950"/>
          </a:xfrm>
          <a:prstGeom prst="rect">
            <a:avLst/>
          </a:prstGeom>
        </p:spPr>
      </p:pic>
      <p:sp>
        <p:nvSpPr>
          <p:cNvPr id="93" name="processing-inputs">
            <a:extLst>
              <a:ext uri="{FF2B5EF4-FFF2-40B4-BE49-F238E27FC236}">
                <a16:creationId xmlns:a16="http://schemas.microsoft.com/office/drawing/2014/main" id="{206ED6CE-F1C9-4F61-B1F1-D04395FA1C48}"/>
              </a:ext>
            </a:extLst>
          </p:cNvPr>
          <p:cNvSpPr>
            <a:spLocks noGrp="1"/>
          </p:cNvSpPr>
          <p:nvPr/>
        </p:nvSpPr>
        <p:spPr>
          <a:xfrm>
            <a:off x="7334250" y="17602200"/>
            <a:ext cx="584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Inputs: unfinished requests Iⱼᵗ · ready times Hⱼᵗ · execution plan P · interval Δt</a:t>
            </a:r>
          </a:p>
        </p:txBody>
      </p:sp>
      <p:sp>
        <p:nvSpPr>
          <p:cNvPr id="94" name="processing-formula-bg">
            <a:extLst>
              <a:ext uri="{FF2B5EF4-FFF2-40B4-BE49-F238E27FC236}">
                <a16:creationId xmlns:a16="http://schemas.microsoft.com/office/drawing/2014/main" id="{D20F6624-6DAB-4F9F-9D38-9422FA27F684}"/>
              </a:ext>
            </a:extLst>
          </p:cNvPr>
          <p:cNvSpPr>
            <a:spLocks noGrp="1"/>
          </p:cNvSpPr>
          <p:nvPr/>
        </p:nvSpPr>
        <p:spPr>
          <a:xfrm>
            <a:off x="7334250" y="17926050"/>
            <a:ext cx="5848350" cy="63817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processing-formula">
            <a:extLst>
              <a:ext uri="{FF2B5EF4-FFF2-40B4-BE49-F238E27FC236}">
                <a16:creationId xmlns:a16="http://schemas.microsoft.com/office/drawing/2014/main" id="{308E6A27-88F0-4EB3-A067-70FDAFB88AF6}"/>
              </a:ext>
            </a:extLst>
          </p:cNvPr>
          <p:cNvSpPr>
            <a:spLocks noGrp="1"/>
          </p:cNvSpPr>
          <p:nvPr/>
        </p:nvSpPr>
        <p:spPr>
          <a:xfrm>
            <a:off x="7496175" y="18030825"/>
            <a:ext cx="552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ρⱼ(Iⱼᵗ, Hⱼᵗ, P, Δt) = Σ FLOPsₖ / Δt</a:t>
            </a:r>
          </a:p>
        </p:txBody>
      </p:sp>
      <p:sp>
        <p:nvSpPr>
          <p:cNvPr id="96" name="processing-overheads">
            <a:extLst>
              <a:ext uri="{FF2B5EF4-FFF2-40B4-BE49-F238E27FC236}">
                <a16:creationId xmlns:a16="http://schemas.microsoft.com/office/drawing/2014/main" id="{4E24C598-C1F8-4589-BECD-639DC95B9FE7}"/>
              </a:ext>
            </a:extLst>
          </p:cNvPr>
          <p:cNvSpPr>
            <a:spLocks noGrp="1"/>
          </p:cNvSpPr>
          <p:nvPr/>
        </p:nvSpPr>
        <p:spPr>
          <a:xfrm>
            <a:off x="7334250" y="18611850"/>
            <a:ext cx="584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 i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1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Model loading</a:t>
            </a:r>
            <a:r>
              <a:rPr lang="en-US" sz="1275" i="1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cost</a:t>
            </a:r>
            <a:r>
              <a:rPr sz="1275" b="0" i="1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and communication setup</a:t>
            </a:r>
            <a:r>
              <a:rPr lang="en-US" sz="1275" b="0" i="1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cost</a:t>
            </a:r>
            <a:r>
              <a:rPr sz="1275" b="0" i="1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are added whenever a model starts or changes its execution plan.</a:t>
            </a:r>
          </a:p>
        </p:txBody>
      </p:sp>
      <p:sp>
        <p:nvSpPr>
          <p:cNvPr id="97" name="component-2-panel">
            <a:extLst>
              <a:ext uri="{FF2B5EF4-FFF2-40B4-BE49-F238E27FC236}">
                <a16:creationId xmlns:a16="http://schemas.microsoft.com/office/drawing/2014/main" id="{3A7C3F86-B4E2-4E05-B5F2-05DBED67E70F}"/>
              </a:ext>
            </a:extLst>
          </p:cNvPr>
          <p:cNvSpPr>
            <a:spLocks noGrp="1"/>
          </p:cNvSpPr>
          <p:nvPr/>
        </p:nvSpPr>
        <p:spPr>
          <a:xfrm>
            <a:off x="6972300" y="19431000"/>
            <a:ext cx="6572250" cy="5000625"/>
          </a:xfrm>
          <a:prstGeom prst="roundRect">
            <a:avLst>
              <a:gd name="adj" fmla="val 1524"/>
            </a:avLst>
          </a:prstGeom>
          <a:solidFill>
            <a:srgbClr val="EAF6FD"/>
          </a:solidFill>
          <a:ln w="14288">
            <a:solidFill>
              <a:srgbClr val="B9DD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component-2-accent">
            <a:extLst>
              <a:ext uri="{FF2B5EF4-FFF2-40B4-BE49-F238E27FC236}">
                <a16:creationId xmlns:a16="http://schemas.microsoft.com/office/drawing/2014/main" id="{812A5EDF-716F-4D9A-8CDB-2AF63BC0D6D0}"/>
              </a:ext>
            </a:extLst>
          </p:cNvPr>
          <p:cNvSpPr>
            <a:spLocks noGrp="1"/>
          </p:cNvSpPr>
          <p:nvPr/>
        </p:nvSpPr>
        <p:spPr>
          <a:xfrm>
            <a:off x="6972300" y="19431000"/>
            <a:ext cx="95250" cy="5000625"/>
          </a:xfrm>
          <a:prstGeom prst="rect">
            <a:avLst/>
          </a:prstGeom>
          <a:solidFill>
            <a:srgbClr val="1183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component-2-title">
            <a:extLst>
              <a:ext uri="{FF2B5EF4-FFF2-40B4-BE49-F238E27FC236}">
                <a16:creationId xmlns:a16="http://schemas.microsoft.com/office/drawing/2014/main" id="{68C90BE7-3A2C-43FD-8863-B29FC820B67D}"/>
              </a:ext>
            </a:extLst>
          </p:cNvPr>
          <p:cNvSpPr>
            <a:spLocks noGrp="1"/>
          </p:cNvSpPr>
          <p:nvPr/>
        </p:nvSpPr>
        <p:spPr>
          <a:xfrm>
            <a:off x="7258050" y="19669125"/>
            <a:ext cx="600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 i="0">
                <a:solidFill>
                  <a:srgbClr val="11836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836B"/>
                </a:solidFill>
                <a:latin typeface="Arial"/>
                <a:ea typeface="Arial"/>
                <a:cs typeface="Arial"/>
              </a:rPr>
              <a:t>2  Greedy schedule search</a:t>
            </a:r>
          </a:p>
        </p:txBody>
      </p:sp>
      <p:sp>
        <p:nvSpPr>
          <p:cNvPr id="100" name="component-2-insight">
            <a:extLst>
              <a:ext uri="{FF2B5EF4-FFF2-40B4-BE49-F238E27FC236}">
                <a16:creationId xmlns:a16="http://schemas.microsoft.com/office/drawing/2014/main" id="{57C10B14-BC23-4347-B817-64E3941F6B37}"/>
              </a:ext>
            </a:extLst>
          </p:cNvPr>
          <p:cNvSpPr>
            <a:spLocks noGrp="1"/>
          </p:cNvSpPr>
          <p:nvPr/>
        </p:nvSpPr>
        <p:spPr>
          <a:xfrm>
            <a:off x="7258050" y="20212050"/>
            <a:ext cx="6000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Maximize total processing rate at each time point, while starting long-running ready LLMs early.</a:t>
            </a:r>
          </a:p>
        </p:txBody>
      </p:sp>
      <p:sp>
        <p:nvSpPr>
          <p:cNvPr id="101" name="greedy-step-1-bg">
            <a:extLst>
              <a:ext uri="{FF2B5EF4-FFF2-40B4-BE49-F238E27FC236}">
                <a16:creationId xmlns:a16="http://schemas.microsoft.com/office/drawing/2014/main" id="{96D107F4-814F-40BE-AEE2-A375A205EE25}"/>
              </a:ext>
            </a:extLst>
          </p:cNvPr>
          <p:cNvSpPr>
            <a:spLocks noGrp="1"/>
          </p:cNvSpPr>
          <p:nvPr/>
        </p:nvSpPr>
        <p:spPr>
          <a:xfrm>
            <a:off x="7200900" y="21002625"/>
            <a:ext cx="29908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383">
            <a:solidFill>
              <a:srgbClr val="BED2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greedy-step-1-circle">
            <a:extLst>
              <a:ext uri="{FF2B5EF4-FFF2-40B4-BE49-F238E27FC236}">
                <a16:creationId xmlns:a16="http://schemas.microsoft.com/office/drawing/2014/main" id="{25D035A9-3E5E-433B-B9DC-9D9D794185C9}"/>
              </a:ext>
            </a:extLst>
          </p:cNvPr>
          <p:cNvSpPr>
            <a:spLocks noGrp="1"/>
          </p:cNvSpPr>
          <p:nvPr/>
        </p:nvSpPr>
        <p:spPr>
          <a:xfrm>
            <a:off x="7315200" y="21193125"/>
            <a:ext cx="457200" cy="457200"/>
          </a:xfrm>
          <a:prstGeom prst="ellipse">
            <a:avLst/>
          </a:prstGeom>
          <a:solidFill>
            <a:srgbClr val="1183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greedy-step-1">
            <a:extLst>
              <a:ext uri="{FF2B5EF4-FFF2-40B4-BE49-F238E27FC236}">
                <a16:creationId xmlns:a16="http://schemas.microsoft.com/office/drawing/2014/main" id="{939748E8-969F-40CD-B2DC-2E52C16719EE}"/>
              </a:ext>
            </a:extLst>
          </p:cNvPr>
          <p:cNvSpPr>
            <a:spLocks noGrp="1"/>
          </p:cNvSpPr>
          <p:nvPr/>
        </p:nvSpPr>
        <p:spPr>
          <a:xfrm>
            <a:off x="7315200" y="2120265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4" name="greedy-step-1-title">
            <a:extLst>
              <a:ext uri="{FF2B5EF4-FFF2-40B4-BE49-F238E27FC236}">
                <a16:creationId xmlns:a16="http://schemas.microsoft.com/office/drawing/2014/main" id="{3B974681-4056-47EF-A249-BB58EA2E63B8}"/>
              </a:ext>
            </a:extLst>
          </p:cNvPr>
          <p:cNvSpPr>
            <a:spLocks noGrp="1"/>
          </p:cNvSpPr>
          <p:nvPr/>
        </p:nvSpPr>
        <p:spPr>
          <a:xfrm>
            <a:off x="7886700" y="210883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292"/>
          </a:bodyPr>
          <a:lstStyle/>
          <a:p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COMPUTE READY MODELS</a:t>
            </a:r>
          </a:p>
        </p:txBody>
      </p:sp>
      <p:sp>
        <p:nvSpPr>
          <p:cNvPr id="105" name="greedy-step-1-body">
            <a:extLst>
              <a:ext uri="{FF2B5EF4-FFF2-40B4-BE49-F238E27FC236}">
                <a16:creationId xmlns:a16="http://schemas.microsoft.com/office/drawing/2014/main" id="{9900CE52-3A2D-4368-8606-FC3E1B466157}"/>
              </a:ext>
            </a:extLst>
          </p:cNvPr>
          <p:cNvSpPr>
            <a:spLocks noGrp="1"/>
          </p:cNvSpPr>
          <p:nvPr/>
        </p:nvSpPr>
        <p:spPr>
          <a:xfrm>
            <a:off x="7886700" y="21364575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Find models whose precedence constraints are satisfied in the current tentative interval.</a:t>
            </a:r>
          </a:p>
        </p:txBody>
      </p:sp>
      <p:sp>
        <p:nvSpPr>
          <p:cNvPr id="106" name="greedy-step-2-bg">
            <a:extLst>
              <a:ext uri="{FF2B5EF4-FFF2-40B4-BE49-F238E27FC236}">
                <a16:creationId xmlns:a16="http://schemas.microsoft.com/office/drawing/2014/main" id="{CDFE95E9-402F-4A43-B968-AE8B01DCD001}"/>
              </a:ext>
            </a:extLst>
          </p:cNvPr>
          <p:cNvSpPr>
            <a:spLocks noGrp="1"/>
          </p:cNvSpPr>
          <p:nvPr/>
        </p:nvSpPr>
        <p:spPr>
          <a:xfrm>
            <a:off x="10325100" y="21002625"/>
            <a:ext cx="29908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383">
            <a:solidFill>
              <a:srgbClr val="BED2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greedy-step-2-circle">
            <a:extLst>
              <a:ext uri="{FF2B5EF4-FFF2-40B4-BE49-F238E27FC236}">
                <a16:creationId xmlns:a16="http://schemas.microsoft.com/office/drawing/2014/main" id="{8861E486-A8EB-4F98-AF53-68F307136333}"/>
              </a:ext>
            </a:extLst>
          </p:cNvPr>
          <p:cNvSpPr>
            <a:spLocks noGrp="1"/>
          </p:cNvSpPr>
          <p:nvPr/>
        </p:nvSpPr>
        <p:spPr>
          <a:xfrm>
            <a:off x="10439400" y="21193125"/>
            <a:ext cx="457200" cy="457200"/>
          </a:xfrm>
          <a:prstGeom prst="ellipse">
            <a:avLst/>
          </a:prstGeom>
          <a:solidFill>
            <a:srgbClr val="1183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greedy-step-2">
            <a:extLst>
              <a:ext uri="{FF2B5EF4-FFF2-40B4-BE49-F238E27FC236}">
                <a16:creationId xmlns:a16="http://schemas.microsoft.com/office/drawing/2014/main" id="{671199C8-834E-4AB7-A906-00CA4E130680}"/>
              </a:ext>
            </a:extLst>
          </p:cNvPr>
          <p:cNvSpPr>
            <a:spLocks noGrp="1"/>
          </p:cNvSpPr>
          <p:nvPr/>
        </p:nvSpPr>
        <p:spPr>
          <a:xfrm>
            <a:off x="10439400" y="2120265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9" name="greedy-step-2-title">
            <a:extLst>
              <a:ext uri="{FF2B5EF4-FFF2-40B4-BE49-F238E27FC236}">
                <a16:creationId xmlns:a16="http://schemas.microsoft.com/office/drawing/2014/main" id="{3DB1E247-B14C-4284-A707-B52E123E9EA0}"/>
              </a:ext>
            </a:extLst>
          </p:cNvPr>
          <p:cNvSpPr>
            <a:spLocks noGrp="1"/>
          </p:cNvSpPr>
          <p:nvPr/>
        </p:nvSpPr>
        <p:spPr>
          <a:xfrm>
            <a:off x="11010900" y="210883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64"/>
          </a:bodyPr>
          <a:lstStyle/>
          <a:p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START LONG JOBS EARLY</a:t>
            </a:r>
          </a:p>
        </p:txBody>
      </p:sp>
      <p:sp>
        <p:nvSpPr>
          <p:cNvPr id="110" name="greedy-step-2-body">
            <a:extLst>
              <a:ext uri="{FF2B5EF4-FFF2-40B4-BE49-F238E27FC236}">
                <a16:creationId xmlns:a16="http://schemas.microsoft.com/office/drawing/2014/main" id="{ED05B6F8-DAAB-4037-9ED8-1A2939E211B4}"/>
              </a:ext>
            </a:extLst>
          </p:cNvPr>
          <p:cNvSpPr>
            <a:spLocks noGrp="1"/>
          </p:cNvSpPr>
          <p:nvPr/>
        </p:nvSpPr>
        <p:spPr>
          <a:xfrm>
            <a:off x="11010900" y="21364575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317" lnSpcReduction="10000"/>
          </a:bodyPr>
          <a:lstStyle/>
          <a:p>
            <a:pPr algn="l"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Sort by min-GPU completion time; move the longest into the candidate set, and return it if Step 3 selects no plan.</a:t>
            </a:r>
          </a:p>
        </p:txBody>
      </p:sp>
      <p:sp>
        <p:nvSpPr>
          <p:cNvPr id="111" name="greedy-step-3-bg">
            <a:extLst>
              <a:ext uri="{FF2B5EF4-FFF2-40B4-BE49-F238E27FC236}">
                <a16:creationId xmlns:a16="http://schemas.microsoft.com/office/drawing/2014/main" id="{9884388C-839D-496E-BF77-AB3A91028657}"/>
              </a:ext>
            </a:extLst>
          </p:cNvPr>
          <p:cNvSpPr>
            <a:spLocks noGrp="1"/>
          </p:cNvSpPr>
          <p:nvPr/>
        </p:nvSpPr>
        <p:spPr>
          <a:xfrm>
            <a:off x="7200900" y="22021800"/>
            <a:ext cx="29908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383">
            <a:solidFill>
              <a:srgbClr val="BED2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greedy-step-3-circle">
            <a:extLst>
              <a:ext uri="{FF2B5EF4-FFF2-40B4-BE49-F238E27FC236}">
                <a16:creationId xmlns:a16="http://schemas.microsoft.com/office/drawing/2014/main" id="{529B9701-F370-4BFF-88D0-96EDAECAE283}"/>
              </a:ext>
            </a:extLst>
          </p:cNvPr>
          <p:cNvSpPr>
            <a:spLocks noGrp="1"/>
          </p:cNvSpPr>
          <p:nvPr/>
        </p:nvSpPr>
        <p:spPr>
          <a:xfrm>
            <a:off x="7315200" y="22212300"/>
            <a:ext cx="457200" cy="457200"/>
          </a:xfrm>
          <a:prstGeom prst="ellipse">
            <a:avLst/>
          </a:prstGeom>
          <a:solidFill>
            <a:srgbClr val="1183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greedy-step-3">
            <a:extLst>
              <a:ext uri="{FF2B5EF4-FFF2-40B4-BE49-F238E27FC236}">
                <a16:creationId xmlns:a16="http://schemas.microsoft.com/office/drawing/2014/main" id="{9230132F-4A6C-43EC-8E5E-95EEC456F6CE}"/>
              </a:ext>
            </a:extLst>
          </p:cNvPr>
          <p:cNvSpPr>
            <a:spLocks noGrp="1"/>
          </p:cNvSpPr>
          <p:nvPr/>
        </p:nvSpPr>
        <p:spPr>
          <a:xfrm>
            <a:off x="7315200" y="22221825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4" name="greedy-step-3-title">
            <a:extLst>
              <a:ext uri="{FF2B5EF4-FFF2-40B4-BE49-F238E27FC236}">
                <a16:creationId xmlns:a16="http://schemas.microsoft.com/office/drawing/2014/main" id="{A0F0DB7E-1FA3-4983-B81E-E571FC660E72}"/>
              </a:ext>
            </a:extLst>
          </p:cNvPr>
          <p:cNvSpPr>
            <a:spLocks noGrp="1"/>
          </p:cNvSpPr>
          <p:nvPr/>
        </p:nvSpPr>
        <p:spPr>
          <a:xfrm>
            <a:off x="7886700" y="221075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42"/>
          </a:bodyPr>
          <a:lstStyle/>
          <a:p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SELECT ONE BEST UPDATE</a:t>
            </a:r>
          </a:p>
        </p:txBody>
      </p:sp>
      <p:sp>
        <p:nvSpPr>
          <p:cNvPr id="115" name="greedy-step-3-body">
            <a:extLst>
              <a:ext uri="{FF2B5EF4-FFF2-40B4-BE49-F238E27FC236}">
                <a16:creationId xmlns:a16="http://schemas.microsoft.com/office/drawing/2014/main" id="{0F217218-AAAD-4D82-922B-BD20B94BEDA6}"/>
              </a:ext>
            </a:extLst>
          </p:cNvPr>
          <p:cNvSpPr>
            <a:spLocks noGrp="1"/>
          </p:cNvSpPr>
          <p:nvPr/>
        </p:nvSpPr>
        <p:spPr>
          <a:xfrm>
            <a:off x="7886700" y="2238375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Enumerate feasible plan updates; maximize Δ processing rate / Δ GPUs.</a:t>
            </a:r>
          </a:p>
        </p:txBody>
      </p:sp>
      <p:sp>
        <p:nvSpPr>
          <p:cNvPr id="116" name="greedy-step-4-bg">
            <a:extLst>
              <a:ext uri="{FF2B5EF4-FFF2-40B4-BE49-F238E27FC236}">
                <a16:creationId xmlns:a16="http://schemas.microsoft.com/office/drawing/2014/main" id="{D2CFB2DB-5402-462D-B38F-22BDEF058D16}"/>
              </a:ext>
            </a:extLst>
          </p:cNvPr>
          <p:cNvSpPr>
            <a:spLocks noGrp="1"/>
          </p:cNvSpPr>
          <p:nvPr/>
        </p:nvSpPr>
        <p:spPr>
          <a:xfrm>
            <a:off x="10325100" y="22021800"/>
            <a:ext cx="29908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383">
            <a:solidFill>
              <a:srgbClr val="BED2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greedy-step-4-circle">
            <a:extLst>
              <a:ext uri="{FF2B5EF4-FFF2-40B4-BE49-F238E27FC236}">
                <a16:creationId xmlns:a16="http://schemas.microsoft.com/office/drawing/2014/main" id="{A0019060-5635-4A3B-BB41-0C8B60D56841}"/>
              </a:ext>
            </a:extLst>
          </p:cNvPr>
          <p:cNvSpPr>
            <a:spLocks noGrp="1"/>
          </p:cNvSpPr>
          <p:nvPr/>
        </p:nvSpPr>
        <p:spPr>
          <a:xfrm>
            <a:off x="10439400" y="22212300"/>
            <a:ext cx="457200" cy="457200"/>
          </a:xfrm>
          <a:prstGeom prst="ellipse">
            <a:avLst/>
          </a:prstGeom>
          <a:solidFill>
            <a:srgbClr val="1183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greedy-step-4">
            <a:extLst>
              <a:ext uri="{FF2B5EF4-FFF2-40B4-BE49-F238E27FC236}">
                <a16:creationId xmlns:a16="http://schemas.microsoft.com/office/drawing/2014/main" id="{D24F99B7-E547-4002-8B7C-05D2076C01B6}"/>
              </a:ext>
            </a:extLst>
          </p:cNvPr>
          <p:cNvSpPr>
            <a:spLocks noGrp="1"/>
          </p:cNvSpPr>
          <p:nvPr/>
        </p:nvSpPr>
        <p:spPr>
          <a:xfrm>
            <a:off x="10439400" y="22221825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9" name="greedy-step-4-title">
            <a:extLst>
              <a:ext uri="{FF2B5EF4-FFF2-40B4-BE49-F238E27FC236}">
                <a16:creationId xmlns:a16="http://schemas.microsoft.com/office/drawing/2014/main" id="{63D4F38B-C643-451B-9E5B-8FD84A38F096}"/>
              </a:ext>
            </a:extLst>
          </p:cNvPr>
          <p:cNvSpPr>
            <a:spLocks noGrp="1"/>
          </p:cNvSpPr>
          <p:nvPr/>
        </p:nvSpPr>
        <p:spPr>
          <a:xfrm>
            <a:off x="11010900" y="221075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FINALIZE ONE INTERVAL</a:t>
            </a:r>
          </a:p>
        </p:txBody>
      </p:sp>
      <p:sp>
        <p:nvSpPr>
          <p:cNvPr id="120" name="greedy-step-4-body">
            <a:extLst>
              <a:ext uri="{FF2B5EF4-FFF2-40B4-BE49-F238E27FC236}">
                <a16:creationId xmlns:a16="http://schemas.microsoft.com/office/drawing/2014/main" id="{7584BCF3-91D0-48F1-8758-841916C5C7BE}"/>
              </a:ext>
            </a:extLst>
          </p:cNvPr>
          <p:cNvSpPr>
            <a:spLocks noGrp="1"/>
          </p:cNvSpPr>
          <p:nvPr/>
        </p:nvSpPr>
        <p:spPr>
          <a:xfrm>
            <a:off x="11010900" y="2238375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End at the earliest predicted completion and record model–plan assignments.</a:t>
            </a:r>
          </a:p>
        </p:txBody>
      </p:sp>
      <p:sp>
        <p:nvSpPr>
          <p:cNvPr id="125" name="loop-1-label-bg">
            <a:extLst>
              <a:ext uri="{FF2B5EF4-FFF2-40B4-BE49-F238E27FC236}">
                <a16:creationId xmlns:a16="http://schemas.microsoft.com/office/drawing/2014/main" id="{9A7FD0E2-04DD-48BC-8F41-429E794F3D1D}"/>
              </a:ext>
            </a:extLst>
          </p:cNvPr>
          <p:cNvSpPr>
            <a:spLocks noGrp="1"/>
          </p:cNvSpPr>
          <p:nvPr/>
        </p:nvSpPr>
        <p:spPr>
          <a:xfrm>
            <a:off x="7239000" y="22993350"/>
            <a:ext cx="1428750" cy="209550"/>
          </a:xfrm>
          <a:prstGeom prst="roundRect">
            <a:avLst>
              <a:gd name="adj" fmla="val 36364"/>
            </a:avLst>
          </a:prstGeom>
          <a:solidFill>
            <a:srgbClr val="2687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loop-1-label">
            <a:extLst>
              <a:ext uri="{FF2B5EF4-FFF2-40B4-BE49-F238E27FC236}">
                <a16:creationId xmlns:a16="http://schemas.microsoft.com/office/drawing/2014/main" id="{B0D04F93-2CD1-4E96-8A28-2E142CE529EE}"/>
              </a:ext>
            </a:extLst>
          </p:cNvPr>
          <p:cNvSpPr>
            <a:spLocks noGrp="1"/>
          </p:cNvSpPr>
          <p:nvPr/>
        </p:nvSpPr>
        <p:spPr>
          <a:xfrm>
            <a:off x="7296150" y="23002875"/>
            <a:ext cx="1314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UPDATE</a:t>
            </a:r>
          </a:p>
        </p:txBody>
      </p:sp>
      <p:sp>
        <p:nvSpPr>
          <p:cNvPr id="127" name="loop-1-text">
            <a:extLst>
              <a:ext uri="{FF2B5EF4-FFF2-40B4-BE49-F238E27FC236}">
                <a16:creationId xmlns:a16="http://schemas.microsoft.com/office/drawing/2014/main" id="{353EE28B-FE61-44A8-A3F4-4BA0B282745D}"/>
              </a:ext>
            </a:extLst>
          </p:cNvPr>
          <p:cNvSpPr>
            <a:spLocks noGrp="1"/>
          </p:cNvSpPr>
          <p:nvPr/>
        </p:nvSpPr>
        <p:spPr>
          <a:xfrm>
            <a:off x="8782050" y="22993350"/>
            <a:ext cx="445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l"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Choose the next </a:t>
            </a:r>
            <a:r>
              <a:rPr lang="en-US" sz="10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best </a:t>
            </a:r>
            <a:r>
              <a:rPr sz="10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feasible plan update</a:t>
            </a:r>
            <a:r>
              <a:rPr lang="en-US" sz="10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iteratively (repeat Steps 2 and 3 iteratively)</a:t>
            </a:r>
            <a:r>
              <a:rPr sz="10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8" name="loop-2-label-bg">
            <a:extLst>
              <a:ext uri="{FF2B5EF4-FFF2-40B4-BE49-F238E27FC236}">
                <a16:creationId xmlns:a16="http://schemas.microsoft.com/office/drawing/2014/main" id="{739044A0-7E77-4832-A32F-33679769FA3A}"/>
              </a:ext>
            </a:extLst>
          </p:cNvPr>
          <p:cNvSpPr>
            <a:spLocks noGrp="1"/>
          </p:cNvSpPr>
          <p:nvPr/>
        </p:nvSpPr>
        <p:spPr>
          <a:xfrm>
            <a:off x="7239000" y="23241000"/>
            <a:ext cx="1428750" cy="209550"/>
          </a:xfrm>
          <a:prstGeom prst="roundRect">
            <a:avLst>
              <a:gd name="adj" fmla="val 36364"/>
            </a:avLst>
          </a:prstGeom>
          <a:solidFill>
            <a:srgbClr val="1183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loop-2-label">
            <a:extLst>
              <a:ext uri="{FF2B5EF4-FFF2-40B4-BE49-F238E27FC236}">
                <a16:creationId xmlns:a16="http://schemas.microsoft.com/office/drawing/2014/main" id="{FB820146-3D70-4F55-9F74-92C6759911F7}"/>
              </a:ext>
            </a:extLst>
          </p:cNvPr>
          <p:cNvSpPr>
            <a:spLocks noGrp="1"/>
          </p:cNvSpPr>
          <p:nvPr/>
        </p:nvSpPr>
        <p:spPr>
          <a:xfrm>
            <a:off x="7296150" y="23250525"/>
            <a:ext cx="1314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973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READY-SET REFRESH</a:t>
            </a:r>
          </a:p>
        </p:txBody>
      </p:sp>
      <p:sp>
        <p:nvSpPr>
          <p:cNvPr id="130" name="loop-2-text">
            <a:extLst>
              <a:ext uri="{FF2B5EF4-FFF2-40B4-BE49-F238E27FC236}">
                <a16:creationId xmlns:a16="http://schemas.microsoft.com/office/drawing/2014/main" id="{EBC1EC4F-B09C-4DEC-8FD5-01A933D68C35}"/>
              </a:ext>
            </a:extLst>
          </p:cNvPr>
          <p:cNvSpPr>
            <a:spLocks noGrp="1"/>
          </p:cNvSpPr>
          <p:nvPr/>
        </p:nvSpPr>
        <p:spPr>
          <a:xfrm>
            <a:off x="8782050" y="23241000"/>
            <a:ext cx="445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7500" lnSpcReduction="20000"/>
          </a:bodyPr>
          <a:lstStyle/>
          <a:p>
            <a:pPr algn="l"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All ready candidates have plans → refresh the ready set → repeat search</a:t>
            </a:r>
            <a:r>
              <a:rPr lang="en-US" sz="10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for the current interval</a:t>
            </a:r>
            <a:r>
              <a:rPr sz="10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1" name="loop-3-label-bg">
            <a:extLst>
              <a:ext uri="{FF2B5EF4-FFF2-40B4-BE49-F238E27FC236}">
                <a16:creationId xmlns:a16="http://schemas.microsoft.com/office/drawing/2014/main" id="{6370B9EB-A00B-4229-A514-69C43748DFF1}"/>
              </a:ext>
            </a:extLst>
          </p:cNvPr>
          <p:cNvSpPr>
            <a:spLocks noGrp="1"/>
          </p:cNvSpPr>
          <p:nvPr/>
        </p:nvSpPr>
        <p:spPr>
          <a:xfrm>
            <a:off x="7239000" y="23488650"/>
            <a:ext cx="1428750" cy="209550"/>
          </a:xfrm>
          <a:prstGeom prst="roundRect">
            <a:avLst>
              <a:gd name="adj" fmla="val 36364"/>
            </a:avLst>
          </a:prstGeom>
          <a:solidFill>
            <a:srgbClr val="F29F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loop-3-label">
            <a:extLst>
              <a:ext uri="{FF2B5EF4-FFF2-40B4-BE49-F238E27FC236}">
                <a16:creationId xmlns:a16="http://schemas.microsoft.com/office/drawing/2014/main" id="{81115700-5A31-41A1-B094-A060F1E2E9D2}"/>
              </a:ext>
            </a:extLst>
          </p:cNvPr>
          <p:cNvSpPr>
            <a:spLocks noGrp="1"/>
          </p:cNvSpPr>
          <p:nvPr/>
        </p:nvSpPr>
        <p:spPr>
          <a:xfrm>
            <a:off x="7296150" y="23498175"/>
            <a:ext cx="1314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TIME ADVANCE</a:t>
            </a:r>
          </a:p>
        </p:txBody>
      </p:sp>
      <p:sp>
        <p:nvSpPr>
          <p:cNvPr id="133" name="loop-3-text">
            <a:extLst>
              <a:ext uri="{FF2B5EF4-FFF2-40B4-BE49-F238E27FC236}">
                <a16:creationId xmlns:a16="http://schemas.microsoft.com/office/drawing/2014/main" id="{15B31312-AA94-4E43-B87D-0A759FB19967}"/>
              </a:ext>
            </a:extLst>
          </p:cNvPr>
          <p:cNvSpPr>
            <a:spLocks noGrp="1"/>
          </p:cNvSpPr>
          <p:nvPr/>
        </p:nvSpPr>
        <p:spPr>
          <a:xfrm>
            <a:off x="8782050" y="23488650"/>
            <a:ext cx="445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5925" lnSpcReduction="20000"/>
          </a:bodyPr>
          <a:lstStyle/>
          <a:p>
            <a:pPr algn="l"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GPUs full / no improving update → finalize</a:t>
            </a:r>
            <a:r>
              <a:rPr lang="en-US" sz="10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interval</a:t>
            </a:r>
            <a:r>
              <a:rPr sz="10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→ advance time → update remaining requests.</a:t>
            </a:r>
          </a:p>
        </p:txBody>
      </p:sp>
      <p:sp>
        <p:nvSpPr>
          <p:cNvPr id="134" name="guarantee-bg">
            <a:extLst>
              <a:ext uri="{FF2B5EF4-FFF2-40B4-BE49-F238E27FC236}">
                <a16:creationId xmlns:a16="http://schemas.microsoft.com/office/drawing/2014/main" id="{D0EC9BAA-A4B2-4990-93DA-91D7C5A6D6B7}"/>
              </a:ext>
            </a:extLst>
          </p:cNvPr>
          <p:cNvSpPr>
            <a:spLocks noGrp="1"/>
          </p:cNvSpPr>
          <p:nvPr/>
        </p:nvSpPr>
        <p:spPr>
          <a:xfrm>
            <a:off x="7219950" y="23774400"/>
            <a:ext cx="6076950" cy="609600"/>
          </a:xfrm>
          <a:prstGeom prst="roundRect">
            <a:avLst>
              <a:gd name="adj" fmla="val 15385"/>
            </a:avLst>
          </a:prstGeom>
          <a:solidFill>
            <a:srgbClr val="DDF3EC"/>
          </a:solidFill>
          <a:ln w="11430">
            <a:solidFill>
              <a:srgbClr val="AFDC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guarantee">
            <a:extLst>
              <a:ext uri="{FF2B5EF4-FFF2-40B4-BE49-F238E27FC236}">
                <a16:creationId xmlns:a16="http://schemas.microsoft.com/office/drawing/2014/main" id="{0B244F1F-7336-41FC-96AC-29227F2F54DD}"/>
              </a:ext>
            </a:extLst>
          </p:cNvPr>
          <p:cNvSpPr>
            <a:spLocks noGrp="1"/>
          </p:cNvSpPr>
          <p:nvPr/>
        </p:nvSpPr>
        <p:spPr>
          <a:xfrm>
            <a:off x="7372350" y="23787100"/>
            <a:ext cx="5772150" cy="5799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315"/>
          </a:bodyPr>
          <a:lstStyle/>
          <a:p>
            <a:pPr algn="ctr">
              <a:defRPr sz="1275" b="1" i="0">
                <a:solidFill>
                  <a:srgbClr val="11836B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11836B"/>
                </a:solidFill>
                <a:latin typeface="Arial"/>
                <a:ea typeface="Arial"/>
                <a:cs typeface="Arial"/>
              </a:rPr>
              <a:t>Bound under simplified assumptions</a:t>
            </a:r>
            <a:r>
              <a:rPr lang="en-US" sz="1275" b="1" i="0" dirty="0">
                <a:solidFill>
                  <a:srgbClr val="11836B"/>
                </a:solidFill>
                <a:latin typeface="Arial"/>
                <a:ea typeface="Arial"/>
                <a:cs typeface="Arial"/>
              </a:rPr>
              <a:t> (a model's rate depends only on remaining request count; its best rate is concave in GPU count)</a:t>
            </a:r>
            <a:r>
              <a:rPr sz="1275" b="1" i="0" dirty="0">
                <a:solidFill>
                  <a:srgbClr val="11836B"/>
                </a:solidFill>
                <a:latin typeface="Arial"/>
                <a:ea typeface="Arial"/>
                <a:cs typeface="Arial"/>
              </a:rPr>
              <a:t>:  t(𝒜) ≤ </a:t>
            </a:r>
            <a:r>
              <a:rPr lang="el-GR" sz="1275" b="1" i="0" dirty="0">
                <a:solidFill>
                  <a:srgbClr val="11836B"/>
                </a:solidFill>
                <a:latin typeface="Arial"/>
                <a:ea typeface="Arial"/>
                <a:cs typeface="Arial"/>
              </a:rPr>
              <a:t>(1/α + β)</a:t>
            </a:r>
            <a:r>
              <a:rPr lang="en-US" sz="1275" b="1" i="0" dirty="0" err="1">
                <a:solidFill>
                  <a:srgbClr val="11836B"/>
                </a:solidFill>
                <a:latin typeface="Arial"/>
                <a:ea typeface="Arial"/>
                <a:cs typeface="Arial"/>
              </a:rPr>
              <a:t>N·t</a:t>
            </a:r>
            <a:r>
              <a:rPr lang="en-US" sz="1275" b="1" i="0" dirty="0">
                <a:solidFill>
                  <a:srgbClr val="11836B"/>
                </a:solidFill>
                <a:latin typeface="Arial"/>
                <a:ea typeface="Arial"/>
                <a:cs typeface="Arial"/>
              </a:rPr>
              <a:t>(𝒜*)</a:t>
            </a:r>
          </a:p>
          <a:p>
            <a:pPr algn="ctr">
              <a:defRPr sz="1275" b="1" i="0">
                <a:solidFill>
                  <a:srgbClr val="11836B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300" dirty="0"/>
              <a:t>The bound tightens with stronger GPU scaling and smaller preemption cost.</a:t>
            </a:r>
            <a:endParaRPr sz="1200" b="1" i="0" dirty="0">
              <a:solidFill>
                <a:srgbClr val="1183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component-3-panel">
            <a:extLst>
              <a:ext uri="{FF2B5EF4-FFF2-40B4-BE49-F238E27FC236}">
                <a16:creationId xmlns:a16="http://schemas.microsoft.com/office/drawing/2014/main" id="{E8DE23BD-21BE-42C4-B9B6-6377CF50D0C9}"/>
              </a:ext>
            </a:extLst>
          </p:cNvPr>
          <p:cNvSpPr>
            <a:spLocks noGrp="1"/>
          </p:cNvSpPr>
          <p:nvPr/>
        </p:nvSpPr>
        <p:spPr>
          <a:xfrm>
            <a:off x="6972300" y="24669750"/>
            <a:ext cx="6572250" cy="4238625"/>
          </a:xfrm>
          <a:prstGeom prst="roundRect">
            <a:avLst>
              <a:gd name="adj" fmla="val 1798"/>
            </a:avLst>
          </a:prstGeom>
          <a:solidFill>
            <a:srgbClr val="F3F6F9"/>
          </a:solidFill>
          <a:ln w="14288">
            <a:solidFill>
              <a:srgbClr val="CCD6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component-3-accent">
            <a:extLst>
              <a:ext uri="{FF2B5EF4-FFF2-40B4-BE49-F238E27FC236}">
                <a16:creationId xmlns:a16="http://schemas.microsoft.com/office/drawing/2014/main" id="{3E60C465-8093-4076-8132-D6E74F8594E1}"/>
              </a:ext>
            </a:extLst>
          </p:cNvPr>
          <p:cNvSpPr>
            <a:spLocks noGrp="1"/>
          </p:cNvSpPr>
          <p:nvPr/>
        </p:nvSpPr>
        <p:spPr>
          <a:xfrm>
            <a:off x="6972300" y="24669750"/>
            <a:ext cx="95250" cy="4238625"/>
          </a:xfrm>
          <a:prstGeom prst="rect">
            <a:avLst/>
          </a:prstGeom>
          <a:solidFill>
            <a:srgbClr val="F29F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component-3-title">
            <a:extLst>
              <a:ext uri="{FF2B5EF4-FFF2-40B4-BE49-F238E27FC236}">
                <a16:creationId xmlns:a16="http://schemas.microsoft.com/office/drawing/2014/main" id="{BB57512F-38D6-4771-A6CD-3F7749496D32}"/>
              </a:ext>
            </a:extLst>
          </p:cNvPr>
          <p:cNvSpPr>
            <a:spLocks noGrp="1"/>
          </p:cNvSpPr>
          <p:nvPr/>
        </p:nvSpPr>
        <p:spPr>
          <a:xfrm>
            <a:off x="7258050" y="24907875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F29F3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29F3D"/>
                </a:solidFill>
                <a:latin typeface="Arial"/>
                <a:ea typeface="Arial"/>
                <a:cs typeface="Arial"/>
              </a:rPr>
              <a:t>3  Runtime schedule adjustment</a:t>
            </a:r>
          </a:p>
        </p:txBody>
      </p:sp>
      <p:sp>
        <p:nvSpPr>
          <p:cNvPr id="139" name="component-3-rule">
            <a:extLst>
              <a:ext uri="{FF2B5EF4-FFF2-40B4-BE49-F238E27FC236}">
                <a16:creationId xmlns:a16="http://schemas.microsoft.com/office/drawing/2014/main" id="{545C5BDF-EEA9-4A23-9E34-B9F58FEEAC3C}"/>
              </a:ext>
            </a:extLst>
          </p:cNvPr>
          <p:cNvSpPr>
            <a:spLocks noGrp="1"/>
          </p:cNvSpPr>
          <p:nvPr/>
        </p:nvSpPr>
        <p:spPr>
          <a:xfrm>
            <a:off x="7258050" y="25431750"/>
            <a:ext cx="600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41" lnSpcReduction="10000"/>
          </a:bodyPr>
          <a:lstStyle/>
          <a:p>
            <a:pPr>
              <a:defRPr sz="17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If M₂ finishes before M₁, advance a ready model–plan pair from a later planned interval onto the released GPUs</a:t>
            </a:r>
            <a:r>
              <a:rPr lang="en-US" sz="1725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to </a:t>
            </a:r>
            <a:r>
              <a:rPr lang="en-US" altLang="zh-CN" dirty="0"/>
              <a:t>reduce GPU idleness</a:t>
            </a:r>
            <a:r>
              <a:rPr sz="1725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0" name="before-label">
            <a:extLst>
              <a:ext uri="{FF2B5EF4-FFF2-40B4-BE49-F238E27FC236}">
                <a16:creationId xmlns:a16="http://schemas.microsoft.com/office/drawing/2014/main" id="{7C6727AD-C8A4-4E51-ACA4-76207A7EE981}"/>
              </a:ext>
            </a:extLst>
          </p:cNvPr>
          <p:cNvSpPr>
            <a:spLocks noGrp="1"/>
          </p:cNvSpPr>
          <p:nvPr/>
        </p:nvSpPr>
        <p:spPr>
          <a:xfrm>
            <a:off x="8039100" y="26117550"/>
            <a:ext cx="5257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D3545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35454"/>
                </a:solidFill>
                <a:latin typeface="Arial"/>
                <a:ea typeface="Arial"/>
                <a:cs typeface="Arial"/>
              </a:rPr>
              <a:t>BEFORE ADJUSTMENT</a:t>
            </a:r>
          </a:p>
        </p:txBody>
      </p:sp>
      <p:sp>
        <p:nvSpPr>
          <p:cNvPr id="141" name="after-label">
            <a:extLst>
              <a:ext uri="{FF2B5EF4-FFF2-40B4-BE49-F238E27FC236}">
                <a16:creationId xmlns:a16="http://schemas.microsoft.com/office/drawing/2014/main" id="{D338C1D0-2FFA-4D57-8434-7F370FA0FB45}"/>
              </a:ext>
            </a:extLst>
          </p:cNvPr>
          <p:cNvSpPr>
            <a:spLocks noGrp="1"/>
          </p:cNvSpPr>
          <p:nvPr/>
        </p:nvSpPr>
        <p:spPr>
          <a:xfrm>
            <a:off x="8039100" y="27479625"/>
            <a:ext cx="5257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11836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836B"/>
                </a:solidFill>
                <a:latin typeface="Arial"/>
                <a:ea typeface="Arial"/>
                <a:cs typeface="Arial"/>
              </a:rPr>
              <a:t>AFTER ADJUSTMENT</a:t>
            </a:r>
          </a:p>
        </p:txBody>
      </p:sp>
      <p:sp>
        <p:nvSpPr>
          <p:cNvPr id="142" name="stage-labels-before">
            <a:extLst>
              <a:ext uri="{FF2B5EF4-FFF2-40B4-BE49-F238E27FC236}">
                <a16:creationId xmlns:a16="http://schemas.microsoft.com/office/drawing/2014/main" id="{73816C80-C12D-4152-A10B-D0A60BC60811}"/>
              </a:ext>
            </a:extLst>
          </p:cNvPr>
          <p:cNvSpPr>
            <a:spLocks noGrp="1"/>
          </p:cNvSpPr>
          <p:nvPr/>
        </p:nvSpPr>
        <p:spPr>
          <a:xfrm>
            <a:off x="8086725" y="26412825"/>
            <a:ext cx="295427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Stage S₀  [t₀, t₁]</a:t>
            </a:r>
          </a:p>
        </p:txBody>
      </p:sp>
      <p:sp>
        <p:nvSpPr>
          <p:cNvPr id="143" name="stage-labels-before-2">
            <a:extLst>
              <a:ext uri="{FF2B5EF4-FFF2-40B4-BE49-F238E27FC236}">
                <a16:creationId xmlns:a16="http://schemas.microsoft.com/office/drawing/2014/main" id="{36E8CAD8-8C20-4AEE-A762-61063773D8DC}"/>
              </a:ext>
            </a:extLst>
          </p:cNvPr>
          <p:cNvSpPr>
            <a:spLocks noGrp="1"/>
          </p:cNvSpPr>
          <p:nvPr/>
        </p:nvSpPr>
        <p:spPr>
          <a:xfrm>
            <a:off x="11136249" y="26412825"/>
            <a:ext cx="211302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Stage S₁  [t₁, t₂]</a:t>
            </a:r>
          </a:p>
        </p:txBody>
      </p:sp>
      <p:sp>
        <p:nvSpPr>
          <p:cNvPr id="144" name="stage-labels-after">
            <a:extLst>
              <a:ext uri="{FF2B5EF4-FFF2-40B4-BE49-F238E27FC236}">
                <a16:creationId xmlns:a16="http://schemas.microsoft.com/office/drawing/2014/main" id="{5111F377-65A6-4ECF-BA44-B825EB49645D}"/>
              </a:ext>
            </a:extLst>
          </p:cNvPr>
          <p:cNvSpPr>
            <a:spLocks noGrp="1"/>
          </p:cNvSpPr>
          <p:nvPr/>
        </p:nvSpPr>
        <p:spPr>
          <a:xfrm>
            <a:off x="8086725" y="27774900"/>
            <a:ext cx="295427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Stage S₀  [t₀, t₁]</a:t>
            </a:r>
          </a:p>
        </p:txBody>
      </p:sp>
      <p:sp>
        <p:nvSpPr>
          <p:cNvPr id="145" name="stage-labels-after-2">
            <a:extLst>
              <a:ext uri="{FF2B5EF4-FFF2-40B4-BE49-F238E27FC236}">
                <a16:creationId xmlns:a16="http://schemas.microsoft.com/office/drawing/2014/main" id="{40253A2B-3DB6-4C05-ADD5-4CFF3AD987DA}"/>
              </a:ext>
            </a:extLst>
          </p:cNvPr>
          <p:cNvSpPr>
            <a:spLocks noGrp="1"/>
          </p:cNvSpPr>
          <p:nvPr/>
        </p:nvSpPr>
        <p:spPr>
          <a:xfrm>
            <a:off x="11136249" y="27774900"/>
            <a:ext cx="211302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Stage S₁  [t₁, t₂]</a:t>
            </a:r>
          </a:p>
        </p:txBody>
      </p:sp>
      <p:sp>
        <p:nvSpPr>
          <p:cNvPr id="146" name="gpu-0-before">
            <a:extLst>
              <a:ext uri="{FF2B5EF4-FFF2-40B4-BE49-F238E27FC236}">
                <a16:creationId xmlns:a16="http://schemas.microsoft.com/office/drawing/2014/main" id="{4165A563-0D4F-44A9-89B6-26269041F6A1}"/>
              </a:ext>
            </a:extLst>
          </p:cNvPr>
          <p:cNvSpPr>
            <a:spLocks noGrp="1"/>
          </p:cNvSpPr>
          <p:nvPr/>
        </p:nvSpPr>
        <p:spPr>
          <a:xfrm>
            <a:off x="7448550" y="266319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GPU 0</a:t>
            </a:r>
          </a:p>
        </p:txBody>
      </p:sp>
      <p:sp>
        <p:nvSpPr>
          <p:cNvPr id="147" name="gpu-0-after">
            <a:extLst>
              <a:ext uri="{FF2B5EF4-FFF2-40B4-BE49-F238E27FC236}">
                <a16:creationId xmlns:a16="http://schemas.microsoft.com/office/drawing/2014/main" id="{5A28B885-C7EC-4451-9048-023ACF80A6CE}"/>
              </a:ext>
            </a:extLst>
          </p:cNvPr>
          <p:cNvSpPr>
            <a:spLocks noGrp="1"/>
          </p:cNvSpPr>
          <p:nvPr/>
        </p:nvSpPr>
        <p:spPr>
          <a:xfrm>
            <a:off x="7448550" y="279939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GPU 0</a:t>
            </a:r>
          </a:p>
        </p:txBody>
      </p:sp>
      <p:sp>
        <p:nvSpPr>
          <p:cNvPr id="148" name="before-lane-0">
            <a:extLst>
              <a:ext uri="{FF2B5EF4-FFF2-40B4-BE49-F238E27FC236}">
                <a16:creationId xmlns:a16="http://schemas.microsoft.com/office/drawing/2014/main" id="{D207E413-028E-4B57-B7BD-38FC6DD3E38E}"/>
              </a:ext>
            </a:extLst>
          </p:cNvPr>
          <p:cNvSpPr>
            <a:spLocks noGrp="1"/>
          </p:cNvSpPr>
          <p:nvPr/>
        </p:nvSpPr>
        <p:spPr>
          <a:xfrm>
            <a:off x="8039100" y="26641425"/>
            <a:ext cx="5257800" cy="171450"/>
          </a:xfrm>
          <a:prstGeom prst="rect">
            <a:avLst/>
          </a:prstGeom>
          <a:solidFill>
            <a:srgbClr val="FFFFFF"/>
          </a:solidFill>
          <a:ln w="5715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after-lane-0">
            <a:extLst>
              <a:ext uri="{FF2B5EF4-FFF2-40B4-BE49-F238E27FC236}">
                <a16:creationId xmlns:a16="http://schemas.microsoft.com/office/drawing/2014/main" id="{C25DBDB8-24AD-4C47-8409-913BE79F9756}"/>
              </a:ext>
            </a:extLst>
          </p:cNvPr>
          <p:cNvSpPr>
            <a:spLocks noGrp="1"/>
          </p:cNvSpPr>
          <p:nvPr/>
        </p:nvSpPr>
        <p:spPr>
          <a:xfrm>
            <a:off x="8039100" y="28003500"/>
            <a:ext cx="5257800" cy="171450"/>
          </a:xfrm>
          <a:prstGeom prst="rect">
            <a:avLst/>
          </a:prstGeom>
          <a:solidFill>
            <a:srgbClr val="FFFFFF"/>
          </a:solidFill>
          <a:ln w="5715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gpu-1-before">
            <a:extLst>
              <a:ext uri="{FF2B5EF4-FFF2-40B4-BE49-F238E27FC236}">
                <a16:creationId xmlns:a16="http://schemas.microsoft.com/office/drawing/2014/main" id="{61285568-FA90-44EE-95A9-D332A47BD271}"/>
              </a:ext>
            </a:extLst>
          </p:cNvPr>
          <p:cNvSpPr>
            <a:spLocks noGrp="1"/>
          </p:cNvSpPr>
          <p:nvPr/>
        </p:nvSpPr>
        <p:spPr>
          <a:xfrm>
            <a:off x="7448550" y="268033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GPU 1</a:t>
            </a:r>
          </a:p>
        </p:txBody>
      </p:sp>
      <p:sp>
        <p:nvSpPr>
          <p:cNvPr id="151" name="gpu-1-after">
            <a:extLst>
              <a:ext uri="{FF2B5EF4-FFF2-40B4-BE49-F238E27FC236}">
                <a16:creationId xmlns:a16="http://schemas.microsoft.com/office/drawing/2014/main" id="{597336E6-8D9B-4830-B270-77D2FFA2E01C}"/>
              </a:ext>
            </a:extLst>
          </p:cNvPr>
          <p:cNvSpPr>
            <a:spLocks noGrp="1"/>
          </p:cNvSpPr>
          <p:nvPr/>
        </p:nvSpPr>
        <p:spPr>
          <a:xfrm>
            <a:off x="7448550" y="2816542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GPU 1</a:t>
            </a:r>
          </a:p>
        </p:txBody>
      </p:sp>
      <p:sp>
        <p:nvSpPr>
          <p:cNvPr id="152" name="before-lane-1">
            <a:extLst>
              <a:ext uri="{FF2B5EF4-FFF2-40B4-BE49-F238E27FC236}">
                <a16:creationId xmlns:a16="http://schemas.microsoft.com/office/drawing/2014/main" id="{2D85E1CB-FD71-42CA-B15A-E18C1BF46B63}"/>
              </a:ext>
            </a:extLst>
          </p:cNvPr>
          <p:cNvSpPr>
            <a:spLocks noGrp="1"/>
          </p:cNvSpPr>
          <p:nvPr/>
        </p:nvSpPr>
        <p:spPr>
          <a:xfrm>
            <a:off x="8039100" y="26812875"/>
            <a:ext cx="5257800" cy="171450"/>
          </a:xfrm>
          <a:prstGeom prst="rect">
            <a:avLst/>
          </a:prstGeom>
          <a:solidFill>
            <a:srgbClr val="FFFFFF"/>
          </a:solidFill>
          <a:ln w="5715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after-lane-1">
            <a:extLst>
              <a:ext uri="{FF2B5EF4-FFF2-40B4-BE49-F238E27FC236}">
                <a16:creationId xmlns:a16="http://schemas.microsoft.com/office/drawing/2014/main" id="{CAE6BE51-8AAD-420D-BAE8-10B85B9FBB0A}"/>
              </a:ext>
            </a:extLst>
          </p:cNvPr>
          <p:cNvSpPr>
            <a:spLocks noGrp="1"/>
          </p:cNvSpPr>
          <p:nvPr/>
        </p:nvSpPr>
        <p:spPr>
          <a:xfrm>
            <a:off x="8039100" y="28174950"/>
            <a:ext cx="5257800" cy="171450"/>
          </a:xfrm>
          <a:prstGeom prst="rect">
            <a:avLst/>
          </a:prstGeom>
          <a:solidFill>
            <a:srgbClr val="FFFFFF"/>
          </a:solidFill>
          <a:ln w="5715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gpu-2-before">
            <a:extLst>
              <a:ext uri="{FF2B5EF4-FFF2-40B4-BE49-F238E27FC236}">
                <a16:creationId xmlns:a16="http://schemas.microsoft.com/office/drawing/2014/main" id="{109A6405-0382-477E-94F2-BA416B286713}"/>
              </a:ext>
            </a:extLst>
          </p:cNvPr>
          <p:cNvSpPr>
            <a:spLocks noGrp="1"/>
          </p:cNvSpPr>
          <p:nvPr/>
        </p:nvSpPr>
        <p:spPr>
          <a:xfrm>
            <a:off x="7448550" y="269748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GPU 2</a:t>
            </a:r>
          </a:p>
        </p:txBody>
      </p:sp>
      <p:sp>
        <p:nvSpPr>
          <p:cNvPr id="155" name="gpu-2-after">
            <a:extLst>
              <a:ext uri="{FF2B5EF4-FFF2-40B4-BE49-F238E27FC236}">
                <a16:creationId xmlns:a16="http://schemas.microsoft.com/office/drawing/2014/main" id="{85485510-24C2-41B0-84A5-40C19244D8AB}"/>
              </a:ext>
            </a:extLst>
          </p:cNvPr>
          <p:cNvSpPr>
            <a:spLocks noGrp="1"/>
          </p:cNvSpPr>
          <p:nvPr/>
        </p:nvSpPr>
        <p:spPr>
          <a:xfrm>
            <a:off x="7448550" y="283368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GPU 2</a:t>
            </a:r>
          </a:p>
        </p:txBody>
      </p:sp>
      <p:sp>
        <p:nvSpPr>
          <p:cNvPr id="156" name="before-lane-2">
            <a:extLst>
              <a:ext uri="{FF2B5EF4-FFF2-40B4-BE49-F238E27FC236}">
                <a16:creationId xmlns:a16="http://schemas.microsoft.com/office/drawing/2014/main" id="{34B8EA69-F8A8-4300-8683-085CF24B60C5}"/>
              </a:ext>
            </a:extLst>
          </p:cNvPr>
          <p:cNvSpPr>
            <a:spLocks noGrp="1"/>
          </p:cNvSpPr>
          <p:nvPr/>
        </p:nvSpPr>
        <p:spPr>
          <a:xfrm>
            <a:off x="8039100" y="26984325"/>
            <a:ext cx="5257800" cy="171450"/>
          </a:xfrm>
          <a:prstGeom prst="rect">
            <a:avLst/>
          </a:prstGeom>
          <a:solidFill>
            <a:srgbClr val="FFFFFF"/>
          </a:solidFill>
          <a:ln w="5715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after-lane-2">
            <a:extLst>
              <a:ext uri="{FF2B5EF4-FFF2-40B4-BE49-F238E27FC236}">
                <a16:creationId xmlns:a16="http://schemas.microsoft.com/office/drawing/2014/main" id="{2A4AEBD0-71A9-4D12-A968-41683D7BB79C}"/>
              </a:ext>
            </a:extLst>
          </p:cNvPr>
          <p:cNvSpPr>
            <a:spLocks noGrp="1"/>
          </p:cNvSpPr>
          <p:nvPr/>
        </p:nvSpPr>
        <p:spPr>
          <a:xfrm>
            <a:off x="8039100" y="28346400"/>
            <a:ext cx="5257800" cy="171450"/>
          </a:xfrm>
          <a:prstGeom prst="rect">
            <a:avLst/>
          </a:prstGeom>
          <a:solidFill>
            <a:srgbClr val="FFFFFF"/>
          </a:solidFill>
          <a:ln w="5715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gpu-3-before">
            <a:extLst>
              <a:ext uri="{FF2B5EF4-FFF2-40B4-BE49-F238E27FC236}">
                <a16:creationId xmlns:a16="http://schemas.microsoft.com/office/drawing/2014/main" id="{ED9B1121-6719-49FA-9B6B-2D5500E161C9}"/>
              </a:ext>
            </a:extLst>
          </p:cNvPr>
          <p:cNvSpPr>
            <a:spLocks noGrp="1"/>
          </p:cNvSpPr>
          <p:nvPr/>
        </p:nvSpPr>
        <p:spPr>
          <a:xfrm>
            <a:off x="7448550" y="27146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GPU 3</a:t>
            </a:r>
          </a:p>
        </p:txBody>
      </p:sp>
      <p:sp>
        <p:nvSpPr>
          <p:cNvPr id="159" name="gpu-3-after">
            <a:extLst>
              <a:ext uri="{FF2B5EF4-FFF2-40B4-BE49-F238E27FC236}">
                <a16:creationId xmlns:a16="http://schemas.microsoft.com/office/drawing/2014/main" id="{8948F216-8805-449B-866F-FC34667E9822}"/>
              </a:ext>
            </a:extLst>
          </p:cNvPr>
          <p:cNvSpPr>
            <a:spLocks noGrp="1"/>
          </p:cNvSpPr>
          <p:nvPr/>
        </p:nvSpPr>
        <p:spPr>
          <a:xfrm>
            <a:off x="7448550" y="2850832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GPU 3</a:t>
            </a:r>
          </a:p>
        </p:txBody>
      </p:sp>
      <p:sp>
        <p:nvSpPr>
          <p:cNvPr id="160" name="before-lane-3">
            <a:extLst>
              <a:ext uri="{FF2B5EF4-FFF2-40B4-BE49-F238E27FC236}">
                <a16:creationId xmlns:a16="http://schemas.microsoft.com/office/drawing/2014/main" id="{F9FD8AD2-094C-4E13-B2E3-F24E420D737C}"/>
              </a:ext>
            </a:extLst>
          </p:cNvPr>
          <p:cNvSpPr>
            <a:spLocks noGrp="1"/>
          </p:cNvSpPr>
          <p:nvPr/>
        </p:nvSpPr>
        <p:spPr>
          <a:xfrm>
            <a:off x="8039100" y="27155775"/>
            <a:ext cx="5257800" cy="171450"/>
          </a:xfrm>
          <a:prstGeom prst="rect">
            <a:avLst/>
          </a:prstGeom>
          <a:solidFill>
            <a:srgbClr val="FFFFFF"/>
          </a:solidFill>
          <a:ln w="5715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after-lane-3">
            <a:extLst>
              <a:ext uri="{FF2B5EF4-FFF2-40B4-BE49-F238E27FC236}">
                <a16:creationId xmlns:a16="http://schemas.microsoft.com/office/drawing/2014/main" id="{97A0C5DA-C79C-4139-930C-A02BCD832E12}"/>
              </a:ext>
            </a:extLst>
          </p:cNvPr>
          <p:cNvSpPr>
            <a:spLocks noGrp="1"/>
          </p:cNvSpPr>
          <p:nvPr/>
        </p:nvSpPr>
        <p:spPr>
          <a:xfrm>
            <a:off x="8039100" y="28517850"/>
            <a:ext cx="5257800" cy="171450"/>
          </a:xfrm>
          <a:prstGeom prst="rect">
            <a:avLst/>
          </a:prstGeom>
          <a:solidFill>
            <a:srgbClr val="FFFFFF"/>
          </a:solidFill>
          <a:ln w="5715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before-M1">
            <a:extLst>
              <a:ext uri="{FF2B5EF4-FFF2-40B4-BE49-F238E27FC236}">
                <a16:creationId xmlns:a16="http://schemas.microsoft.com/office/drawing/2014/main" id="{4EFD0228-FA16-48CB-9ACD-8AD22EED9357}"/>
              </a:ext>
            </a:extLst>
          </p:cNvPr>
          <p:cNvSpPr>
            <a:spLocks noGrp="1"/>
          </p:cNvSpPr>
          <p:nvPr/>
        </p:nvSpPr>
        <p:spPr>
          <a:xfrm>
            <a:off x="8039100" y="26641425"/>
            <a:ext cx="3049524" cy="342900"/>
          </a:xfrm>
          <a:prstGeom prst="rect">
            <a:avLst/>
          </a:prstGeom>
          <a:solidFill>
            <a:srgbClr val="9DC3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before-M1-label">
            <a:extLst>
              <a:ext uri="{FF2B5EF4-FFF2-40B4-BE49-F238E27FC236}">
                <a16:creationId xmlns:a16="http://schemas.microsoft.com/office/drawing/2014/main" id="{56F4FAB5-380F-4629-B87A-5590AF2B958D}"/>
              </a:ext>
            </a:extLst>
          </p:cNvPr>
          <p:cNvSpPr>
            <a:spLocks noGrp="1"/>
          </p:cNvSpPr>
          <p:nvPr/>
        </p:nvSpPr>
        <p:spPr>
          <a:xfrm>
            <a:off x="8039100" y="26717625"/>
            <a:ext cx="304952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M₁ / P₁</a:t>
            </a:r>
          </a:p>
        </p:txBody>
      </p:sp>
      <p:sp>
        <p:nvSpPr>
          <p:cNvPr id="164" name="before-M2">
            <a:extLst>
              <a:ext uri="{FF2B5EF4-FFF2-40B4-BE49-F238E27FC236}">
                <a16:creationId xmlns:a16="http://schemas.microsoft.com/office/drawing/2014/main" id="{C0D8A07D-9437-4AF5-98D4-1567C92507FD}"/>
              </a:ext>
            </a:extLst>
          </p:cNvPr>
          <p:cNvSpPr>
            <a:spLocks noGrp="1"/>
          </p:cNvSpPr>
          <p:nvPr/>
        </p:nvSpPr>
        <p:spPr>
          <a:xfrm>
            <a:off x="8039100" y="26984325"/>
            <a:ext cx="1314450" cy="171450"/>
          </a:xfrm>
          <a:prstGeom prst="rect">
            <a:avLst/>
          </a:prstGeom>
          <a:solidFill>
            <a:srgbClr val="FF7D7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before-M2-label">
            <a:extLst>
              <a:ext uri="{FF2B5EF4-FFF2-40B4-BE49-F238E27FC236}">
                <a16:creationId xmlns:a16="http://schemas.microsoft.com/office/drawing/2014/main" id="{B2524289-4B63-434B-87E0-562145428ABC}"/>
              </a:ext>
            </a:extLst>
          </p:cNvPr>
          <p:cNvSpPr>
            <a:spLocks noGrp="1"/>
          </p:cNvSpPr>
          <p:nvPr/>
        </p:nvSpPr>
        <p:spPr>
          <a:xfrm>
            <a:off x="8039100" y="26984325"/>
            <a:ext cx="1314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M₂ / P₂</a:t>
            </a:r>
          </a:p>
        </p:txBody>
      </p:sp>
      <p:sp>
        <p:nvSpPr>
          <p:cNvPr id="166" name="before-idle">
            <a:extLst>
              <a:ext uri="{FF2B5EF4-FFF2-40B4-BE49-F238E27FC236}">
                <a16:creationId xmlns:a16="http://schemas.microsoft.com/office/drawing/2014/main" id="{0B18E886-93B2-40B6-8374-D3B436CC7307}"/>
              </a:ext>
            </a:extLst>
          </p:cNvPr>
          <p:cNvSpPr>
            <a:spLocks noGrp="1"/>
          </p:cNvSpPr>
          <p:nvPr/>
        </p:nvSpPr>
        <p:spPr>
          <a:xfrm>
            <a:off x="9353550" y="26984325"/>
            <a:ext cx="1735074" cy="171450"/>
          </a:xfrm>
          <a:prstGeom prst="rect">
            <a:avLst/>
          </a:prstGeom>
          <a:solidFill>
            <a:srgbClr val="E7EB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7" name="before-idle-label">
            <a:extLst>
              <a:ext uri="{FF2B5EF4-FFF2-40B4-BE49-F238E27FC236}">
                <a16:creationId xmlns:a16="http://schemas.microsoft.com/office/drawing/2014/main" id="{55BD826A-24F2-44A2-B9CC-A109B7F4AA60}"/>
              </a:ext>
            </a:extLst>
          </p:cNvPr>
          <p:cNvSpPr>
            <a:spLocks noGrp="1"/>
          </p:cNvSpPr>
          <p:nvPr/>
        </p:nvSpPr>
        <p:spPr>
          <a:xfrm>
            <a:off x="9353550" y="26984325"/>
            <a:ext cx="1735074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IDLE after M₂</a:t>
            </a:r>
          </a:p>
        </p:txBody>
      </p:sp>
      <p:sp>
        <p:nvSpPr>
          <p:cNvPr id="168" name="before-M3">
            <a:extLst>
              <a:ext uri="{FF2B5EF4-FFF2-40B4-BE49-F238E27FC236}">
                <a16:creationId xmlns:a16="http://schemas.microsoft.com/office/drawing/2014/main" id="{E51F5187-AD05-47FF-AC15-C667ADE173CB}"/>
              </a:ext>
            </a:extLst>
          </p:cNvPr>
          <p:cNvSpPr>
            <a:spLocks noGrp="1"/>
          </p:cNvSpPr>
          <p:nvPr/>
        </p:nvSpPr>
        <p:spPr>
          <a:xfrm>
            <a:off x="8039100" y="27155775"/>
            <a:ext cx="5257800" cy="171450"/>
          </a:xfrm>
          <a:prstGeom prst="rect">
            <a:avLst/>
          </a:prstGeom>
          <a:solidFill>
            <a:srgbClr val="74D7C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before-M3-label">
            <a:extLst>
              <a:ext uri="{FF2B5EF4-FFF2-40B4-BE49-F238E27FC236}">
                <a16:creationId xmlns:a16="http://schemas.microsoft.com/office/drawing/2014/main" id="{C7C0FBA9-40B9-46DA-8E98-54F724314D97}"/>
              </a:ext>
            </a:extLst>
          </p:cNvPr>
          <p:cNvSpPr>
            <a:spLocks noGrp="1"/>
          </p:cNvSpPr>
          <p:nvPr/>
        </p:nvSpPr>
        <p:spPr>
          <a:xfrm>
            <a:off x="8039100" y="27155775"/>
            <a:ext cx="525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M₃ / P₃</a:t>
            </a:r>
          </a:p>
        </p:txBody>
      </p:sp>
      <p:sp>
        <p:nvSpPr>
          <p:cNvPr id="170" name="before-M5">
            <a:extLst>
              <a:ext uri="{FF2B5EF4-FFF2-40B4-BE49-F238E27FC236}">
                <a16:creationId xmlns:a16="http://schemas.microsoft.com/office/drawing/2014/main" id="{BFEC5C8A-C65F-4B21-AC61-9707EE385E6A}"/>
              </a:ext>
            </a:extLst>
          </p:cNvPr>
          <p:cNvSpPr>
            <a:spLocks noGrp="1"/>
          </p:cNvSpPr>
          <p:nvPr/>
        </p:nvSpPr>
        <p:spPr>
          <a:xfrm>
            <a:off x="11088624" y="26641425"/>
            <a:ext cx="2208276" cy="342900"/>
          </a:xfrm>
          <a:prstGeom prst="rect">
            <a:avLst/>
          </a:prstGeom>
          <a:solidFill>
            <a:srgbClr val="B7D2E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before-M5-label">
            <a:extLst>
              <a:ext uri="{FF2B5EF4-FFF2-40B4-BE49-F238E27FC236}">
                <a16:creationId xmlns:a16="http://schemas.microsoft.com/office/drawing/2014/main" id="{DB7E508F-8703-4931-AA26-8C64ACFD8E59}"/>
              </a:ext>
            </a:extLst>
          </p:cNvPr>
          <p:cNvSpPr>
            <a:spLocks noGrp="1"/>
          </p:cNvSpPr>
          <p:nvPr/>
        </p:nvSpPr>
        <p:spPr>
          <a:xfrm>
            <a:off x="11088624" y="26717625"/>
            <a:ext cx="2208276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M₅ / P₅</a:t>
            </a:r>
          </a:p>
        </p:txBody>
      </p:sp>
      <p:sp>
        <p:nvSpPr>
          <p:cNvPr id="172" name="before-M4">
            <a:extLst>
              <a:ext uri="{FF2B5EF4-FFF2-40B4-BE49-F238E27FC236}">
                <a16:creationId xmlns:a16="http://schemas.microsoft.com/office/drawing/2014/main" id="{8A4DBAEC-9F78-42DE-85C5-8DDA2B6D887D}"/>
              </a:ext>
            </a:extLst>
          </p:cNvPr>
          <p:cNvSpPr>
            <a:spLocks noGrp="1"/>
          </p:cNvSpPr>
          <p:nvPr/>
        </p:nvSpPr>
        <p:spPr>
          <a:xfrm>
            <a:off x="11088624" y="26984325"/>
            <a:ext cx="2208276" cy="171450"/>
          </a:xfrm>
          <a:prstGeom prst="rect">
            <a:avLst/>
          </a:prstGeom>
          <a:solidFill>
            <a:srgbClr val="F7B2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before-M4-label">
            <a:extLst>
              <a:ext uri="{FF2B5EF4-FFF2-40B4-BE49-F238E27FC236}">
                <a16:creationId xmlns:a16="http://schemas.microsoft.com/office/drawing/2014/main" id="{5869E304-04EE-4049-86A3-C588C48462C2}"/>
              </a:ext>
            </a:extLst>
          </p:cNvPr>
          <p:cNvSpPr>
            <a:spLocks noGrp="1"/>
          </p:cNvSpPr>
          <p:nvPr/>
        </p:nvSpPr>
        <p:spPr>
          <a:xfrm>
            <a:off x="11088624" y="26984325"/>
            <a:ext cx="2208276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M₄ / P₄  (waiting in S₁)</a:t>
            </a:r>
          </a:p>
        </p:txBody>
      </p:sp>
      <p:sp>
        <p:nvSpPr>
          <p:cNvPr id="174" name="after-M1">
            <a:extLst>
              <a:ext uri="{FF2B5EF4-FFF2-40B4-BE49-F238E27FC236}">
                <a16:creationId xmlns:a16="http://schemas.microsoft.com/office/drawing/2014/main" id="{AD95BA31-3F43-4DD0-967E-8F1B012E272D}"/>
              </a:ext>
            </a:extLst>
          </p:cNvPr>
          <p:cNvSpPr>
            <a:spLocks noGrp="1"/>
          </p:cNvSpPr>
          <p:nvPr/>
        </p:nvSpPr>
        <p:spPr>
          <a:xfrm>
            <a:off x="8039100" y="28003500"/>
            <a:ext cx="3049524" cy="342900"/>
          </a:xfrm>
          <a:prstGeom prst="rect">
            <a:avLst/>
          </a:prstGeom>
          <a:solidFill>
            <a:srgbClr val="9DC3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after-M1-label">
            <a:extLst>
              <a:ext uri="{FF2B5EF4-FFF2-40B4-BE49-F238E27FC236}">
                <a16:creationId xmlns:a16="http://schemas.microsoft.com/office/drawing/2014/main" id="{551AE561-8354-4EFE-B755-0E0018097EC4}"/>
              </a:ext>
            </a:extLst>
          </p:cNvPr>
          <p:cNvSpPr>
            <a:spLocks noGrp="1"/>
          </p:cNvSpPr>
          <p:nvPr/>
        </p:nvSpPr>
        <p:spPr>
          <a:xfrm>
            <a:off x="8039100" y="28079700"/>
            <a:ext cx="304952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M₁ / P₁</a:t>
            </a:r>
          </a:p>
        </p:txBody>
      </p:sp>
      <p:sp>
        <p:nvSpPr>
          <p:cNvPr id="176" name="after-M2">
            <a:extLst>
              <a:ext uri="{FF2B5EF4-FFF2-40B4-BE49-F238E27FC236}">
                <a16:creationId xmlns:a16="http://schemas.microsoft.com/office/drawing/2014/main" id="{D356E22F-D4EC-4060-A0D4-A04FEC89335B}"/>
              </a:ext>
            </a:extLst>
          </p:cNvPr>
          <p:cNvSpPr>
            <a:spLocks noGrp="1"/>
          </p:cNvSpPr>
          <p:nvPr/>
        </p:nvSpPr>
        <p:spPr>
          <a:xfrm>
            <a:off x="8039100" y="28346400"/>
            <a:ext cx="1314450" cy="171450"/>
          </a:xfrm>
          <a:prstGeom prst="rect">
            <a:avLst/>
          </a:prstGeom>
          <a:solidFill>
            <a:srgbClr val="FF7D7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after-M2-label">
            <a:extLst>
              <a:ext uri="{FF2B5EF4-FFF2-40B4-BE49-F238E27FC236}">
                <a16:creationId xmlns:a16="http://schemas.microsoft.com/office/drawing/2014/main" id="{1BA5AE91-F432-4FF2-91FE-B951B01FD620}"/>
              </a:ext>
            </a:extLst>
          </p:cNvPr>
          <p:cNvSpPr>
            <a:spLocks noGrp="1"/>
          </p:cNvSpPr>
          <p:nvPr/>
        </p:nvSpPr>
        <p:spPr>
          <a:xfrm>
            <a:off x="8039100" y="28346400"/>
            <a:ext cx="1314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M₂ / P₂</a:t>
            </a:r>
          </a:p>
        </p:txBody>
      </p:sp>
      <p:sp>
        <p:nvSpPr>
          <p:cNvPr id="178" name="after-M4-advance">
            <a:extLst>
              <a:ext uri="{FF2B5EF4-FFF2-40B4-BE49-F238E27FC236}">
                <a16:creationId xmlns:a16="http://schemas.microsoft.com/office/drawing/2014/main" id="{9C1AD12C-D144-4399-96B7-FD897A5B8EA4}"/>
              </a:ext>
            </a:extLst>
          </p:cNvPr>
          <p:cNvSpPr>
            <a:spLocks noGrp="1"/>
          </p:cNvSpPr>
          <p:nvPr/>
        </p:nvSpPr>
        <p:spPr>
          <a:xfrm>
            <a:off x="9353550" y="28346400"/>
            <a:ext cx="3943350" cy="171450"/>
          </a:xfrm>
          <a:prstGeom prst="rect">
            <a:avLst/>
          </a:prstGeom>
          <a:solidFill>
            <a:srgbClr val="F7B2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" name="after-M4-advance-label">
            <a:extLst>
              <a:ext uri="{FF2B5EF4-FFF2-40B4-BE49-F238E27FC236}">
                <a16:creationId xmlns:a16="http://schemas.microsoft.com/office/drawing/2014/main" id="{D7F2908D-EBC7-4F06-BFAF-DB14F779AF91}"/>
              </a:ext>
            </a:extLst>
          </p:cNvPr>
          <p:cNvSpPr>
            <a:spLocks noGrp="1"/>
          </p:cNvSpPr>
          <p:nvPr/>
        </p:nvSpPr>
        <p:spPr>
          <a:xfrm>
            <a:off x="9353550" y="28346400"/>
            <a:ext cx="394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M₄ / P₄  ← advanced from S₁</a:t>
            </a:r>
          </a:p>
        </p:txBody>
      </p:sp>
      <p:sp>
        <p:nvSpPr>
          <p:cNvPr id="180" name="after-M3">
            <a:extLst>
              <a:ext uri="{FF2B5EF4-FFF2-40B4-BE49-F238E27FC236}">
                <a16:creationId xmlns:a16="http://schemas.microsoft.com/office/drawing/2014/main" id="{57C75C77-3328-485D-9310-4E8044510AD1}"/>
              </a:ext>
            </a:extLst>
          </p:cNvPr>
          <p:cNvSpPr>
            <a:spLocks noGrp="1"/>
          </p:cNvSpPr>
          <p:nvPr/>
        </p:nvSpPr>
        <p:spPr>
          <a:xfrm>
            <a:off x="8039100" y="28517850"/>
            <a:ext cx="5257800" cy="171450"/>
          </a:xfrm>
          <a:prstGeom prst="rect">
            <a:avLst/>
          </a:prstGeom>
          <a:solidFill>
            <a:srgbClr val="74D7C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" name="after-M3-label">
            <a:extLst>
              <a:ext uri="{FF2B5EF4-FFF2-40B4-BE49-F238E27FC236}">
                <a16:creationId xmlns:a16="http://schemas.microsoft.com/office/drawing/2014/main" id="{950C6714-83F5-48E0-B076-FA0B647468AC}"/>
              </a:ext>
            </a:extLst>
          </p:cNvPr>
          <p:cNvSpPr>
            <a:spLocks noGrp="1"/>
          </p:cNvSpPr>
          <p:nvPr/>
        </p:nvSpPr>
        <p:spPr>
          <a:xfrm>
            <a:off x="8039100" y="28517850"/>
            <a:ext cx="525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M₃ / P₃</a:t>
            </a:r>
          </a:p>
        </p:txBody>
      </p:sp>
      <p:sp>
        <p:nvSpPr>
          <p:cNvPr id="182" name="after-M5">
            <a:extLst>
              <a:ext uri="{FF2B5EF4-FFF2-40B4-BE49-F238E27FC236}">
                <a16:creationId xmlns:a16="http://schemas.microsoft.com/office/drawing/2014/main" id="{9A0C9673-2BE1-4418-8C0F-EC7549DAF887}"/>
              </a:ext>
            </a:extLst>
          </p:cNvPr>
          <p:cNvSpPr>
            <a:spLocks noGrp="1"/>
          </p:cNvSpPr>
          <p:nvPr/>
        </p:nvSpPr>
        <p:spPr>
          <a:xfrm>
            <a:off x="11088624" y="28003500"/>
            <a:ext cx="2208276" cy="342900"/>
          </a:xfrm>
          <a:prstGeom prst="rect">
            <a:avLst/>
          </a:prstGeom>
          <a:solidFill>
            <a:srgbClr val="B7D2E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" name="after-M5-label">
            <a:extLst>
              <a:ext uri="{FF2B5EF4-FFF2-40B4-BE49-F238E27FC236}">
                <a16:creationId xmlns:a16="http://schemas.microsoft.com/office/drawing/2014/main" id="{FB30097C-DDB8-407E-B6EC-311CDC2855E5}"/>
              </a:ext>
            </a:extLst>
          </p:cNvPr>
          <p:cNvSpPr>
            <a:spLocks noGrp="1"/>
          </p:cNvSpPr>
          <p:nvPr/>
        </p:nvSpPr>
        <p:spPr>
          <a:xfrm>
            <a:off x="11088624" y="28079700"/>
            <a:ext cx="2208276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M₅ / P₅</a:t>
            </a:r>
          </a:p>
        </p:txBody>
      </p:sp>
      <p:sp>
        <p:nvSpPr>
          <p:cNvPr id="184" name="before-tau">
            <a:extLst>
              <a:ext uri="{FF2B5EF4-FFF2-40B4-BE49-F238E27FC236}">
                <a16:creationId xmlns:a16="http://schemas.microsoft.com/office/drawing/2014/main" id="{D29C347A-B413-41BA-9EF3-D5EF355C815A}"/>
              </a:ext>
            </a:extLst>
          </p:cNvPr>
          <p:cNvSpPr>
            <a:spLocks noGrp="1"/>
          </p:cNvSpPr>
          <p:nvPr/>
        </p:nvSpPr>
        <p:spPr>
          <a:xfrm>
            <a:off x="9353550" y="26612850"/>
            <a:ext cx="28575" cy="781050"/>
          </a:xfrm>
          <a:prstGeom prst="rect">
            <a:avLst/>
          </a:prstGeom>
          <a:solidFill>
            <a:srgbClr val="D354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" name="after-tau">
            <a:extLst>
              <a:ext uri="{FF2B5EF4-FFF2-40B4-BE49-F238E27FC236}">
                <a16:creationId xmlns:a16="http://schemas.microsoft.com/office/drawing/2014/main" id="{B997B990-5FD2-4109-9B18-0DDF4A556F8E}"/>
              </a:ext>
            </a:extLst>
          </p:cNvPr>
          <p:cNvSpPr>
            <a:spLocks noGrp="1"/>
          </p:cNvSpPr>
          <p:nvPr/>
        </p:nvSpPr>
        <p:spPr>
          <a:xfrm>
            <a:off x="9353550" y="27974925"/>
            <a:ext cx="28575" cy="781050"/>
          </a:xfrm>
          <a:prstGeom prst="rect">
            <a:avLst/>
          </a:prstGeom>
          <a:solidFill>
            <a:srgbClr val="D354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" name="before-boundary">
            <a:extLst>
              <a:ext uri="{FF2B5EF4-FFF2-40B4-BE49-F238E27FC236}">
                <a16:creationId xmlns:a16="http://schemas.microsoft.com/office/drawing/2014/main" id="{FD437390-BB50-461F-931A-DF638FB72758}"/>
              </a:ext>
            </a:extLst>
          </p:cNvPr>
          <p:cNvSpPr>
            <a:spLocks noGrp="1"/>
          </p:cNvSpPr>
          <p:nvPr/>
        </p:nvSpPr>
        <p:spPr>
          <a:xfrm>
            <a:off x="11088624" y="26612850"/>
            <a:ext cx="28575" cy="7810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" name="after-boundary">
            <a:extLst>
              <a:ext uri="{FF2B5EF4-FFF2-40B4-BE49-F238E27FC236}">
                <a16:creationId xmlns:a16="http://schemas.microsoft.com/office/drawing/2014/main" id="{34F02C28-ADAB-43E2-AF1B-FA4C83F2B627}"/>
              </a:ext>
            </a:extLst>
          </p:cNvPr>
          <p:cNvSpPr>
            <a:spLocks noGrp="1"/>
          </p:cNvSpPr>
          <p:nvPr/>
        </p:nvSpPr>
        <p:spPr>
          <a:xfrm>
            <a:off x="11088624" y="27974925"/>
            <a:ext cx="28575" cy="7810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tau-label">
            <a:extLst>
              <a:ext uri="{FF2B5EF4-FFF2-40B4-BE49-F238E27FC236}">
                <a16:creationId xmlns:a16="http://schemas.microsoft.com/office/drawing/2014/main" id="{2A37317E-EC68-4272-BF14-4BE02F662661}"/>
              </a:ext>
            </a:extLst>
          </p:cNvPr>
          <p:cNvSpPr>
            <a:spLocks noGrp="1"/>
          </p:cNvSpPr>
          <p:nvPr/>
        </p:nvSpPr>
        <p:spPr>
          <a:xfrm>
            <a:off x="8039100" y="27365325"/>
            <a:ext cx="3049524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D3545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35454"/>
                </a:solidFill>
                <a:latin typeface="Arial"/>
                <a:ea typeface="Arial"/>
                <a:cs typeface="Arial"/>
              </a:rPr>
              <a:t>τ: M₂ finishes early</a:t>
            </a:r>
          </a:p>
        </p:txBody>
      </p:sp>
      <p:sp>
        <p:nvSpPr>
          <p:cNvPr id="189" name="metric-panel">
            <a:extLst>
              <a:ext uri="{FF2B5EF4-FFF2-40B4-BE49-F238E27FC236}">
                <a16:creationId xmlns:a16="http://schemas.microsoft.com/office/drawing/2014/main" id="{199F4F1C-21E0-439E-AB4A-98321B6EC858}"/>
              </a:ext>
            </a:extLst>
          </p:cNvPr>
          <p:cNvSpPr>
            <a:spLocks noGrp="1"/>
          </p:cNvSpPr>
          <p:nvPr/>
        </p:nvSpPr>
        <p:spPr>
          <a:xfrm>
            <a:off x="13906500" y="6667500"/>
            <a:ext cx="6867900" cy="1952625"/>
          </a:xfrm>
          <a:prstGeom prst="roundRect">
            <a:avLst>
              <a:gd name="adj" fmla="val 3902"/>
            </a:avLst>
          </a:prstGeom>
          <a:solidFill>
            <a:srgbClr val="FFF3DF"/>
          </a:solidFill>
          <a:ln w="14288">
            <a:solidFill>
              <a:srgbClr val="F2C7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0" name="metric-3-4">
            <a:extLst>
              <a:ext uri="{FF2B5EF4-FFF2-40B4-BE49-F238E27FC236}">
                <a16:creationId xmlns:a16="http://schemas.microsoft.com/office/drawing/2014/main" id="{8219DCE6-E082-49F5-970F-3F3386E2EAC0}"/>
              </a:ext>
            </a:extLst>
          </p:cNvPr>
          <p:cNvSpPr>
            <a:spLocks noGrp="1"/>
          </p:cNvSpPr>
          <p:nvPr/>
        </p:nvSpPr>
        <p:spPr>
          <a:xfrm>
            <a:off x="14135100" y="6819900"/>
            <a:ext cx="22383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900" b="1" i="0">
                <a:solidFill>
                  <a:srgbClr val="F29F3D"/>
                </a:solidFill>
                <a:latin typeface="Arial"/>
                <a:ea typeface="Arial"/>
                <a:cs typeface="Arial"/>
              </a:defRPr>
            </a:pPr>
            <a:r>
              <a:rPr sz="6900" b="1" i="0">
                <a:solidFill>
                  <a:srgbClr val="F29F3D"/>
                </a:solidFill>
                <a:latin typeface="Arial"/>
                <a:ea typeface="Arial"/>
                <a:cs typeface="Arial"/>
              </a:rPr>
              <a:t>3.4×</a:t>
            </a:r>
          </a:p>
        </p:txBody>
      </p:sp>
      <p:sp>
        <p:nvSpPr>
          <p:cNvPr id="191" name="metric-main-label">
            <a:extLst>
              <a:ext uri="{FF2B5EF4-FFF2-40B4-BE49-F238E27FC236}">
                <a16:creationId xmlns:a16="http://schemas.microsoft.com/office/drawing/2014/main" id="{F5948021-CFAD-4A7D-98C1-C0B6DBCD6F03}"/>
              </a:ext>
            </a:extLst>
          </p:cNvPr>
          <p:cNvSpPr>
            <a:spLocks noGrp="1"/>
          </p:cNvSpPr>
          <p:nvPr/>
        </p:nvSpPr>
        <p:spPr>
          <a:xfrm>
            <a:off x="16287750" y="7000875"/>
            <a:ext cx="42485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/>
          </a:bodyPr>
          <a:lstStyle/>
          <a:p>
            <a:pPr algn="l">
              <a:defRPr sz="23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lang="en-US" sz="2325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maximum</a:t>
            </a:r>
            <a:r>
              <a:rPr sz="2325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end-to-end speedup</a:t>
            </a:r>
          </a:p>
        </p:txBody>
      </p:sp>
      <p:sp>
        <p:nvSpPr>
          <p:cNvPr id="192" name="metric-secondary">
            <a:extLst>
              <a:ext uri="{FF2B5EF4-FFF2-40B4-BE49-F238E27FC236}">
                <a16:creationId xmlns:a16="http://schemas.microsoft.com/office/drawing/2014/main" id="{60DD3269-BEB5-44AD-BAAC-8735B14C015B}"/>
              </a:ext>
            </a:extLst>
          </p:cNvPr>
          <p:cNvSpPr>
            <a:spLocks noGrp="1"/>
          </p:cNvSpPr>
          <p:nvPr/>
        </p:nvSpPr>
        <p:spPr>
          <a:xfrm>
            <a:off x="16287750" y="7562850"/>
            <a:ext cx="42485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Up to 4.0× in the scalability test</a:t>
            </a:r>
          </a:p>
        </p:txBody>
      </p:sp>
      <p:sp>
        <p:nvSpPr>
          <p:cNvPr id="193" name="metric-foot">
            <a:extLst>
              <a:ext uri="{FF2B5EF4-FFF2-40B4-BE49-F238E27FC236}">
                <a16:creationId xmlns:a16="http://schemas.microsoft.com/office/drawing/2014/main" id="{A1C4AFD5-A907-4305-815F-116C920FBE23}"/>
              </a:ext>
            </a:extLst>
          </p:cNvPr>
          <p:cNvSpPr>
            <a:spLocks noGrp="1"/>
          </p:cNvSpPr>
          <p:nvPr/>
        </p:nvSpPr>
        <p:spPr>
          <a:xfrm>
            <a:off x="14135100" y="8172450"/>
            <a:ext cx="641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 i="0">
                <a:solidFill>
                  <a:srgbClr val="0B5B8A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0B5B8A"/>
                </a:solidFill>
                <a:latin typeface="Arial"/>
                <a:ea typeface="Arial"/>
                <a:cs typeface="Arial"/>
              </a:rPr>
              <a:t>Metric: end-to-end time = schedule search</a:t>
            </a:r>
            <a:r>
              <a:rPr lang="en-US" sz="1575" b="1" i="0" dirty="0">
                <a:solidFill>
                  <a:srgbClr val="0B5B8A"/>
                </a:solidFill>
                <a:latin typeface="Arial"/>
                <a:ea typeface="Arial"/>
                <a:cs typeface="Arial"/>
              </a:rPr>
              <a:t> (extra time)</a:t>
            </a:r>
            <a:r>
              <a:rPr sz="1575" b="1" i="0" dirty="0">
                <a:solidFill>
                  <a:srgbClr val="0B5B8A"/>
                </a:solidFill>
                <a:latin typeface="Arial"/>
                <a:ea typeface="Arial"/>
                <a:cs typeface="Arial"/>
              </a:rPr>
              <a:t> + inference</a:t>
            </a:r>
          </a:p>
        </p:txBody>
      </p:sp>
      <p:sp>
        <p:nvSpPr>
          <p:cNvPr id="194" name="evaluation-scope">
            <a:extLst>
              <a:ext uri="{FF2B5EF4-FFF2-40B4-BE49-F238E27FC236}">
                <a16:creationId xmlns:a16="http://schemas.microsoft.com/office/drawing/2014/main" id="{5DED32BD-C596-4C74-B02D-EC5A54EC8AEE}"/>
              </a:ext>
            </a:extLst>
          </p:cNvPr>
          <p:cNvSpPr>
            <a:spLocks noGrp="1"/>
          </p:cNvSpPr>
          <p:nvPr/>
        </p:nvSpPr>
        <p:spPr>
          <a:xfrm>
            <a:off x="13906500" y="8858250"/>
            <a:ext cx="6867900" cy="2571750"/>
          </a:xfrm>
          <a:prstGeom prst="roundRect">
            <a:avLst>
              <a:gd name="adj" fmla="val 2963"/>
            </a:avLst>
          </a:prstGeom>
          <a:solidFill>
            <a:srgbClr val="EAF6FD"/>
          </a:solidFill>
          <a:ln w="14288">
            <a:solidFill>
              <a:srgbClr val="B9DD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" name="eval-setup">
            <a:extLst>
              <a:ext uri="{FF2B5EF4-FFF2-40B4-BE49-F238E27FC236}">
                <a16:creationId xmlns:a16="http://schemas.microsoft.com/office/drawing/2014/main" id="{12C9F31B-74A2-4488-938A-2EBD9AE2B6AF}"/>
              </a:ext>
            </a:extLst>
          </p:cNvPr>
          <p:cNvSpPr>
            <a:spLocks noGrp="1"/>
          </p:cNvSpPr>
          <p:nvPr/>
        </p:nvSpPr>
        <p:spPr>
          <a:xfrm>
            <a:off x="14144625" y="9077325"/>
            <a:ext cx="6391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 i="0">
                <a:solidFill>
                  <a:srgbClr val="0B5B8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5B8A"/>
                </a:solidFill>
                <a:latin typeface="Arial"/>
                <a:ea typeface="Arial"/>
                <a:cs typeface="Arial"/>
              </a:rPr>
              <a:t>8× A100-80GB  ·  vLLM  ·  single node</a:t>
            </a:r>
          </a:p>
        </p:txBody>
      </p:sp>
      <p:sp>
        <p:nvSpPr>
          <p:cNvPr id="196" name="eval-apps">
            <a:extLst>
              <a:ext uri="{FF2B5EF4-FFF2-40B4-BE49-F238E27FC236}">
                <a16:creationId xmlns:a16="http://schemas.microsoft.com/office/drawing/2014/main" id="{FCAA4981-2D25-48B0-93CA-BD9975FE6794}"/>
              </a:ext>
            </a:extLst>
          </p:cNvPr>
          <p:cNvSpPr>
            <a:spLocks noGrp="1"/>
          </p:cNvSpPr>
          <p:nvPr/>
        </p:nvSpPr>
        <p:spPr>
          <a:xfrm>
            <a:off x="14144625" y="9601200"/>
            <a:ext cx="6391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197" name="eval-apps-list">
            <a:extLst>
              <a:ext uri="{FF2B5EF4-FFF2-40B4-BE49-F238E27FC236}">
                <a16:creationId xmlns:a16="http://schemas.microsoft.com/office/drawing/2014/main" id="{89D199B9-E5AB-4307-AEC9-12AA0F603482}"/>
              </a:ext>
            </a:extLst>
          </p:cNvPr>
          <p:cNvSpPr>
            <a:spLocks noGrp="1"/>
          </p:cNvSpPr>
          <p:nvPr/>
        </p:nvSpPr>
        <p:spPr>
          <a:xfrm>
            <a:off x="14144625" y="9877425"/>
            <a:ext cx="639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Ensembling · Routing · Chain summary · Mixed</a:t>
            </a:r>
          </a:p>
        </p:txBody>
      </p:sp>
      <p:sp>
        <p:nvSpPr>
          <p:cNvPr id="198" name="eval-baselines">
            <a:extLst>
              <a:ext uri="{FF2B5EF4-FFF2-40B4-BE49-F238E27FC236}">
                <a16:creationId xmlns:a16="http://schemas.microsoft.com/office/drawing/2014/main" id="{FE61362D-A31D-42B2-9136-E31B6FDA31A3}"/>
              </a:ext>
            </a:extLst>
          </p:cNvPr>
          <p:cNvSpPr>
            <a:spLocks noGrp="1"/>
          </p:cNvSpPr>
          <p:nvPr/>
        </p:nvSpPr>
        <p:spPr>
          <a:xfrm>
            <a:off x="14144625" y="10210800"/>
            <a:ext cx="6391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l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8 baselines in three categories</a:t>
            </a:r>
          </a:p>
        </p:txBody>
      </p:sp>
      <p:sp>
        <p:nvSpPr>
          <p:cNvPr id="199" name="eval-baselines-list">
            <a:extLst>
              <a:ext uri="{FF2B5EF4-FFF2-40B4-BE49-F238E27FC236}">
                <a16:creationId xmlns:a16="http://schemas.microsoft.com/office/drawing/2014/main" id="{66F4C913-83D0-49B8-B48F-49B2E123E429}"/>
              </a:ext>
            </a:extLst>
          </p:cNvPr>
          <p:cNvSpPr>
            <a:spLocks noGrp="1"/>
          </p:cNvSpPr>
          <p:nvPr/>
        </p:nvSpPr>
        <p:spPr>
          <a:xfrm>
            <a:off x="14144624" y="10477500"/>
            <a:ext cx="65055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Heuristics</a:t>
            </a:r>
            <a:r>
              <a:rPr lang="en-US" sz="1275" b="1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:</a:t>
            </a:r>
            <a:r>
              <a:rPr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 MAX · MIN</a:t>
            </a:r>
            <a:r>
              <a:rPr lang="en-US"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/</a:t>
            </a:r>
            <a:r>
              <a:rPr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MIN-R · </a:t>
            </a:r>
            <a:r>
              <a:rPr sz="1275" b="0" i="0" dirty="0" err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LightRule</a:t>
            </a:r>
            <a:r>
              <a:rPr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75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/</a:t>
            </a:r>
            <a:r>
              <a:rPr sz="1275" b="0" i="0" dirty="0" err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LightRule</a:t>
            </a:r>
            <a:r>
              <a:rPr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*</a:t>
            </a:r>
            <a:r>
              <a:rPr lang="en-US"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(list </a:t>
            </a:r>
            <a:r>
              <a:rPr lang="en-US" sz="1275" b="0" i="0" dirty="0" err="1">
                <a:solidFill>
                  <a:srgbClr val="52606D"/>
                </a:solidFill>
                <a:latin typeface="Arial"/>
                <a:ea typeface="Arial"/>
                <a:cs typeface="Arial"/>
              </a:rPr>
              <a:t>scheduling+greedy</a:t>
            </a:r>
            <a:r>
              <a:rPr lang="en-US"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allocation)</a:t>
            </a:r>
            <a:endParaRPr sz="1275" b="0" i="0" dirty="0">
              <a:solidFill>
                <a:srgbClr val="52606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MILP</a:t>
            </a:r>
            <a:r>
              <a:rPr lang="en-US" sz="1275" b="1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:</a:t>
            </a:r>
            <a:r>
              <a:rPr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 Saturn*</a:t>
            </a:r>
          </a:p>
          <a:p>
            <a:pPr algn="l"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Enumeration</a:t>
            </a:r>
            <a:r>
              <a:rPr lang="en-US" sz="1275" b="1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:</a:t>
            </a:r>
            <a:r>
              <a:rPr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 </a:t>
            </a:r>
            <a:r>
              <a:rPr sz="1275" b="0" i="0" dirty="0" err="1">
                <a:solidFill>
                  <a:srgbClr val="52606D"/>
                </a:solidFill>
                <a:latin typeface="Arial"/>
                <a:ea typeface="Arial"/>
                <a:cs typeface="Arial"/>
              </a:rPr>
              <a:t>HybridFlow</a:t>
            </a:r>
            <a:r>
              <a:rPr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· </a:t>
            </a:r>
            <a:r>
              <a:rPr sz="1275" b="0" i="0" dirty="0" err="1">
                <a:solidFill>
                  <a:srgbClr val="52606D"/>
                </a:solidFill>
                <a:latin typeface="Arial"/>
                <a:ea typeface="Arial"/>
                <a:cs typeface="Arial"/>
              </a:rPr>
              <a:t>HybridFlow</a:t>
            </a:r>
            <a:r>
              <a:rPr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200" name="eval-legend">
            <a:extLst>
              <a:ext uri="{FF2B5EF4-FFF2-40B4-BE49-F238E27FC236}">
                <a16:creationId xmlns:a16="http://schemas.microsoft.com/office/drawing/2014/main" id="{D6774502-0517-47CE-A18D-E796EF41F0F4}"/>
              </a:ext>
            </a:extLst>
          </p:cNvPr>
          <p:cNvSpPr>
            <a:spLocks noGrp="1"/>
          </p:cNvSpPr>
          <p:nvPr/>
        </p:nvSpPr>
        <p:spPr>
          <a:xfrm>
            <a:off x="14144625" y="11144250"/>
            <a:ext cx="63916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0B5B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5B8A"/>
                </a:solidFill>
                <a:latin typeface="Arial"/>
                <a:ea typeface="Arial"/>
                <a:cs typeface="Arial"/>
              </a:rPr>
              <a:t>* adapted/variant implementation  ·  lower end-to-end time is better</a:t>
            </a:r>
          </a:p>
        </p:txBody>
      </p:sp>
      <p:sp>
        <p:nvSpPr>
          <p:cNvPr id="201" name="chart-1-title">
            <a:extLst>
              <a:ext uri="{FF2B5EF4-FFF2-40B4-BE49-F238E27FC236}">
                <a16:creationId xmlns:a16="http://schemas.microsoft.com/office/drawing/2014/main" id="{0A28EAA9-1956-4A25-B724-14867258DF41}"/>
              </a:ext>
            </a:extLst>
          </p:cNvPr>
          <p:cNvSpPr>
            <a:spLocks noGrp="1"/>
          </p:cNvSpPr>
          <p:nvPr/>
        </p:nvSpPr>
        <p:spPr>
          <a:xfrm>
            <a:off x="13906500" y="11687175"/>
            <a:ext cx="686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 application · LLM ensembling</a:t>
            </a:r>
          </a:p>
        </p:txBody>
      </p:sp>
      <p:pic>
        <p:nvPicPr>
          <p:cNvPr id="423" name="图片 422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4033914" y="12096750"/>
            <a:ext cx="6613071" cy="2571750"/>
          </a:xfrm>
          <a:prstGeom prst="rect">
            <a:avLst/>
          </a:prstGeom>
        </p:spPr>
      </p:pic>
      <p:sp>
        <p:nvSpPr>
          <p:cNvPr id="203" name="chart-1-caption">
            <a:extLst>
              <a:ext uri="{FF2B5EF4-FFF2-40B4-BE49-F238E27FC236}">
                <a16:creationId xmlns:a16="http://schemas.microsoft.com/office/drawing/2014/main" id="{CB28AFEA-A84E-462B-BE95-323C3139A2DE}"/>
              </a:ext>
            </a:extLst>
          </p:cNvPr>
          <p:cNvSpPr>
            <a:spLocks noGrp="1"/>
          </p:cNvSpPr>
          <p:nvPr/>
        </p:nvSpPr>
        <p:spPr>
          <a:xfrm>
            <a:off x="14049375" y="14649450"/>
            <a:ext cx="658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Request-set size varies from 1,000 to 10,000.</a:t>
            </a:r>
          </a:p>
        </p:txBody>
      </p:sp>
      <p:sp>
        <p:nvSpPr>
          <p:cNvPr id="204" name="chart-2-title">
            <a:extLst>
              <a:ext uri="{FF2B5EF4-FFF2-40B4-BE49-F238E27FC236}">
                <a16:creationId xmlns:a16="http://schemas.microsoft.com/office/drawing/2014/main" id="{EBDDEB41-B8CA-4F6C-9593-878DE49406F8}"/>
              </a:ext>
            </a:extLst>
          </p:cNvPr>
          <p:cNvSpPr>
            <a:spLocks noGrp="1"/>
          </p:cNvSpPr>
          <p:nvPr/>
        </p:nvSpPr>
        <p:spPr>
          <a:xfrm>
            <a:off x="13906500" y="15125700"/>
            <a:ext cx="686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Mixed applications · chain summary + ensembling</a:t>
            </a:r>
          </a:p>
        </p:txBody>
      </p:sp>
      <p:pic>
        <p:nvPicPr>
          <p:cNvPr id="426" name="图片 425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4033914" y="15525750"/>
            <a:ext cx="6613071" cy="2571750"/>
          </a:xfrm>
          <a:prstGeom prst="rect">
            <a:avLst/>
          </a:prstGeom>
        </p:spPr>
      </p:pic>
      <p:sp>
        <p:nvSpPr>
          <p:cNvPr id="206" name="chart-2-caption">
            <a:extLst>
              <a:ext uri="{FF2B5EF4-FFF2-40B4-BE49-F238E27FC236}">
                <a16:creationId xmlns:a16="http://schemas.microsoft.com/office/drawing/2014/main" id="{EDE5894E-74E5-415C-B62C-EAD754EBC68F}"/>
              </a:ext>
            </a:extLst>
          </p:cNvPr>
          <p:cNvSpPr>
            <a:spLocks noGrp="1"/>
          </p:cNvSpPr>
          <p:nvPr/>
        </p:nvSpPr>
        <p:spPr>
          <a:xfrm>
            <a:off x="14049375" y="18078450"/>
            <a:ext cx="658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Tuples denote (chain-summary requests, ensembling requests).</a:t>
            </a:r>
          </a:p>
        </p:txBody>
      </p:sp>
      <p:sp>
        <p:nvSpPr>
          <p:cNvPr id="207" name="chart-3-title">
            <a:extLst>
              <a:ext uri="{FF2B5EF4-FFF2-40B4-BE49-F238E27FC236}">
                <a16:creationId xmlns:a16="http://schemas.microsoft.com/office/drawing/2014/main" id="{FE8509DF-4C1F-4CD2-A0EC-82EDCDF64FDE}"/>
              </a:ext>
            </a:extLst>
          </p:cNvPr>
          <p:cNvSpPr>
            <a:spLocks noGrp="1"/>
          </p:cNvSpPr>
          <p:nvPr/>
        </p:nvSpPr>
        <p:spPr>
          <a:xfrm>
            <a:off x="13906500" y="18554700"/>
            <a:ext cx="686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Scalability · 2, 4, and 8 applications</a:t>
            </a:r>
          </a:p>
        </p:txBody>
      </p:sp>
      <p:pic>
        <p:nvPicPr>
          <p:cNvPr id="429" name="图片 428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4206725" y="18954750"/>
            <a:ext cx="6267450" cy="2686050"/>
          </a:xfrm>
          <a:prstGeom prst="rect">
            <a:avLst/>
          </a:prstGeom>
        </p:spPr>
      </p:pic>
      <p:sp>
        <p:nvSpPr>
          <p:cNvPr id="209" name="chart-3-caption">
            <a:extLst>
              <a:ext uri="{FF2B5EF4-FFF2-40B4-BE49-F238E27FC236}">
                <a16:creationId xmlns:a16="http://schemas.microsoft.com/office/drawing/2014/main" id="{FDAA8A97-54D5-44BD-A4EE-8FA051FC9A4B}"/>
              </a:ext>
            </a:extLst>
          </p:cNvPr>
          <p:cNvSpPr>
            <a:spLocks noGrp="1"/>
          </p:cNvSpPr>
          <p:nvPr/>
        </p:nvSpPr>
        <p:spPr>
          <a:xfrm>
            <a:off x="14049375" y="21621750"/>
            <a:ext cx="658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lang="en-US" sz="1425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J</a:t>
            </a:r>
            <a:r>
              <a:rPr sz="142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ointly </a:t>
            </a:r>
            <a:r>
              <a:rPr lang="en-US" sz="1425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</a:t>
            </a:r>
            <a:r>
              <a:rPr sz="142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chedul</a:t>
            </a:r>
            <a:r>
              <a:rPr lang="en-US" sz="142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ing</a:t>
            </a:r>
            <a:r>
              <a:rPr sz="142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 all applications rather than running each application independently.</a:t>
            </a:r>
          </a:p>
        </p:txBody>
      </p:sp>
      <p:sp>
        <p:nvSpPr>
          <p:cNvPr id="210" name="why-gains-panel">
            <a:extLst>
              <a:ext uri="{FF2B5EF4-FFF2-40B4-BE49-F238E27FC236}">
                <a16:creationId xmlns:a16="http://schemas.microsoft.com/office/drawing/2014/main" id="{AEE3C117-6548-4472-B4A3-FE795878FD1B}"/>
              </a:ext>
            </a:extLst>
          </p:cNvPr>
          <p:cNvSpPr>
            <a:spLocks noGrp="1"/>
          </p:cNvSpPr>
          <p:nvPr/>
        </p:nvSpPr>
        <p:spPr>
          <a:xfrm>
            <a:off x="13906500" y="22336125"/>
            <a:ext cx="6867900" cy="3162300"/>
          </a:xfrm>
          <a:prstGeom prst="roundRect">
            <a:avLst>
              <a:gd name="adj" fmla="val 2410"/>
            </a:avLst>
          </a:prstGeom>
          <a:solidFill>
            <a:srgbClr val="DDF3EC"/>
          </a:solidFill>
          <a:ln w="14288">
            <a:solidFill>
              <a:srgbClr val="AFDC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" name="why-gains-title">
            <a:extLst>
              <a:ext uri="{FF2B5EF4-FFF2-40B4-BE49-F238E27FC236}">
                <a16:creationId xmlns:a16="http://schemas.microsoft.com/office/drawing/2014/main" id="{F65AB1E2-F328-476C-B4A1-1FD905A3DE70}"/>
              </a:ext>
            </a:extLst>
          </p:cNvPr>
          <p:cNvSpPr>
            <a:spLocks noGrp="1"/>
          </p:cNvSpPr>
          <p:nvPr/>
        </p:nvSpPr>
        <p:spPr>
          <a:xfrm>
            <a:off x="14154150" y="22574250"/>
            <a:ext cx="637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11836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836B"/>
                </a:solidFill>
                <a:latin typeface="Arial"/>
                <a:ea typeface="Arial"/>
                <a:cs typeface="Arial"/>
              </a:rPr>
              <a:t>Where the gains come from</a:t>
            </a:r>
          </a:p>
        </p:txBody>
      </p:sp>
      <p:sp>
        <p:nvSpPr>
          <p:cNvPr id="212" name="why-gains-body">
            <a:extLst>
              <a:ext uri="{FF2B5EF4-FFF2-40B4-BE49-F238E27FC236}">
                <a16:creationId xmlns:a16="http://schemas.microsoft.com/office/drawing/2014/main" id="{D1D8A83C-1FA5-4336-BEC0-6D399A1531FC}"/>
              </a:ext>
            </a:extLst>
          </p:cNvPr>
          <p:cNvSpPr>
            <a:spLocks noGrp="1"/>
          </p:cNvSpPr>
          <p:nvPr/>
        </p:nvSpPr>
        <p:spPr>
          <a:xfrm>
            <a:off x="14173200" y="23098125"/>
            <a:ext cx="6334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Processing functions capture how rate changes with the evolving remaining request set and execution plan.</a:t>
            </a:r>
          </a:p>
          <a:p>
            <a:pPr algn="l">
              <a:defRPr sz="18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</a:t>
            </a:r>
            <a:r>
              <a:rPr lang="en-US" sz="1875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Cost-guided g</a:t>
            </a:r>
            <a:r>
              <a:rPr sz="1875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reedy search jointly chooses GPU allocation, parallel plans, and timing.</a:t>
            </a:r>
          </a:p>
          <a:p>
            <a:pPr algn="l">
              <a:defRPr sz="18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0" i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Runtime adjustment fills released GPUs when actual completion order differs.</a:t>
            </a:r>
          </a:p>
        </p:txBody>
      </p:sp>
      <p:sp>
        <p:nvSpPr>
          <p:cNvPr id="213" name="takeaway-panel">
            <a:extLst>
              <a:ext uri="{FF2B5EF4-FFF2-40B4-BE49-F238E27FC236}">
                <a16:creationId xmlns:a16="http://schemas.microsoft.com/office/drawing/2014/main" id="{0F4EC2DF-B40F-41C4-B9C0-F97AE21CE6B6}"/>
              </a:ext>
            </a:extLst>
          </p:cNvPr>
          <p:cNvSpPr>
            <a:spLocks noGrp="1"/>
          </p:cNvSpPr>
          <p:nvPr/>
        </p:nvSpPr>
        <p:spPr>
          <a:xfrm>
            <a:off x="13906500" y="25765125"/>
            <a:ext cx="6867900" cy="2647950"/>
          </a:xfrm>
          <a:prstGeom prst="roundRect">
            <a:avLst>
              <a:gd name="adj" fmla="val 2878"/>
            </a:avLst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4" name="takeaway-title">
            <a:extLst>
              <a:ext uri="{FF2B5EF4-FFF2-40B4-BE49-F238E27FC236}">
                <a16:creationId xmlns:a16="http://schemas.microsoft.com/office/drawing/2014/main" id="{350F8708-D294-4F3B-ACB2-FB93AC6725F7}"/>
              </a:ext>
            </a:extLst>
          </p:cNvPr>
          <p:cNvSpPr>
            <a:spLocks noGrp="1"/>
          </p:cNvSpPr>
          <p:nvPr/>
        </p:nvSpPr>
        <p:spPr>
          <a:xfrm>
            <a:off x="14173200" y="260032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215" name="takeaway-text">
            <a:extLst>
              <a:ext uri="{FF2B5EF4-FFF2-40B4-BE49-F238E27FC236}">
                <a16:creationId xmlns:a16="http://schemas.microsoft.com/office/drawing/2014/main" id="{642FC9DA-CD39-4C61-A899-C8EA9AECEDB8}"/>
              </a:ext>
            </a:extLst>
          </p:cNvPr>
          <p:cNvSpPr>
            <a:spLocks noGrp="1"/>
          </p:cNvSpPr>
          <p:nvPr/>
        </p:nvSpPr>
        <p:spPr>
          <a:xfrm>
            <a:off x="14173200" y="26479500"/>
            <a:ext cx="3714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20" lnSpcReduction="10000"/>
          </a:bodyPr>
          <a:lstStyle/>
          <a:p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Mil makes offline multi-LLM inference workload-aware: estimate processing rates, plan a good schedule, then adapt it to real completions.</a:t>
            </a:r>
          </a:p>
        </p:txBody>
      </p:sp>
      <p:pic>
        <p:nvPicPr>
          <p:cNvPr id="437" name="图片 436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8440775" y="26022300"/>
            <a:ext cx="1952625" cy="1952625"/>
          </a:xfrm>
          <a:prstGeom prst="rect">
            <a:avLst/>
          </a:prstGeom>
        </p:spPr>
      </p:pic>
      <p:sp>
        <p:nvSpPr>
          <p:cNvPr id="217" name="artifact-url">
            <a:extLst>
              <a:ext uri="{FF2B5EF4-FFF2-40B4-BE49-F238E27FC236}">
                <a16:creationId xmlns:a16="http://schemas.microsoft.com/office/drawing/2014/main" id="{072A38FC-4C6B-413A-93B1-C6F0A2322767}"/>
              </a:ext>
            </a:extLst>
          </p:cNvPr>
          <p:cNvSpPr>
            <a:spLocks noGrp="1"/>
          </p:cNvSpPr>
          <p:nvPr/>
        </p:nvSpPr>
        <p:spPr>
          <a:xfrm>
            <a:off x="18059775" y="28022550"/>
            <a:ext cx="2714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github.com/puddingfjz/Mil</a:t>
            </a:r>
          </a:p>
        </p:txBody>
      </p:sp>
      <p:sp>
        <p:nvSpPr>
          <p:cNvPr id="218" name="footer">
            <a:extLst>
              <a:ext uri="{FF2B5EF4-FFF2-40B4-BE49-F238E27FC236}">
                <a16:creationId xmlns:a16="http://schemas.microsoft.com/office/drawing/2014/main" id="{391BE2A4-AF12-4632-A80D-655F0156A395}"/>
              </a:ext>
            </a:extLst>
          </p:cNvPr>
          <p:cNvSpPr>
            <a:spLocks noGrp="1"/>
          </p:cNvSpPr>
          <p:nvPr/>
        </p:nvSpPr>
        <p:spPr>
          <a:xfrm>
            <a:off x="0" y="28956000"/>
            <a:ext cx="21384000" cy="132000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9" name="footer-left">
            <a:extLst>
              <a:ext uri="{FF2B5EF4-FFF2-40B4-BE49-F238E27FC236}">
                <a16:creationId xmlns:a16="http://schemas.microsoft.com/office/drawing/2014/main" id="{72D38737-D7B4-4155-BA0E-2146371FDD05}"/>
              </a:ext>
            </a:extLst>
          </p:cNvPr>
          <p:cNvSpPr>
            <a:spLocks noGrp="1"/>
          </p:cNvSpPr>
          <p:nvPr/>
        </p:nvSpPr>
        <p:spPr>
          <a:xfrm>
            <a:off x="609600" y="29241750"/>
            <a:ext cx="1238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PVLDB 19(9): 1893–1906, 2026  ·  DOI: 10.14778/3819518.3819522</a:t>
            </a:r>
          </a:p>
        </p:txBody>
      </p:sp>
      <p:sp>
        <p:nvSpPr>
          <p:cNvPr id="220" name="footer-right">
            <a:extLst>
              <a:ext uri="{FF2B5EF4-FFF2-40B4-BE49-F238E27FC236}">
                <a16:creationId xmlns:a16="http://schemas.microsoft.com/office/drawing/2014/main" id="{0BE30F15-8333-44E7-BD6B-F8E4CF4E822D}"/>
              </a:ext>
            </a:extLst>
          </p:cNvPr>
          <p:cNvSpPr>
            <a:spLocks noGrp="1"/>
          </p:cNvSpPr>
          <p:nvPr/>
        </p:nvSpPr>
        <p:spPr>
          <a:xfrm>
            <a:off x="13716000" y="29241750"/>
            <a:ext cx="7058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7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Contact: jfangak@connect.ust.hk</a:t>
            </a:r>
          </a:p>
        </p:txBody>
      </p:sp>
      <p:grpSp>
        <p:nvGrpSpPr>
          <p:cNvPr id="8" name="群組 1">
            <a:extLst>
              <a:ext uri="{FF2B5EF4-FFF2-40B4-BE49-F238E27FC236}">
                <a16:creationId xmlns:a16="http://schemas.microsoft.com/office/drawing/2014/main" id="{09AB562F-9FAA-985C-8A33-548890943E71}"/>
              </a:ext>
            </a:extLst>
          </p:cNvPr>
          <p:cNvGrpSpPr>
            <a:grpSpLocks noChangeAspect="1"/>
          </p:cNvGrpSpPr>
          <p:nvPr/>
        </p:nvGrpSpPr>
        <p:grpSpPr>
          <a:xfrm>
            <a:off x="15659100" y="2476500"/>
            <a:ext cx="2024129" cy="647700"/>
            <a:chOff x="2110109" y="1943024"/>
            <a:chExt cx="8009598" cy="2562980"/>
          </a:xfrm>
        </p:grpSpPr>
        <p:grpSp>
          <p:nvGrpSpPr>
            <p:cNvPr id="9" name="群組 65">
              <a:extLst>
                <a:ext uri="{FF2B5EF4-FFF2-40B4-BE49-F238E27FC236}">
                  <a16:creationId xmlns:a16="http://schemas.microsoft.com/office/drawing/2014/main" id="{B3C335C9-FDBA-447D-55FA-6C01C366456F}"/>
                </a:ext>
              </a:extLst>
            </p:cNvPr>
            <p:cNvGrpSpPr/>
            <p:nvPr/>
          </p:nvGrpSpPr>
          <p:grpSpPr>
            <a:xfrm>
              <a:off x="2110109" y="1943024"/>
              <a:ext cx="1632614" cy="2531084"/>
              <a:chOff x="3914775" y="1325563"/>
              <a:chExt cx="1214438" cy="1882775"/>
            </a:xfrm>
          </p:grpSpPr>
          <p:sp>
            <p:nvSpPr>
              <p:cNvPr id="269" name="AutoShape 48">
                <a:extLst>
                  <a:ext uri="{FF2B5EF4-FFF2-40B4-BE49-F238E27FC236}">
                    <a16:creationId xmlns:a16="http://schemas.microsoft.com/office/drawing/2014/main" id="{418B2088-297D-B2ED-2737-CB72FBF5E510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3914775" y="1325563"/>
                <a:ext cx="1214438" cy="1882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70" name="Freeform 50">
                <a:extLst>
                  <a:ext uri="{FF2B5EF4-FFF2-40B4-BE49-F238E27FC236}">
                    <a16:creationId xmlns:a16="http://schemas.microsoft.com/office/drawing/2014/main" id="{5E7F738F-A65B-B6DD-6B24-FE30918D8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650" y="2138363"/>
                <a:ext cx="673100" cy="1069975"/>
              </a:xfrm>
              <a:custGeom>
                <a:avLst/>
                <a:gdLst>
                  <a:gd name="T0" fmla="*/ 979 w 979"/>
                  <a:gd name="T1" fmla="*/ 1556 h 1556"/>
                  <a:gd name="T2" fmla="*/ 659 w 979"/>
                  <a:gd name="T3" fmla="*/ 1022 h 1556"/>
                  <a:gd name="T4" fmla="*/ 649 w 979"/>
                  <a:gd name="T5" fmla="*/ 990 h 1556"/>
                  <a:gd name="T6" fmla="*/ 649 w 979"/>
                  <a:gd name="T7" fmla="*/ 978 h 1556"/>
                  <a:gd name="T8" fmla="*/ 649 w 979"/>
                  <a:gd name="T9" fmla="*/ 950 h 1556"/>
                  <a:gd name="T10" fmla="*/ 649 w 979"/>
                  <a:gd name="T11" fmla="*/ 0 h 1556"/>
                  <a:gd name="T12" fmla="*/ 528 w 979"/>
                  <a:gd name="T13" fmla="*/ 0 h 1556"/>
                  <a:gd name="T14" fmla="*/ 528 w 979"/>
                  <a:gd name="T15" fmla="*/ 991 h 1556"/>
                  <a:gd name="T16" fmla="*/ 528 w 979"/>
                  <a:gd name="T17" fmla="*/ 1021 h 1556"/>
                  <a:gd name="T18" fmla="*/ 740 w 979"/>
                  <a:gd name="T19" fmla="*/ 1375 h 1556"/>
                  <a:gd name="T20" fmla="*/ 240 w 979"/>
                  <a:gd name="T21" fmla="*/ 1375 h 1556"/>
                  <a:gd name="T22" fmla="*/ 452 w 979"/>
                  <a:gd name="T23" fmla="*/ 1021 h 1556"/>
                  <a:gd name="T24" fmla="*/ 452 w 979"/>
                  <a:gd name="T25" fmla="*/ 991 h 1556"/>
                  <a:gd name="T26" fmla="*/ 452 w 979"/>
                  <a:gd name="T27" fmla="*/ 0 h 1556"/>
                  <a:gd name="T28" fmla="*/ 331 w 979"/>
                  <a:gd name="T29" fmla="*/ 0 h 1556"/>
                  <a:gd name="T30" fmla="*/ 331 w 979"/>
                  <a:gd name="T31" fmla="*/ 950 h 1556"/>
                  <a:gd name="T32" fmla="*/ 331 w 979"/>
                  <a:gd name="T33" fmla="*/ 978 h 1556"/>
                  <a:gd name="T34" fmla="*/ 331 w 979"/>
                  <a:gd name="T35" fmla="*/ 990 h 1556"/>
                  <a:gd name="T36" fmla="*/ 321 w 979"/>
                  <a:gd name="T37" fmla="*/ 1022 h 1556"/>
                  <a:gd name="T38" fmla="*/ 0 w 979"/>
                  <a:gd name="T39" fmla="*/ 1556 h 1556"/>
                  <a:gd name="T40" fmla="*/ 979 w 979"/>
                  <a:gd name="T41" fmla="*/ 1556 h 1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9" h="1556">
                    <a:moveTo>
                      <a:pt x="979" y="1556"/>
                    </a:moveTo>
                    <a:cubicBezTo>
                      <a:pt x="659" y="1022"/>
                      <a:pt x="659" y="1022"/>
                      <a:pt x="659" y="1022"/>
                    </a:cubicBezTo>
                    <a:cubicBezTo>
                      <a:pt x="659" y="1022"/>
                      <a:pt x="649" y="1010"/>
                      <a:pt x="649" y="990"/>
                    </a:cubicBezTo>
                    <a:cubicBezTo>
                      <a:pt x="649" y="978"/>
                      <a:pt x="649" y="978"/>
                      <a:pt x="649" y="978"/>
                    </a:cubicBezTo>
                    <a:cubicBezTo>
                      <a:pt x="649" y="950"/>
                      <a:pt x="649" y="950"/>
                      <a:pt x="649" y="950"/>
                    </a:cubicBezTo>
                    <a:cubicBezTo>
                      <a:pt x="649" y="0"/>
                      <a:pt x="649" y="0"/>
                      <a:pt x="649" y="0"/>
                    </a:cubicBezTo>
                    <a:cubicBezTo>
                      <a:pt x="528" y="0"/>
                      <a:pt x="528" y="0"/>
                      <a:pt x="528" y="0"/>
                    </a:cubicBezTo>
                    <a:cubicBezTo>
                      <a:pt x="528" y="991"/>
                      <a:pt x="528" y="991"/>
                      <a:pt x="528" y="991"/>
                    </a:cubicBezTo>
                    <a:cubicBezTo>
                      <a:pt x="528" y="1021"/>
                      <a:pt x="528" y="1021"/>
                      <a:pt x="528" y="1021"/>
                    </a:cubicBezTo>
                    <a:cubicBezTo>
                      <a:pt x="538" y="1031"/>
                      <a:pt x="740" y="1375"/>
                      <a:pt x="740" y="1375"/>
                    </a:cubicBezTo>
                    <a:cubicBezTo>
                      <a:pt x="240" y="1375"/>
                      <a:pt x="240" y="1375"/>
                      <a:pt x="240" y="1375"/>
                    </a:cubicBezTo>
                    <a:cubicBezTo>
                      <a:pt x="240" y="1375"/>
                      <a:pt x="441" y="1031"/>
                      <a:pt x="452" y="1021"/>
                    </a:cubicBezTo>
                    <a:cubicBezTo>
                      <a:pt x="452" y="991"/>
                      <a:pt x="452" y="991"/>
                      <a:pt x="452" y="991"/>
                    </a:cubicBezTo>
                    <a:cubicBezTo>
                      <a:pt x="452" y="0"/>
                      <a:pt x="452" y="0"/>
                      <a:pt x="452" y="0"/>
                    </a:cubicBezTo>
                    <a:cubicBezTo>
                      <a:pt x="331" y="0"/>
                      <a:pt x="331" y="0"/>
                      <a:pt x="331" y="0"/>
                    </a:cubicBezTo>
                    <a:cubicBezTo>
                      <a:pt x="331" y="950"/>
                      <a:pt x="331" y="950"/>
                      <a:pt x="331" y="950"/>
                    </a:cubicBezTo>
                    <a:cubicBezTo>
                      <a:pt x="331" y="978"/>
                      <a:pt x="331" y="978"/>
                      <a:pt x="331" y="978"/>
                    </a:cubicBezTo>
                    <a:cubicBezTo>
                      <a:pt x="331" y="990"/>
                      <a:pt x="331" y="990"/>
                      <a:pt x="331" y="990"/>
                    </a:cubicBezTo>
                    <a:cubicBezTo>
                      <a:pt x="331" y="1010"/>
                      <a:pt x="321" y="1022"/>
                      <a:pt x="321" y="1022"/>
                    </a:cubicBezTo>
                    <a:cubicBezTo>
                      <a:pt x="0" y="1556"/>
                      <a:pt x="0" y="1556"/>
                      <a:pt x="0" y="1556"/>
                    </a:cubicBezTo>
                    <a:lnTo>
                      <a:pt x="979" y="1556"/>
                    </a:lnTo>
                    <a:close/>
                  </a:path>
                </a:pathLst>
              </a:custGeom>
              <a:solidFill>
                <a:srgbClr val="9966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71" name="Freeform 51">
                <a:extLst>
                  <a:ext uri="{FF2B5EF4-FFF2-40B4-BE49-F238E27FC236}">
                    <a16:creationId xmlns:a16="http://schemas.microsoft.com/office/drawing/2014/main" id="{317118E7-3135-1F5C-B876-E59CC8B6D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6400" y="1325563"/>
                <a:ext cx="614363" cy="336550"/>
              </a:xfrm>
              <a:custGeom>
                <a:avLst/>
                <a:gdLst>
                  <a:gd name="T0" fmla="*/ 834 w 894"/>
                  <a:gd name="T1" fmla="*/ 490 h 490"/>
                  <a:gd name="T2" fmla="*/ 679 w 894"/>
                  <a:gd name="T3" fmla="*/ 77 h 490"/>
                  <a:gd name="T4" fmla="*/ 430 w 894"/>
                  <a:gd name="T5" fmla="*/ 0 h 490"/>
                  <a:gd name="T6" fmla="*/ 198 w 894"/>
                  <a:gd name="T7" fmla="*/ 77 h 490"/>
                  <a:gd name="T8" fmla="*/ 51 w 894"/>
                  <a:gd name="T9" fmla="*/ 490 h 490"/>
                  <a:gd name="T10" fmla="*/ 834 w 894"/>
                  <a:gd name="T11" fmla="*/ 490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4" h="490">
                    <a:moveTo>
                      <a:pt x="834" y="490"/>
                    </a:moveTo>
                    <a:cubicBezTo>
                      <a:pt x="834" y="490"/>
                      <a:pt x="894" y="241"/>
                      <a:pt x="679" y="77"/>
                    </a:cubicBezTo>
                    <a:cubicBezTo>
                      <a:pt x="679" y="77"/>
                      <a:pt x="593" y="0"/>
                      <a:pt x="430" y="0"/>
                    </a:cubicBezTo>
                    <a:cubicBezTo>
                      <a:pt x="284" y="0"/>
                      <a:pt x="198" y="77"/>
                      <a:pt x="198" y="77"/>
                    </a:cubicBezTo>
                    <a:cubicBezTo>
                      <a:pt x="0" y="215"/>
                      <a:pt x="51" y="490"/>
                      <a:pt x="51" y="490"/>
                    </a:cubicBezTo>
                    <a:lnTo>
                      <a:pt x="834" y="490"/>
                    </a:lnTo>
                    <a:close/>
                  </a:path>
                </a:pathLst>
              </a:custGeom>
              <a:solidFill>
                <a:srgbClr val="9966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72" name="Freeform 52">
                <a:extLst>
                  <a:ext uri="{FF2B5EF4-FFF2-40B4-BE49-F238E27FC236}">
                    <a16:creationId xmlns:a16="http://schemas.microsoft.com/office/drawing/2014/main" id="{69153BA2-2F56-46EE-7103-99C0BC8555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7675" y="1679576"/>
                <a:ext cx="527050" cy="30163"/>
              </a:xfrm>
              <a:custGeom>
                <a:avLst/>
                <a:gdLst>
                  <a:gd name="T0" fmla="*/ 14 w 765"/>
                  <a:gd name="T1" fmla="*/ 43 h 43"/>
                  <a:gd name="T2" fmla="*/ 750 w 765"/>
                  <a:gd name="T3" fmla="*/ 43 h 43"/>
                  <a:gd name="T4" fmla="*/ 765 w 765"/>
                  <a:gd name="T5" fmla="*/ 0 h 43"/>
                  <a:gd name="T6" fmla="*/ 0 w 765"/>
                  <a:gd name="T7" fmla="*/ 0 h 43"/>
                  <a:gd name="T8" fmla="*/ 14 w 765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5" h="43">
                    <a:moveTo>
                      <a:pt x="14" y="43"/>
                    </a:moveTo>
                    <a:cubicBezTo>
                      <a:pt x="750" y="43"/>
                      <a:pt x="750" y="43"/>
                      <a:pt x="750" y="43"/>
                    </a:cubicBezTo>
                    <a:cubicBezTo>
                      <a:pt x="756" y="29"/>
                      <a:pt x="761" y="15"/>
                      <a:pt x="76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15"/>
                      <a:pt x="9" y="29"/>
                      <a:pt x="14" y="43"/>
                    </a:cubicBezTo>
                    <a:close/>
                  </a:path>
                </a:pathLst>
              </a:custGeom>
              <a:solidFill>
                <a:srgbClr val="9966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74" name="Freeform 53">
                <a:extLst>
                  <a:ext uri="{FF2B5EF4-FFF2-40B4-BE49-F238E27FC236}">
                    <a16:creationId xmlns:a16="http://schemas.microsoft.com/office/drawing/2014/main" id="{825D6EF7-5623-5B61-7997-73B1CA94ED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725" y="1727201"/>
                <a:ext cx="488950" cy="28575"/>
              </a:xfrm>
              <a:custGeom>
                <a:avLst/>
                <a:gdLst>
                  <a:gd name="T0" fmla="*/ 713 w 713"/>
                  <a:gd name="T1" fmla="*/ 0 h 43"/>
                  <a:gd name="T2" fmla="*/ 0 w 713"/>
                  <a:gd name="T3" fmla="*/ 0 h 43"/>
                  <a:gd name="T4" fmla="*/ 25 w 713"/>
                  <a:gd name="T5" fmla="*/ 43 h 43"/>
                  <a:gd name="T6" fmla="*/ 688 w 713"/>
                  <a:gd name="T7" fmla="*/ 43 h 43"/>
                  <a:gd name="T8" fmla="*/ 713 w 713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3" h="43">
                    <a:moveTo>
                      <a:pt x="7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" y="15"/>
                      <a:pt x="16" y="29"/>
                      <a:pt x="25" y="43"/>
                    </a:cubicBezTo>
                    <a:cubicBezTo>
                      <a:pt x="688" y="43"/>
                      <a:pt x="688" y="43"/>
                      <a:pt x="688" y="43"/>
                    </a:cubicBezTo>
                    <a:cubicBezTo>
                      <a:pt x="697" y="29"/>
                      <a:pt x="705" y="15"/>
                      <a:pt x="713" y="0"/>
                    </a:cubicBezTo>
                    <a:close/>
                  </a:path>
                </a:pathLst>
              </a:custGeom>
              <a:solidFill>
                <a:srgbClr val="9966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75" name="Freeform 54">
                <a:extLst>
                  <a:ext uri="{FF2B5EF4-FFF2-40B4-BE49-F238E27FC236}">
                    <a16:creationId xmlns:a16="http://schemas.microsoft.com/office/drawing/2014/main" id="{97FC11D0-8540-158B-4C0E-83E32434C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5300" y="1774826"/>
                <a:ext cx="431800" cy="22225"/>
              </a:xfrm>
              <a:custGeom>
                <a:avLst/>
                <a:gdLst>
                  <a:gd name="T0" fmla="*/ 30 w 627"/>
                  <a:gd name="T1" fmla="*/ 34 h 34"/>
                  <a:gd name="T2" fmla="*/ 597 w 627"/>
                  <a:gd name="T3" fmla="*/ 34 h 34"/>
                  <a:gd name="T4" fmla="*/ 627 w 627"/>
                  <a:gd name="T5" fmla="*/ 0 h 34"/>
                  <a:gd name="T6" fmla="*/ 0 w 627"/>
                  <a:gd name="T7" fmla="*/ 0 h 34"/>
                  <a:gd name="T8" fmla="*/ 30 w 627"/>
                  <a:gd name="T9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7" h="34">
                    <a:moveTo>
                      <a:pt x="30" y="34"/>
                    </a:moveTo>
                    <a:cubicBezTo>
                      <a:pt x="597" y="34"/>
                      <a:pt x="597" y="34"/>
                      <a:pt x="597" y="34"/>
                    </a:cubicBezTo>
                    <a:cubicBezTo>
                      <a:pt x="608" y="23"/>
                      <a:pt x="618" y="12"/>
                      <a:pt x="6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12"/>
                      <a:pt x="19" y="23"/>
                      <a:pt x="30" y="34"/>
                    </a:cubicBezTo>
                    <a:close/>
                  </a:path>
                </a:pathLst>
              </a:custGeom>
              <a:solidFill>
                <a:srgbClr val="9966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76" name="Freeform 55">
                <a:extLst>
                  <a:ext uri="{FF2B5EF4-FFF2-40B4-BE49-F238E27FC236}">
                    <a16:creationId xmlns:a16="http://schemas.microsoft.com/office/drawing/2014/main" id="{8699690B-14DD-AE24-FEA6-522F282A7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4988" y="1816101"/>
                <a:ext cx="352425" cy="17463"/>
              </a:xfrm>
              <a:custGeom>
                <a:avLst/>
                <a:gdLst>
                  <a:gd name="T0" fmla="*/ 33 w 511"/>
                  <a:gd name="T1" fmla="*/ 26 h 26"/>
                  <a:gd name="T2" fmla="*/ 478 w 511"/>
                  <a:gd name="T3" fmla="*/ 26 h 26"/>
                  <a:gd name="T4" fmla="*/ 511 w 511"/>
                  <a:gd name="T5" fmla="*/ 0 h 26"/>
                  <a:gd name="T6" fmla="*/ 0 w 511"/>
                  <a:gd name="T7" fmla="*/ 0 h 26"/>
                  <a:gd name="T8" fmla="*/ 33 w 511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1" h="26">
                    <a:moveTo>
                      <a:pt x="33" y="26"/>
                    </a:moveTo>
                    <a:cubicBezTo>
                      <a:pt x="478" y="26"/>
                      <a:pt x="478" y="26"/>
                      <a:pt x="478" y="26"/>
                    </a:cubicBezTo>
                    <a:cubicBezTo>
                      <a:pt x="489" y="18"/>
                      <a:pt x="501" y="9"/>
                      <a:pt x="5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9"/>
                      <a:pt x="22" y="18"/>
                      <a:pt x="33" y="26"/>
                    </a:cubicBezTo>
                    <a:close/>
                  </a:path>
                </a:pathLst>
              </a:custGeom>
              <a:solidFill>
                <a:srgbClr val="9966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77" name="Freeform 56">
                <a:extLst>
                  <a:ext uri="{FF2B5EF4-FFF2-40B4-BE49-F238E27FC236}">
                    <a16:creationId xmlns:a16="http://schemas.microsoft.com/office/drawing/2014/main" id="{8B121E5A-C829-F501-185D-0E64FF83B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1663" y="1857376"/>
                <a:ext cx="220663" cy="23813"/>
              </a:xfrm>
              <a:custGeom>
                <a:avLst/>
                <a:gdLst>
                  <a:gd name="T0" fmla="*/ 0 w 321"/>
                  <a:gd name="T1" fmla="*/ 0 h 35"/>
                  <a:gd name="T2" fmla="*/ 160 w 321"/>
                  <a:gd name="T3" fmla="*/ 35 h 35"/>
                  <a:gd name="T4" fmla="*/ 321 w 321"/>
                  <a:gd name="T5" fmla="*/ 0 h 35"/>
                  <a:gd name="T6" fmla="*/ 0 w 321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1" h="35">
                    <a:moveTo>
                      <a:pt x="0" y="0"/>
                    </a:moveTo>
                    <a:cubicBezTo>
                      <a:pt x="49" y="22"/>
                      <a:pt x="103" y="35"/>
                      <a:pt x="160" y="35"/>
                    </a:cubicBezTo>
                    <a:cubicBezTo>
                      <a:pt x="218" y="35"/>
                      <a:pt x="272" y="22"/>
                      <a:pt x="32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66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78" name="Freeform 57">
                <a:extLst>
                  <a:ext uri="{FF2B5EF4-FFF2-40B4-BE49-F238E27FC236}">
                    <a16:creationId xmlns:a16="http://schemas.microsoft.com/office/drawing/2014/main" id="{202EF360-1A7A-B35C-041E-850E169CA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775" y="1893888"/>
                <a:ext cx="1214438" cy="209550"/>
              </a:xfrm>
              <a:custGeom>
                <a:avLst/>
                <a:gdLst>
                  <a:gd name="T0" fmla="*/ 1647 w 1767"/>
                  <a:gd name="T1" fmla="*/ 0 h 304"/>
                  <a:gd name="T2" fmla="*/ 1044 w 1767"/>
                  <a:gd name="T3" fmla="*/ 0 h 304"/>
                  <a:gd name="T4" fmla="*/ 944 w 1767"/>
                  <a:gd name="T5" fmla="*/ 30 h 304"/>
                  <a:gd name="T6" fmla="*/ 884 w 1767"/>
                  <a:gd name="T7" fmla="*/ 111 h 304"/>
                  <a:gd name="T8" fmla="*/ 884 w 1767"/>
                  <a:gd name="T9" fmla="*/ 111 h 304"/>
                  <a:gd name="T10" fmla="*/ 824 w 1767"/>
                  <a:gd name="T11" fmla="*/ 30 h 304"/>
                  <a:gd name="T12" fmla="*/ 723 w 1767"/>
                  <a:gd name="T13" fmla="*/ 0 h 304"/>
                  <a:gd name="T14" fmla="*/ 121 w 1767"/>
                  <a:gd name="T15" fmla="*/ 0 h 304"/>
                  <a:gd name="T16" fmla="*/ 0 w 1767"/>
                  <a:gd name="T17" fmla="*/ 193 h 304"/>
                  <a:gd name="T18" fmla="*/ 552 w 1767"/>
                  <a:gd name="T19" fmla="*/ 193 h 304"/>
                  <a:gd name="T20" fmla="*/ 579 w 1767"/>
                  <a:gd name="T21" fmla="*/ 194 h 304"/>
                  <a:gd name="T22" fmla="*/ 653 w 1767"/>
                  <a:gd name="T23" fmla="*/ 227 h 304"/>
                  <a:gd name="T24" fmla="*/ 715 w 1767"/>
                  <a:gd name="T25" fmla="*/ 282 h 304"/>
                  <a:gd name="T26" fmla="*/ 733 w 1767"/>
                  <a:gd name="T27" fmla="*/ 304 h 304"/>
                  <a:gd name="T28" fmla="*/ 869 w 1767"/>
                  <a:gd name="T29" fmla="*/ 304 h 304"/>
                  <a:gd name="T30" fmla="*/ 884 w 1767"/>
                  <a:gd name="T31" fmla="*/ 304 h 304"/>
                  <a:gd name="T32" fmla="*/ 884 w 1767"/>
                  <a:gd name="T33" fmla="*/ 304 h 304"/>
                  <a:gd name="T34" fmla="*/ 931 w 1767"/>
                  <a:gd name="T35" fmla="*/ 304 h 304"/>
                  <a:gd name="T36" fmla="*/ 1034 w 1767"/>
                  <a:gd name="T37" fmla="*/ 304 h 304"/>
                  <a:gd name="T38" fmla="*/ 1052 w 1767"/>
                  <a:gd name="T39" fmla="*/ 282 h 304"/>
                  <a:gd name="T40" fmla="*/ 1115 w 1767"/>
                  <a:gd name="T41" fmla="*/ 227 h 304"/>
                  <a:gd name="T42" fmla="*/ 1189 w 1767"/>
                  <a:gd name="T43" fmla="*/ 194 h 304"/>
                  <a:gd name="T44" fmla="*/ 1216 w 1767"/>
                  <a:gd name="T45" fmla="*/ 193 h 304"/>
                  <a:gd name="T46" fmla="*/ 1767 w 1767"/>
                  <a:gd name="T47" fmla="*/ 193 h 304"/>
                  <a:gd name="T48" fmla="*/ 1647 w 1767"/>
                  <a:gd name="T49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67" h="304">
                    <a:moveTo>
                      <a:pt x="1647" y="0"/>
                    </a:moveTo>
                    <a:cubicBezTo>
                      <a:pt x="1044" y="0"/>
                      <a:pt x="1044" y="0"/>
                      <a:pt x="1044" y="0"/>
                    </a:cubicBezTo>
                    <a:cubicBezTo>
                      <a:pt x="1044" y="0"/>
                      <a:pt x="989" y="0"/>
                      <a:pt x="944" y="30"/>
                    </a:cubicBezTo>
                    <a:cubicBezTo>
                      <a:pt x="910" y="54"/>
                      <a:pt x="885" y="109"/>
                      <a:pt x="884" y="111"/>
                    </a:cubicBezTo>
                    <a:cubicBezTo>
                      <a:pt x="884" y="111"/>
                      <a:pt x="884" y="111"/>
                      <a:pt x="884" y="111"/>
                    </a:cubicBezTo>
                    <a:cubicBezTo>
                      <a:pt x="883" y="109"/>
                      <a:pt x="858" y="54"/>
                      <a:pt x="824" y="30"/>
                    </a:cubicBezTo>
                    <a:cubicBezTo>
                      <a:pt x="779" y="0"/>
                      <a:pt x="723" y="0"/>
                      <a:pt x="723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0" y="193"/>
                      <a:pt x="0" y="193"/>
                      <a:pt x="0" y="193"/>
                    </a:cubicBezTo>
                    <a:cubicBezTo>
                      <a:pt x="552" y="193"/>
                      <a:pt x="552" y="193"/>
                      <a:pt x="552" y="193"/>
                    </a:cubicBezTo>
                    <a:cubicBezTo>
                      <a:pt x="552" y="193"/>
                      <a:pt x="569" y="193"/>
                      <a:pt x="579" y="194"/>
                    </a:cubicBezTo>
                    <a:cubicBezTo>
                      <a:pt x="595" y="197"/>
                      <a:pt x="623" y="206"/>
                      <a:pt x="653" y="227"/>
                    </a:cubicBezTo>
                    <a:cubicBezTo>
                      <a:pt x="694" y="257"/>
                      <a:pt x="705" y="272"/>
                      <a:pt x="715" y="282"/>
                    </a:cubicBezTo>
                    <a:cubicBezTo>
                      <a:pt x="720" y="287"/>
                      <a:pt x="733" y="304"/>
                      <a:pt x="733" y="304"/>
                    </a:cubicBezTo>
                    <a:cubicBezTo>
                      <a:pt x="869" y="304"/>
                      <a:pt x="869" y="304"/>
                      <a:pt x="869" y="304"/>
                    </a:cubicBezTo>
                    <a:cubicBezTo>
                      <a:pt x="884" y="304"/>
                      <a:pt x="884" y="304"/>
                      <a:pt x="884" y="304"/>
                    </a:cubicBezTo>
                    <a:cubicBezTo>
                      <a:pt x="884" y="304"/>
                      <a:pt x="884" y="304"/>
                      <a:pt x="884" y="304"/>
                    </a:cubicBezTo>
                    <a:cubicBezTo>
                      <a:pt x="931" y="304"/>
                      <a:pt x="931" y="304"/>
                      <a:pt x="931" y="304"/>
                    </a:cubicBezTo>
                    <a:cubicBezTo>
                      <a:pt x="1034" y="304"/>
                      <a:pt x="1034" y="304"/>
                      <a:pt x="1034" y="304"/>
                    </a:cubicBezTo>
                    <a:cubicBezTo>
                      <a:pt x="1034" y="304"/>
                      <a:pt x="1047" y="287"/>
                      <a:pt x="1052" y="282"/>
                    </a:cubicBezTo>
                    <a:cubicBezTo>
                      <a:pt x="1062" y="272"/>
                      <a:pt x="1074" y="257"/>
                      <a:pt x="1115" y="227"/>
                    </a:cubicBezTo>
                    <a:cubicBezTo>
                      <a:pt x="1144" y="206"/>
                      <a:pt x="1173" y="197"/>
                      <a:pt x="1189" y="194"/>
                    </a:cubicBezTo>
                    <a:cubicBezTo>
                      <a:pt x="1199" y="193"/>
                      <a:pt x="1216" y="193"/>
                      <a:pt x="1216" y="193"/>
                    </a:cubicBezTo>
                    <a:cubicBezTo>
                      <a:pt x="1767" y="193"/>
                      <a:pt x="1767" y="193"/>
                      <a:pt x="1767" y="193"/>
                    </a:cubicBezTo>
                    <a:lnTo>
                      <a:pt x="1647" y="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79" name="Freeform 58">
                <a:extLst>
                  <a:ext uri="{FF2B5EF4-FFF2-40B4-BE49-F238E27FC236}">
                    <a16:creationId xmlns:a16="http://schemas.microsoft.com/office/drawing/2014/main" id="{E97A0F4E-B2B4-E06A-6BE9-60737C2B0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050" y="2066926"/>
                <a:ext cx="290513" cy="1000125"/>
              </a:xfrm>
              <a:custGeom>
                <a:avLst/>
                <a:gdLst>
                  <a:gd name="T0" fmla="*/ 0 w 422"/>
                  <a:gd name="T1" fmla="*/ 0 h 1456"/>
                  <a:gd name="T2" fmla="*/ 0 w 422"/>
                  <a:gd name="T3" fmla="*/ 904 h 1456"/>
                  <a:gd name="T4" fmla="*/ 0 w 422"/>
                  <a:gd name="T5" fmla="*/ 916 h 1456"/>
                  <a:gd name="T6" fmla="*/ 1 w 422"/>
                  <a:gd name="T7" fmla="*/ 943 h 1456"/>
                  <a:gd name="T8" fmla="*/ 98 w 422"/>
                  <a:gd name="T9" fmla="*/ 1206 h 1456"/>
                  <a:gd name="T10" fmla="*/ 347 w 422"/>
                  <a:gd name="T11" fmla="*/ 1456 h 1456"/>
                  <a:gd name="T12" fmla="*/ 422 w 422"/>
                  <a:gd name="T13" fmla="*/ 1336 h 1456"/>
                  <a:gd name="T14" fmla="*/ 238 w 422"/>
                  <a:gd name="T15" fmla="*/ 1156 h 1456"/>
                  <a:gd name="T16" fmla="*/ 194 w 422"/>
                  <a:gd name="T17" fmla="*/ 1084 h 1456"/>
                  <a:gd name="T18" fmla="*/ 169 w 422"/>
                  <a:gd name="T19" fmla="*/ 1025 h 1456"/>
                  <a:gd name="T20" fmla="*/ 157 w 422"/>
                  <a:gd name="T21" fmla="*/ 987 h 1456"/>
                  <a:gd name="T22" fmla="*/ 150 w 422"/>
                  <a:gd name="T23" fmla="*/ 941 h 1456"/>
                  <a:gd name="T24" fmla="*/ 149 w 422"/>
                  <a:gd name="T25" fmla="*/ 913 h 1456"/>
                  <a:gd name="T26" fmla="*/ 149 w 422"/>
                  <a:gd name="T27" fmla="*/ 909 h 1456"/>
                  <a:gd name="T28" fmla="*/ 149 w 422"/>
                  <a:gd name="T29" fmla="*/ 0 h 1456"/>
                  <a:gd name="T30" fmla="*/ 0 w 422"/>
                  <a:gd name="T31" fmla="*/ 0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2" h="1456">
                    <a:moveTo>
                      <a:pt x="0" y="0"/>
                    </a:moveTo>
                    <a:cubicBezTo>
                      <a:pt x="0" y="904"/>
                      <a:pt x="0" y="904"/>
                      <a:pt x="0" y="904"/>
                    </a:cubicBezTo>
                    <a:cubicBezTo>
                      <a:pt x="0" y="904"/>
                      <a:pt x="0" y="913"/>
                      <a:pt x="0" y="916"/>
                    </a:cubicBezTo>
                    <a:cubicBezTo>
                      <a:pt x="0" y="926"/>
                      <a:pt x="1" y="935"/>
                      <a:pt x="1" y="943"/>
                    </a:cubicBezTo>
                    <a:cubicBezTo>
                      <a:pt x="11" y="1040"/>
                      <a:pt x="42" y="1111"/>
                      <a:pt x="98" y="1206"/>
                    </a:cubicBezTo>
                    <a:cubicBezTo>
                      <a:pt x="186" y="1353"/>
                      <a:pt x="347" y="1456"/>
                      <a:pt x="347" y="1456"/>
                    </a:cubicBezTo>
                    <a:cubicBezTo>
                      <a:pt x="422" y="1336"/>
                      <a:pt x="422" y="1336"/>
                      <a:pt x="422" y="1336"/>
                    </a:cubicBezTo>
                    <a:cubicBezTo>
                      <a:pt x="422" y="1336"/>
                      <a:pt x="320" y="1281"/>
                      <a:pt x="238" y="1156"/>
                    </a:cubicBezTo>
                    <a:cubicBezTo>
                      <a:pt x="221" y="1130"/>
                      <a:pt x="205" y="1107"/>
                      <a:pt x="194" y="1084"/>
                    </a:cubicBezTo>
                    <a:cubicBezTo>
                      <a:pt x="183" y="1062"/>
                      <a:pt x="175" y="1044"/>
                      <a:pt x="169" y="1025"/>
                    </a:cubicBezTo>
                    <a:cubicBezTo>
                      <a:pt x="164" y="1011"/>
                      <a:pt x="160" y="998"/>
                      <a:pt x="157" y="987"/>
                    </a:cubicBezTo>
                    <a:cubicBezTo>
                      <a:pt x="153" y="970"/>
                      <a:pt x="151" y="957"/>
                      <a:pt x="150" y="941"/>
                    </a:cubicBezTo>
                    <a:cubicBezTo>
                      <a:pt x="150" y="936"/>
                      <a:pt x="149" y="913"/>
                      <a:pt x="149" y="913"/>
                    </a:cubicBezTo>
                    <a:cubicBezTo>
                      <a:pt x="149" y="909"/>
                      <a:pt x="149" y="909"/>
                      <a:pt x="149" y="909"/>
                    </a:cubicBezTo>
                    <a:cubicBezTo>
                      <a:pt x="149" y="0"/>
                      <a:pt x="149" y="0"/>
                      <a:pt x="14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80" name="Freeform 59">
                <a:extLst>
                  <a:ext uri="{FF2B5EF4-FFF2-40B4-BE49-F238E27FC236}">
                    <a16:creationId xmlns:a16="http://schemas.microsoft.com/office/drawing/2014/main" id="{570AEBB3-C2E1-DD7F-5E49-F45C1489E2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3213" y="2066926"/>
                <a:ext cx="214313" cy="866775"/>
              </a:xfrm>
              <a:custGeom>
                <a:avLst/>
                <a:gdLst>
                  <a:gd name="T0" fmla="*/ 0 w 312"/>
                  <a:gd name="T1" fmla="*/ 0 h 1262"/>
                  <a:gd name="T2" fmla="*/ 0 w 312"/>
                  <a:gd name="T3" fmla="*/ 913 h 1262"/>
                  <a:gd name="T4" fmla="*/ 1 w 312"/>
                  <a:gd name="T5" fmla="*/ 920 h 1262"/>
                  <a:gd name="T6" fmla="*/ 2 w 312"/>
                  <a:gd name="T7" fmla="*/ 937 h 1262"/>
                  <a:gd name="T8" fmla="*/ 4 w 312"/>
                  <a:gd name="T9" fmla="*/ 946 h 1262"/>
                  <a:gd name="T10" fmla="*/ 16 w 312"/>
                  <a:gd name="T11" fmla="*/ 992 h 1262"/>
                  <a:gd name="T12" fmla="*/ 71 w 312"/>
                  <a:gd name="T13" fmla="*/ 1102 h 1262"/>
                  <a:gd name="T14" fmla="*/ 237 w 312"/>
                  <a:gd name="T15" fmla="*/ 1262 h 1262"/>
                  <a:gd name="T16" fmla="*/ 312 w 312"/>
                  <a:gd name="T17" fmla="*/ 1144 h 1262"/>
                  <a:gd name="T18" fmla="*/ 257 w 312"/>
                  <a:gd name="T19" fmla="*/ 1101 h 1262"/>
                  <a:gd name="T20" fmla="*/ 192 w 312"/>
                  <a:gd name="T21" fmla="*/ 1026 h 1262"/>
                  <a:gd name="T22" fmla="*/ 153 w 312"/>
                  <a:gd name="T23" fmla="*/ 940 h 1262"/>
                  <a:gd name="T24" fmla="*/ 145 w 312"/>
                  <a:gd name="T25" fmla="*/ 894 h 1262"/>
                  <a:gd name="T26" fmla="*/ 145 w 312"/>
                  <a:gd name="T27" fmla="*/ 881 h 1262"/>
                  <a:gd name="T28" fmla="*/ 145 w 312"/>
                  <a:gd name="T29" fmla="*/ 0 h 1262"/>
                  <a:gd name="T30" fmla="*/ 0 w 312"/>
                  <a:gd name="T31" fmla="*/ 0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2" h="1262">
                    <a:moveTo>
                      <a:pt x="0" y="0"/>
                    </a:moveTo>
                    <a:cubicBezTo>
                      <a:pt x="0" y="913"/>
                      <a:pt x="0" y="913"/>
                      <a:pt x="0" y="913"/>
                    </a:cubicBezTo>
                    <a:cubicBezTo>
                      <a:pt x="0" y="913"/>
                      <a:pt x="1" y="917"/>
                      <a:pt x="1" y="920"/>
                    </a:cubicBezTo>
                    <a:cubicBezTo>
                      <a:pt x="1" y="925"/>
                      <a:pt x="2" y="932"/>
                      <a:pt x="2" y="937"/>
                    </a:cubicBezTo>
                    <a:cubicBezTo>
                      <a:pt x="3" y="940"/>
                      <a:pt x="4" y="944"/>
                      <a:pt x="4" y="946"/>
                    </a:cubicBezTo>
                    <a:cubicBezTo>
                      <a:pt x="7" y="961"/>
                      <a:pt x="10" y="973"/>
                      <a:pt x="16" y="992"/>
                    </a:cubicBezTo>
                    <a:cubicBezTo>
                      <a:pt x="27" y="1023"/>
                      <a:pt x="45" y="1060"/>
                      <a:pt x="71" y="1102"/>
                    </a:cubicBezTo>
                    <a:cubicBezTo>
                      <a:pt x="139" y="1212"/>
                      <a:pt x="237" y="1262"/>
                      <a:pt x="237" y="1262"/>
                    </a:cubicBezTo>
                    <a:cubicBezTo>
                      <a:pt x="312" y="1144"/>
                      <a:pt x="312" y="1144"/>
                      <a:pt x="312" y="1144"/>
                    </a:cubicBezTo>
                    <a:cubicBezTo>
                      <a:pt x="312" y="1144"/>
                      <a:pt x="287" y="1130"/>
                      <a:pt x="257" y="1101"/>
                    </a:cubicBezTo>
                    <a:cubicBezTo>
                      <a:pt x="237" y="1082"/>
                      <a:pt x="213" y="1056"/>
                      <a:pt x="192" y="1026"/>
                    </a:cubicBezTo>
                    <a:cubicBezTo>
                      <a:pt x="172" y="995"/>
                      <a:pt x="160" y="963"/>
                      <a:pt x="153" y="940"/>
                    </a:cubicBezTo>
                    <a:cubicBezTo>
                      <a:pt x="147" y="920"/>
                      <a:pt x="146" y="904"/>
                      <a:pt x="145" y="894"/>
                    </a:cubicBezTo>
                    <a:cubicBezTo>
                      <a:pt x="145" y="885"/>
                      <a:pt x="145" y="881"/>
                      <a:pt x="145" y="881"/>
                    </a:cubicBezTo>
                    <a:cubicBezTo>
                      <a:pt x="145" y="0"/>
                      <a:pt x="145" y="0"/>
                      <a:pt x="14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81" name="Freeform 60">
                <a:extLst>
                  <a:ext uri="{FF2B5EF4-FFF2-40B4-BE49-F238E27FC236}">
                    <a16:creationId xmlns:a16="http://schemas.microsoft.com/office/drawing/2014/main" id="{6D7A8F1A-5027-070F-C36F-31AF81F15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5838" y="2066926"/>
                <a:ext cx="292100" cy="1000125"/>
              </a:xfrm>
              <a:custGeom>
                <a:avLst/>
                <a:gdLst>
                  <a:gd name="T0" fmla="*/ 423 w 423"/>
                  <a:gd name="T1" fmla="*/ 0 h 1456"/>
                  <a:gd name="T2" fmla="*/ 423 w 423"/>
                  <a:gd name="T3" fmla="*/ 904 h 1456"/>
                  <a:gd name="T4" fmla="*/ 423 w 423"/>
                  <a:gd name="T5" fmla="*/ 916 h 1456"/>
                  <a:gd name="T6" fmla="*/ 421 w 423"/>
                  <a:gd name="T7" fmla="*/ 943 h 1456"/>
                  <a:gd name="T8" fmla="*/ 325 w 423"/>
                  <a:gd name="T9" fmla="*/ 1206 h 1456"/>
                  <a:gd name="T10" fmla="*/ 76 w 423"/>
                  <a:gd name="T11" fmla="*/ 1456 h 1456"/>
                  <a:gd name="T12" fmla="*/ 0 w 423"/>
                  <a:gd name="T13" fmla="*/ 1336 h 1456"/>
                  <a:gd name="T14" fmla="*/ 185 w 423"/>
                  <a:gd name="T15" fmla="*/ 1156 h 1456"/>
                  <a:gd name="T16" fmla="*/ 229 w 423"/>
                  <a:gd name="T17" fmla="*/ 1084 h 1456"/>
                  <a:gd name="T18" fmla="*/ 254 w 423"/>
                  <a:gd name="T19" fmla="*/ 1025 h 1456"/>
                  <a:gd name="T20" fmla="*/ 265 w 423"/>
                  <a:gd name="T21" fmla="*/ 987 h 1456"/>
                  <a:gd name="T22" fmla="*/ 272 w 423"/>
                  <a:gd name="T23" fmla="*/ 941 h 1456"/>
                  <a:gd name="T24" fmla="*/ 273 w 423"/>
                  <a:gd name="T25" fmla="*/ 913 h 1456"/>
                  <a:gd name="T26" fmla="*/ 273 w 423"/>
                  <a:gd name="T27" fmla="*/ 909 h 1456"/>
                  <a:gd name="T28" fmla="*/ 273 w 423"/>
                  <a:gd name="T29" fmla="*/ 0 h 1456"/>
                  <a:gd name="T30" fmla="*/ 423 w 423"/>
                  <a:gd name="T31" fmla="*/ 0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3" h="1456">
                    <a:moveTo>
                      <a:pt x="423" y="0"/>
                    </a:moveTo>
                    <a:cubicBezTo>
                      <a:pt x="423" y="904"/>
                      <a:pt x="423" y="904"/>
                      <a:pt x="423" y="904"/>
                    </a:cubicBezTo>
                    <a:cubicBezTo>
                      <a:pt x="423" y="904"/>
                      <a:pt x="423" y="913"/>
                      <a:pt x="423" y="916"/>
                    </a:cubicBezTo>
                    <a:cubicBezTo>
                      <a:pt x="423" y="926"/>
                      <a:pt x="422" y="935"/>
                      <a:pt x="421" y="943"/>
                    </a:cubicBezTo>
                    <a:cubicBezTo>
                      <a:pt x="411" y="1040"/>
                      <a:pt x="381" y="1111"/>
                      <a:pt x="325" y="1206"/>
                    </a:cubicBezTo>
                    <a:cubicBezTo>
                      <a:pt x="236" y="1353"/>
                      <a:pt x="76" y="1456"/>
                      <a:pt x="76" y="1456"/>
                    </a:cubicBezTo>
                    <a:cubicBezTo>
                      <a:pt x="0" y="1336"/>
                      <a:pt x="0" y="1336"/>
                      <a:pt x="0" y="1336"/>
                    </a:cubicBezTo>
                    <a:cubicBezTo>
                      <a:pt x="0" y="1336"/>
                      <a:pt x="103" y="1281"/>
                      <a:pt x="185" y="1156"/>
                    </a:cubicBezTo>
                    <a:cubicBezTo>
                      <a:pt x="202" y="1130"/>
                      <a:pt x="218" y="1107"/>
                      <a:pt x="229" y="1084"/>
                    </a:cubicBezTo>
                    <a:cubicBezTo>
                      <a:pt x="240" y="1062"/>
                      <a:pt x="248" y="1044"/>
                      <a:pt x="254" y="1025"/>
                    </a:cubicBezTo>
                    <a:cubicBezTo>
                      <a:pt x="259" y="1011"/>
                      <a:pt x="263" y="998"/>
                      <a:pt x="265" y="987"/>
                    </a:cubicBezTo>
                    <a:cubicBezTo>
                      <a:pt x="270" y="970"/>
                      <a:pt x="271" y="957"/>
                      <a:pt x="272" y="941"/>
                    </a:cubicBezTo>
                    <a:cubicBezTo>
                      <a:pt x="273" y="936"/>
                      <a:pt x="273" y="913"/>
                      <a:pt x="273" y="913"/>
                    </a:cubicBezTo>
                    <a:cubicBezTo>
                      <a:pt x="273" y="909"/>
                      <a:pt x="273" y="909"/>
                      <a:pt x="273" y="909"/>
                    </a:cubicBezTo>
                    <a:cubicBezTo>
                      <a:pt x="273" y="0"/>
                      <a:pt x="273" y="0"/>
                      <a:pt x="273" y="0"/>
                    </a:cubicBezTo>
                    <a:lnTo>
                      <a:pt x="423" y="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282" name="Freeform 61">
                <a:extLst>
                  <a:ext uri="{FF2B5EF4-FFF2-40B4-BE49-F238E27FC236}">
                    <a16:creationId xmlns:a16="http://schemas.microsoft.com/office/drawing/2014/main" id="{A991282C-C23F-1F8F-9952-EA290DAFB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4875" y="2066926"/>
                <a:ext cx="214313" cy="866775"/>
              </a:xfrm>
              <a:custGeom>
                <a:avLst/>
                <a:gdLst>
                  <a:gd name="T0" fmla="*/ 311 w 311"/>
                  <a:gd name="T1" fmla="*/ 0 h 1262"/>
                  <a:gd name="T2" fmla="*/ 311 w 311"/>
                  <a:gd name="T3" fmla="*/ 913 h 1262"/>
                  <a:gd name="T4" fmla="*/ 311 w 311"/>
                  <a:gd name="T5" fmla="*/ 920 h 1262"/>
                  <a:gd name="T6" fmla="*/ 309 w 311"/>
                  <a:gd name="T7" fmla="*/ 937 h 1262"/>
                  <a:gd name="T8" fmla="*/ 308 w 311"/>
                  <a:gd name="T9" fmla="*/ 946 h 1262"/>
                  <a:gd name="T10" fmla="*/ 295 w 311"/>
                  <a:gd name="T11" fmla="*/ 992 h 1262"/>
                  <a:gd name="T12" fmla="*/ 241 w 311"/>
                  <a:gd name="T13" fmla="*/ 1102 h 1262"/>
                  <a:gd name="T14" fmla="*/ 75 w 311"/>
                  <a:gd name="T15" fmla="*/ 1262 h 1262"/>
                  <a:gd name="T16" fmla="*/ 0 w 311"/>
                  <a:gd name="T17" fmla="*/ 1144 h 1262"/>
                  <a:gd name="T18" fmla="*/ 55 w 311"/>
                  <a:gd name="T19" fmla="*/ 1101 h 1262"/>
                  <a:gd name="T20" fmla="*/ 120 w 311"/>
                  <a:gd name="T21" fmla="*/ 1026 h 1262"/>
                  <a:gd name="T22" fmla="*/ 159 w 311"/>
                  <a:gd name="T23" fmla="*/ 940 h 1262"/>
                  <a:gd name="T24" fmla="*/ 166 w 311"/>
                  <a:gd name="T25" fmla="*/ 894 h 1262"/>
                  <a:gd name="T26" fmla="*/ 166 w 311"/>
                  <a:gd name="T27" fmla="*/ 881 h 1262"/>
                  <a:gd name="T28" fmla="*/ 166 w 311"/>
                  <a:gd name="T29" fmla="*/ 0 h 1262"/>
                  <a:gd name="T30" fmla="*/ 311 w 311"/>
                  <a:gd name="T31" fmla="*/ 0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1" h="1262">
                    <a:moveTo>
                      <a:pt x="311" y="0"/>
                    </a:moveTo>
                    <a:cubicBezTo>
                      <a:pt x="311" y="913"/>
                      <a:pt x="311" y="913"/>
                      <a:pt x="311" y="913"/>
                    </a:cubicBezTo>
                    <a:cubicBezTo>
                      <a:pt x="311" y="913"/>
                      <a:pt x="311" y="917"/>
                      <a:pt x="311" y="920"/>
                    </a:cubicBezTo>
                    <a:cubicBezTo>
                      <a:pt x="310" y="925"/>
                      <a:pt x="310" y="932"/>
                      <a:pt x="309" y="937"/>
                    </a:cubicBezTo>
                    <a:cubicBezTo>
                      <a:pt x="309" y="940"/>
                      <a:pt x="308" y="944"/>
                      <a:pt x="308" y="946"/>
                    </a:cubicBezTo>
                    <a:cubicBezTo>
                      <a:pt x="305" y="961"/>
                      <a:pt x="302" y="973"/>
                      <a:pt x="295" y="992"/>
                    </a:cubicBezTo>
                    <a:cubicBezTo>
                      <a:pt x="285" y="1023"/>
                      <a:pt x="267" y="1060"/>
                      <a:pt x="241" y="1102"/>
                    </a:cubicBezTo>
                    <a:cubicBezTo>
                      <a:pt x="173" y="1212"/>
                      <a:pt x="75" y="1262"/>
                      <a:pt x="75" y="1262"/>
                    </a:cubicBezTo>
                    <a:cubicBezTo>
                      <a:pt x="0" y="1144"/>
                      <a:pt x="0" y="1144"/>
                      <a:pt x="0" y="1144"/>
                    </a:cubicBezTo>
                    <a:cubicBezTo>
                      <a:pt x="0" y="1144"/>
                      <a:pt x="25" y="1130"/>
                      <a:pt x="55" y="1101"/>
                    </a:cubicBezTo>
                    <a:cubicBezTo>
                      <a:pt x="75" y="1082"/>
                      <a:pt x="99" y="1056"/>
                      <a:pt x="120" y="1026"/>
                    </a:cubicBezTo>
                    <a:cubicBezTo>
                      <a:pt x="140" y="995"/>
                      <a:pt x="152" y="963"/>
                      <a:pt x="159" y="940"/>
                    </a:cubicBezTo>
                    <a:cubicBezTo>
                      <a:pt x="165" y="920"/>
                      <a:pt x="166" y="904"/>
                      <a:pt x="166" y="894"/>
                    </a:cubicBezTo>
                    <a:cubicBezTo>
                      <a:pt x="167" y="885"/>
                      <a:pt x="166" y="881"/>
                      <a:pt x="166" y="881"/>
                    </a:cubicBezTo>
                    <a:cubicBezTo>
                      <a:pt x="166" y="0"/>
                      <a:pt x="166" y="0"/>
                      <a:pt x="166" y="0"/>
                    </a:cubicBez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</p:grpSp>
        <p:grpSp>
          <p:nvGrpSpPr>
            <p:cNvPr id="10" name="Group 182">
              <a:extLst>
                <a:ext uri="{FF2B5EF4-FFF2-40B4-BE49-F238E27FC236}">
                  <a16:creationId xmlns:a16="http://schemas.microsoft.com/office/drawing/2014/main" id="{D9B6BE89-AC7F-36CA-5C29-92F026EA58A0}"/>
                </a:ext>
              </a:extLst>
            </p:cNvPr>
            <p:cNvGrpSpPr/>
            <p:nvPr/>
          </p:nvGrpSpPr>
          <p:grpSpPr>
            <a:xfrm>
              <a:off x="4046889" y="2746058"/>
              <a:ext cx="6072818" cy="1759946"/>
              <a:chOff x="2303346" y="1327780"/>
              <a:chExt cx="3036409" cy="879973"/>
            </a:xfrm>
          </p:grpSpPr>
          <p:grpSp>
            <p:nvGrpSpPr>
              <p:cNvPr id="205" name="Group 123">
                <a:extLst>
                  <a:ext uri="{FF2B5EF4-FFF2-40B4-BE49-F238E27FC236}">
                    <a16:creationId xmlns:a16="http://schemas.microsoft.com/office/drawing/2014/main" id="{E63E4387-266B-E3C6-ECA8-CF5CD9549E08}"/>
                  </a:ext>
                </a:extLst>
              </p:cNvPr>
              <p:cNvGrpSpPr/>
              <p:nvPr/>
            </p:nvGrpSpPr>
            <p:grpSpPr>
              <a:xfrm>
                <a:off x="2303347" y="1327780"/>
                <a:ext cx="2300933" cy="221856"/>
                <a:chOff x="1751656" y="5034001"/>
                <a:chExt cx="3335953" cy="321654"/>
              </a:xfrm>
            </p:grpSpPr>
            <p:sp>
              <p:nvSpPr>
                <p:cNvPr id="258" name="TextBox 165">
                  <a:extLst>
                    <a:ext uri="{FF2B5EF4-FFF2-40B4-BE49-F238E27FC236}">
                      <a16:creationId xmlns:a16="http://schemas.microsoft.com/office/drawing/2014/main" id="{9A4CA545-A474-576B-CB96-1796512538B6}"/>
                    </a:ext>
                  </a:extLst>
                </p:cNvPr>
                <p:cNvSpPr txBox="1"/>
                <p:nvPr/>
              </p:nvSpPr>
              <p:spPr>
                <a:xfrm>
                  <a:off x="3167281" y="5034001"/>
                  <a:ext cx="263590" cy="321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371" h="593508">
                      <a:moveTo>
                        <a:pt x="0" y="0"/>
                      </a:moveTo>
                      <a:lnTo>
                        <a:pt x="425654" y="445853"/>
                      </a:lnTo>
                      <a:lnTo>
                        <a:pt x="425654" y="23165"/>
                      </a:lnTo>
                      <a:lnTo>
                        <a:pt x="486371" y="23165"/>
                      </a:lnTo>
                      <a:lnTo>
                        <a:pt x="486371" y="593508"/>
                      </a:lnTo>
                      <a:lnTo>
                        <a:pt x="60717" y="148380"/>
                      </a:lnTo>
                      <a:lnTo>
                        <a:pt x="60717" y="568895"/>
                      </a:lnTo>
                      <a:lnTo>
                        <a:pt x="0" y="5688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59" name="TextBox 166">
                  <a:extLst>
                    <a:ext uri="{FF2B5EF4-FFF2-40B4-BE49-F238E27FC236}">
                      <a16:creationId xmlns:a16="http://schemas.microsoft.com/office/drawing/2014/main" id="{B8943BE4-3204-8E20-2844-2C62DF5F54E9}"/>
                    </a:ext>
                  </a:extLst>
                </p:cNvPr>
                <p:cNvSpPr txBox="1"/>
                <p:nvPr/>
              </p:nvSpPr>
              <p:spPr>
                <a:xfrm>
                  <a:off x="4494370" y="5034001"/>
                  <a:ext cx="263590" cy="321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371" h="593508">
                      <a:moveTo>
                        <a:pt x="0" y="0"/>
                      </a:moveTo>
                      <a:lnTo>
                        <a:pt x="425653" y="445853"/>
                      </a:lnTo>
                      <a:lnTo>
                        <a:pt x="425653" y="23165"/>
                      </a:lnTo>
                      <a:lnTo>
                        <a:pt x="486371" y="23165"/>
                      </a:lnTo>
                      <a:lnTo>
                        <a:pt x="486371" y="593508"/>
                      </a:lnTo>
                      <a:lnTo>
                        <a:pt x="60718" y="148380"/>
                      </a:lnTo>
                      <a:lnTo>
                        <a:pt x="60718" y="568895"/>
                      </a:lnTo>
                      <a:lnTo>
                        <a:pt x="0" y="5688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60" name="TextBox 167">
                  <a:extLst>
                    <a:ext uri="{FF2B5EF4-FFF2-40B4-BE49-F238E27FC236}">
                      <a16:creationId xmlns:a16="http://schemas.microsoft.com/office/drawing/2014/main" id="{8AC65186-952D-AE4A-9B64-D450ACD97398}"/>
                    </a:ext>
                  </a:extLst>
                </p:cNvPr>
                <p:cNvSpPr txBox="1"/>
                <p:nvPr/>
              </p:nvSpPr>
              <p:spPr>
                <a:xfrm>
                  <a:off x="2817507" y="5041455"/>
                  <a:ext cx="308315" cy="305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895" h="564552">
                      <a:moveTo>
                        <a:pt x="284446" y="0"/>
                      </a:moveTo>
                      <a:cubicBezTo>
                        <a:pt x="336965" y="598"/>
                        <a:pt x="384609" y="13470"/>
                        <a:pt x="427378" y="38616"/>
                      </a:cubicBezTo>
                      <a:cubicBezTo>
                        <a:pt x="470148" y="63763"/>
                        <a:pt x="504269" y="97598"/>
                        <a:pt x="529742" y="140122"/>
                      </a:cubicBezTo>
                      <a:cubicBezTo>
                        <a:pt x="555215" y="182645"/>
                        <a:pt x="568266" y="230272"/>
                        <a:pt x="568895" y="283000"/>
                      </a:cubicBezTo>
                      <a:cubicBezTo>
                        <a:pt x="568266" y="335939"/>
                        <a:pt x="555215" y="383547"/>
                        <a:pt x="529742" y="425825"/>
                      </a:cubicBezTo>
                      <a:cubicBezTo>
                        <a:pt x="504269" y="468103"/>
                        <a:pt x="470148" y="501652"/>
                        <a:pt x="427378" y="526472"/>
                      </a:cubicBezTo>
                      <a:cubicBezTo>
                        <a:pt x="384609" y="551292"/>
                        <a:pt x="336965" y="563985"/>
                        <a:pt x="284446" y="564552"/>
                      </a:cubicBezTo>
                      <a:cubicBezTo>
                        <a:pt x="231928" y="563985"/>
                        <a:pt x="184284" y="551292"/>
                        <a:pt x="141514" y="526472"/>
                      </a:cubicBezTo>
                      <a:cubicBezTo>
                        <a:pt x="98745" y="501652"/>
                        <a:pt x="64624" y="468103"/>
                        <a:pt x="39152" y="425825"/>
                      </a:cubicBezTo>
                      <a:cubicBezTo>
                        <a:pt x="13679" y="383547"/>
                        <a:pt x="629" y="335939"/>
                        <a:pt x="0" y="283000"/>
                      </a:cubicBezTo>
                      <a:cubicBezTo>
                        <a:pt x="629" y="230272"/>
                        <a:pt x="13679" y="182645"/>
                        <a:pt x="39152" y="140122"/>
                      </a:cubicBezTo>
                      <a:cubicBezTo>
                        <a:pt x="64624" y="97598"/>
                        <a:pt x="98745" y="63763"/>
                        <a:pt x="141514" y="38616"/>
                      </a:cubicBezTo>
                      <a:cubicBezTo>
                        <a:pt x="184284" y="13470"/>
                        <a:pt x="231928" y="598"/>
                        <a:pt x="284446" y="0"/>
                      </a:cubicBezTo>
                      <a:close/>
                      <a:moveTo>
                        <a:pt x="284446" y="56374"/>
                      </a:moveTo>
                      <a:cubicBezTo>
                        <a:pt x="242250" y="56870"/>
                        <a:pt x="204359" y="67221"/>
                        <a:pt x="170771" y="87427"/>
                      </a:cubicBezTo>
                      <a:cubicBezTo>
                        <a:pt x="137185" y="107634"/>
                        <a:pt x="110555" y="134718"/>
                        <a:pt x="90885" y="168682"/>
                      </a:cubicBezTo>
                      <a:cubicBezTo>
                        <a:pt x="71215" y="202645"/>
                        <a:pt x="61159" y="240510"/>
                        <a:pt x="60717" y="282276"/>
                      </a:cubicBezTo>
                      <a:cubicBezTo>
                        <a:pt x="61186" y="323815"/>
                        <a:pt x="71349" y="361572"/>
                        <a:pt x="91207" y="395549"/>
                      </a:cubicBezTo>
                      <a:cubicBezTo>
                        <a:pt x="111064" y="429525"/>
                        <a:pt x="137801" y="456664"/>
                        <a:pt x="171416" y="476964"/>
                      </a:cubicBezTo>
                      <a:cubicBezTo>
                        <a:pt x="205029" y="497264"/>
                        <a:pt x="242706" y="507668"/>
                        <a:pt x="284446" y="508178"/>
                      </a:cubicBezTo>
                      <a:cubicBezTo>
                        <a:pt x="326186" y="507668"/>
                        <a:pt x="363863" y="497264"/>
                        <a:pt x="397478" y="476964"/>
                      </a:cubicBezTo>
                      <a:cubicBezTo>
                        <a:pt x="431093" y="456664"/>
                        <a:pt x="457829" y="429525"/>
                        <a:pt x="477687" y="395549"/>
                      </a:cubicBezTo>
                      <a:cubicBezTo>
                        <a:pt x="497545" y="361572"/>
                        <a:pt x="507708" y="323815"/>
                        <a:pt x="508177" y="282276"/>
                      </a:cubicBezTo>
                      <a:cubicBezTo>
                        <a:pt x="507735" y="240510"/>
                        <a:pt x="497679" y="202645"/>
                        <a:pt x="478008" y="168682"/>
                      </a:cubicBezTo>
                      <a:cubicBezTo>
                        <a:pt x="458338" y="134719"/>
                        <a:pt x="431709" y="107634"/>
                        <a:pt x="398121" y="87427"/>
                      </a:cubicBezTo>
                      <a:cubicBezTo>
                        <a:pt x="364534" y="67221"/>
                        <a:pt x="326642" y="56870"/>
                        <a:pt x="284446" y="56374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61" name="TextBox 168">
                  <a:extLst>
                    <a:ext uri="{FF2B5EF4-FFF2-40B4-BE49-F238E27FC236}">
                      <a16:creationId xmlns:a16="http://schemas.microsoft.com/office/drawing/2014/main" id="{692BA1BF-1666-13B9-3EC4-66723A55C9DB}"/>
                    </a:ext>
                  </a:extLst>
                </p:cNvPr>
                <p:cNvSpPr txBox="1"/>
                <p:nvPr/>
              </p:nvSpPr>
              <p:spPr>
                <a:xfrm>
                  <a:off x="3473270" y="5041455"/>
                  <a:ext cx="292411" cy="305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551" h="564552">
                      <a:moveTo>
                        <a:pt x="284450" y="0"/>
                      </a:moveTo>
                      <a:cubicBezTo>
                        <a:pt x="332269" y="208"/>
                        <a:pt x="375468" y="10452"/>
                        <a:pt x="414048" y="30732"/>
                      </a:cubicBezTo>
                      <a:cubicBezTo>
                        <a:pt x="452627" y="51012"/>
                        <a:pt x="486398" y="80078"/>
                        <a:pt x="515360" y="117931"/>
                      </a:cubicBezTo>
                      <a:lnTo>
                        <a:pt x="471256" y="159210"/>
                      </a:lnTo>
                      <a:cubicBezTo>
                        <a:pt x="448509" y="126727"/>
                        <a:pt x="421598" y="101531"/>
                        <a:pt x="390524" y="83622"/>
                      </a:cubicBezTo>
                      <a:cubicBezTo>
                        <a:pt x="359450" y="65713"/>
                        <a:pt x="323851" y="56630"/>
                        <a:pt x="283726" y="56374"/>
                      </a:cubicBezTo>
                      <a:cubicBezTo>
                        <a:pt x="241767" y="56910"/>
                        <a:pt x="204045" y="67505"/>
                        <a:pt x="170559" y="88158"/>
                      </a:cubicBezTo>
                      <a:cubicBezTo>
                        <a:pt x="137074" y="108810"/>
                        <a:pt x="110507" y="136302"/>
                        <a:pt x="90860" y="170633"/>
                      </a:cubicBezTo>
                      <a:cubicBezTo>
                        <a:pt x="71212" y="204964"/>
                        <a:pt x="61164" y="242916"/>
                        <a:pt x="60717" y="284487"/>
                      </a:cubicBezTo>
                      <a:cubicBezTo>
                        <a:pt x="60838" y="313630"/>
                        <a:pt x="66390" y="341392"/>
                        <a:pt x="77371" y="367771"/>
                      </a:cubicBezTo>
                      <a:cubicBezTo>
                        <a:pt x="88352" y="394150"/>
                        <a:pt x="104040" y="417775"/>
                        <a:pt x="124434" y="438646"/>
                      </a:cubicBezTo>
                      <a:cubicBezTo>
                        <a:pt x="144738" y="458972"/>
                        <a:pt x="168390" y="475540"/>
                        <a:pt x="195392" y="488351"/>
                      </a:cubicBezTo>
                      <a:cubicBezTo>
                        <a:pt x="222393" y="501161"/>
                        <a:pt x="250389" y="507770"/>
                        <a:pt x="279382" y="508178"/>
                      </a:cubicBezTo>
                      <a:cubicBezTo>
                        <a:pt x="311647" y="507945"/>
                        <a:pt x="342532" y="500685"/>
                        <a:pt x="372035" y="486396"/>
                      </a:cubicBezTo>
                      <a:cubicBezTo>
                        <a:pt x="401538" y="472107"/>
                        <a:pt x="425773" y="452184"/>
                        <a:pt x="444736" y="426629"/>
                      </a:cubicBezTo>
                      <a:cubicBezTo>
                        <a:pt x="463701" y="401073"/>
                        <a:pt x="473507" y="371279"/>
                        <a:pt x="474155" y="337247"/>
                      </a:cubicBezTo>
                      <a:lnTo>
                        <a:pt x="311965" y="337247"/>
                      </a:lnTo>
                      <a:lnTo>
                        <a:pt x="311965" y="280873"/>
                      </a:lnTo>
                      <a:lnTo>
                        <a:pt x="539215" y="280873"/>
                      </a:lnTo>
                      <a:cubicBezTo>
                        <a:pt x="540617" y="317542"/>
                        <a:pt x="537635" y="351609"/>
                        <a:pt x="530270" y="383073"/>
                      </a:cubicBezTo>
                      <a:cubicBezTo>
                        <a:pt x="522905" y="414536"/>
                        <a:pt x="507092" y="444649"/>
                        <a:pt x="482829" y="473412"/>
                      </a:cubicBezTo>
                      <a:cubicBezTo>
                        <a:pt x="457312" y="502538"/>
                        <a:pt x="426905" y="524965"/>
                        <a:pt x="391609" y="540692"/>
                      </a:cubicBezTo>
                      <a:cubicBezTo>
                        <a:pt x="356312" y="556419"/>
                        <a:pt x="319386" y="564372"/>
                        <a:pt x="280830" y="564552"/>
                      </a:cubicBezTo>
                      <a:cubicBezTo>
                        <a:pt x="229039" y="563926"/>
                        <a:pt x="182029" y="551026"/>
                        <a:pt x="139800" y="525851"/>
                      </a:cubicBezTo>
                      <a:cubicBezTo>
                        <a:pt x="97571" y="500676"/>
                        <a:pt x="63870" y="466977"/>
                        <a:pt x="38697" y="424754"/>
                      </a:cubicBezTo>
                      <a:cubicBezTo>
                        <a:pt x="13523" y="382530"/>
                        <a:pt x="625" y="335534"/>
                        <a:pt x="0" y="283764"/>
                      </a:cubicBezTo>
                      <a:cubicBezTo>
                        <a:pt x="602" y="231018"/>
                        <a:pt x="13546" y="183322"/>
                        <a:pt x="38831" y="140676"/>
                      </a:cubicBezTo>
                      <a:cubicBezTo>
                        <a:pt x="64116" y="98031"/>
                        <a:pt x="98130" y="64075"/>
                        <a:pt x="140873" y="38809"/>
                      </a:cubicBezTo>
                      <a:cubicBezTo>
                        <a:pt x="183616" y="13543"/>
                        <a:pt x="231475" y="607"/>
                        <a:pt x="284450" y="0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62" name="TextBox 169">
                  <a:extLst>
                    <a:ext uri="{FF2B5EF4-FFF2-40B4-BE49-F238E27FC236}">
                      <a16:creationId xmlns:a16="http://schemas.microsoft.com/office/drawing/2014/main" id="{8746803B-1092-2285-303E-2AB7D910C252}"/>
                    </a:ext>
                  </a:extLst>
                </p:cNvPr>
                <p:cNvSpPr txBox="1"/>
                <p:nvPr/>
              </p:nvSpPr>
              <p:spPr>
                <a:xfrm>
                  <a:off x="4141965" y="5041455"/>
                  <a:ext cx="308314" cy="305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894" h="564552">
                      <a:moveTo>
                        <a:pt x="284446" y="0"/>
                      </a:moveTo>
                      <a:cubicBezTo>
                        <a:pt x="336965" y="598"/>
                        <a:pt x="384609" y="13470"/>
                        <a:pt x="427379" y="38616"/>
                      </a:cubicBezTo>
                      <a:cubicBezTo>
                        <a:pt x="470148" y="63763"/>
                        <a:pt x="504269" y="97598"/>
                        <a:pt x="529742" y="140122"/>
                      </a:cubicBezTo>
                      <a:cubicBezTo>
                        <a:pt x="555215" y="182645"/>
                        <a:pt x="568265" y="230272"/>
                        <a:pt x="568894" y="283000"/>
                      </a:cubicBezTo>
                      <a:cubicBezTo>
                        <a:pt x="568265" y="335939"/>
                        <a:pt x="555215" y="383547"/>
                        <a:pt x="529742" y="425825"/>
                      </a:cubicBezTo>
                      <a:cubicBezTo>
                        <a:pt x="504269" y="468103"/>
                        <a:pt x="470148" y="501652"/>
                        <a:pt x="427379" y="526472"/>
                      </a:cubicBezTo>
                      <a:cubicBezTo>
                        <a:pt x="384609" y="551292"/>
                        <a:pt x="336965" y="563985"/>
                        <a:pt x="284446" y="564552"/>
                      </a:cubicBezTo>
                      <a:cubicBezTo>
                        <a:pt x="231928" y="563985"/>
                        <a:pt x="184284" y="551292"/>
                        <a:pt x="141514" y="526472"/>
                      </a:cubicBezTo>
                      <a:cubicBezTo>
                        <a:pt x="98745" y="501652"/>
                        <a:pt x="64624" y="468103"/>
                        <a:pt x="39152" y="425825"/>
                      </a:cubicBezTo>
                      <a:cubicBezTo>
                        <a:pt x="13680" y="383547"/>
                        <a:pt x="629" y="335939"/>
                        <a:pt x="0" y="283000"/>
                      </a:cubicBezTo>
                      <a:cubicBezTo>
                        <a:pt x="629" y="230272"/>
                        <a:pt x="13680" y="182645"/>
                        <a:pt x="39152" y="140122"/>
                      </a:cubicBezTo>
                      <a:cubicBezTo>
                        <a:pt x="64624" y="97598"/>
                        <a:pt x="98745" y="63763"/>
                        <a:pt x="141514" y="38616"/>
                      </a:cubicBezTo>
                      <a:cubicBezTo>
                        <a:pt x="184284" y="13470"/>
                        <a:pt x="231928" y="598"/>
                        <a:pt x="284446" y="0"/>
                      </a:cubicBezTo>
                      <a:close/>
                      <a:moveTo>
                        <a:pt x="284446" y="56374"/>
                      </a:moveTo>
                      <a:cubicBezTo>
                        <a:pt x="242251" y="56870"/>
                        <a:pt x="204359" y="67221"/>
                        <a:pt x="170771" y="87427"/>
                      </a:cubicBezTo>
                      <a:cubicBezTo>
                        <a:pt x="137184" y="107634"/>
                        <a:pt x="110555" y="134718"/>
                        <a:pt x="90885" y="168682"/>
                      </a:cubicBezTo>
                      <a:cubicBezTo>
                        <a:pt x="71216" y="202645"/>
                        <a:pt x="61159" y="240510"/>
                        <a:pt x="60717" y="282276"/>
                      </a:cubicBezTo>
                      <a:cubicBezTo>
                        <a:pt x="61186" y="323815"/>
                        <a:pt x="71350" y="361572"/>
                        <a:pt x="91207" y="395549"/>
                      </a:cubicBezTo>
                      <a:cubicBezTo>
                        <a:pt x="111065" y="429525"/>
                        <a:pt x="137801" y="456664"/>
                        <a:pt x="171415" y="476964"/>
                      </a:cubicBezTo>
                      <a:cubicBezTo>
                        <a:pt x="205029" y="497264"/>
                        <a:pt x="242707" y="507668"/>
                        <a:pt x="284446" y="508178"/>
                      </a:cubicBezTo>
                      <a:cubicBezTo>
                        <a:pt x="326186" y="507668"/>
                        <a:pt x="363863" y="497264"/>
                        <a:pt x="397478" y="476964"/>
                      </a:cubicBezTo>
                      <a:cubicBezTo>
                        <a:pt x="431092" y="456664"/>
                        <a:pt x="457829" y="429525"/>
                        <a:pt x="477687" y="395549"/>
                      </a:cubicBezTo>
                      <a:cubicBezTo>
                        <a:pt x="497545" y="361572"/>
                        <a:pt x="507708" y="323815"/>
                        <a:pt x="508177" y="282276"/>
                      </a:cubicBezTo>
                      <a:cubicBezTo>
                        <a:pt x="507735" y="240510"/>
                        <a:pt x="497678" y="202645"/>
                        <a:pt x="478009" y="168682"/>
                      </a:cubicBezTo>
                      <a:cubicBezTo>
                        <a:pt x="458338" y="134719"/>
                        <a:pt x="431709" y="107634"/>
                        <a:pt x="398122" y="87427"/>
                      </a:cubicBezTo>
                      <a:cubicBezTo>
                        <a:pt x="364534" y="67221"/>
                        <a:pt x="326642" y="56870"/>
                        <a:pt x="284446" y="56374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63" name="TextBox 170">
                  <a:extLst>
                    <a:ext uri="{FF2B5EF4-FFF2-40B4-BE49-F238E27FC236}">
                      <a16:creationId xmlns:a16="http://schemas.microsoft.com/office/drawing/2014/main" id="{5B1C133B-D8B2-FAFA-C3A1-0F87BA8DC6DF}"/>
                    </a:ext>
                  </a:extLst>
                </p:cNvPr>
                <p:cNvSpPr txBox="1"/>
                <p:nvPr/>
              </p:nvSpPr>
              <p:spPr>
                <a:xfrm>
                  <a:off x="4795198" y="5041455"/>
                  <a:ext cx="292411" cy="305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551" h="564552">
                      <a:moveTo>
                        <a:pt x="284450" y="0"/>
                      </a:moveTo>
                      <a:cubicBezTo>
                        <a:pt x="332269" y="208"/>
                        <a:pt x="375468" y="10452"/>
                        <a:pt x="414048" y="30732"/>
                      </a:cubicBezTo>
                      <a:cubicBezTo>
                        <a:pt x="452627" y="51012"/>
                        <a:pt x="486398" y="80078"/>
                        <a:pt x="515359" y="117931"/>
                      </a:cubicBezTo>
                      <a:lnTo>
                        <a:pt x="471256" y="159210"/>
                      </a:lnTo>
                      <a:cubicBezTo>
                        <a:pt x="448508" y="126727"/>
                        <a:pt x="421598" y="101531"/>
                        <a:pt x="390524" y="83622"/>
                      </a:cubicBezTo>
                      <a:cubicBezTo>
                        <a:pt x="359450" y="65713"/>
                        <a:pt x="323851" y="56630"/>
                        <a:pt x="283726" y="56374"/>
                      </a:cubicBezTo>
                      <a:cubicBezTo>
                        <a:pt x="241767" y="56910"/>
                        <a:pt x="204044" y="67505"/>
                        <a:pt x="170559" y="88158"/>
                      </a:cubicBezTo>
                      <a:cubicBezTo>
                        <a:pt x="137074" y="108810"/>
                        <a:pt x="110507" y="136302"/>
                        <a:pt x="90860" y="170633"/>
                      </a:cubicBezTo>
                      <a:cubicBezTo>
                        <a:pt x="71212" y="204964"/>
                        <a:pt x="61165" y="242916"/>
                        <a:pt x="60717" y="284487"/>
                      </a:cubicBezTo>
                      <a:cubicBezTo>
                        <a:pt x="60838" y="313630"/>
                        <a:pt x="66389" y="341392"/>
                        <a:pt x="77371" y="367771"/>
                      </a:cubicBezTo>
                      <a:cubicBezTo>
                        <a:pt x="88352" y="394150"/>
                        <a:pt x="104040" y="417775"/>
                        <a:pt x="124434" y="438646"/>
                      </a:cubicBezTo>
                      <a:cubicBezTo>
                        <a:pt x="144738" y="458972"/>
                        <a:pt x="168391" y="475540"/>
                        <a:pt x="195392" y="488351"/>
                      </a:cubicBezTo>
                      <a:cubicBezTo>
                        <a:pt x="222392" y="501161"/>
                        <a:pt x="250390" y="507770"/>
                        <a:pt x="279382" y="508178"/>
                      </a:cubicBezTo>
                      <a:cubicBezTo>
                        <a:pt x="311647" y="507945"/>
                        <a:pt x="342531" y="500685"/>
                        <a:pt x="372034" y="486396"/>
                      </a:cubicBezTo>
                      <a:cubicBezTo>
                        <a:pt x="401538" y="472107"/>
                        <a:pt x="425772" y="452184"/>
                        <a:pt x="444736" y="426629"/>
                      </a:cubicBezTo>
                      <a:cubicBezTo>
                        <a:pt x="463700" y="401073"/>
                        <a:pt x="473506" y="371279"/>
                        <a:pt x="474155" y="337247"/>
                      </a:cubicBezTo>
                      <a:lnTo>
                        <a:pt x="311964" y="337247"/>
                      </a:lnTo>
                      <a:lnTo>
                        <a:pt x="311964" y="280873"/>
                      </a:lnTo>
                      <a:lnTo>
                        <a:pt x="539216" y="280873"/>
                      </a:lnTo>
                      <a:cubicBezTo>
                        <a:pt x="540616" y="317542"/>
                        <a:pt x="537635" y="351609"/>
                        <a:pt x="530270" y="383073"/>
                      </a:cubicBezTo>
                      <a:cubicBezTo>
                        <a:pt x="522906" y="414536"/>
                        <a:pt x="507092" y="444649"/>
                        <a:pt x="482829" y="473412"/>
                      </a:cubicBezTo>
                      <a:cubicBezTo>
                        <a:pt x="457312" y="502538"/>
                        <a:pt x="426906" y="524965"/>
                        <a:pt x="391608" y="540692"/>
                      </a:cubicBezTo>
                      <a:cubicBezTo>
                        <a:pt x="356312" y="556419"/>
                        <a:pt x="319386" y="564372"/>
                        <a:pt x="280830" y="564552"/>
                      </a:cubicBezTo>
                      <a:cubicBezTo>
                        <a:pt x="229039" y="563926"/>
                        <a:pt x="182029" y="551026"/>
                        <a:pt x="139800" y="525851"/>
                      </a:cubicBezTo>
                      <a:cubicBezTo>
                        <a:pt x="97572" y="500676"/>
                        <a:pt x="63870" y="466977"/>
                        <a:pt x="38697" y="424754"/>
                      </a:cubicBezTo>
                      <a:cubicBezTo>
                        <a:pt x="13524" y="382530"/>
                        <a:pt x="625" y="335534"/>
                        <a:pt x="0" y="283764"/>
                      </a:cubicBezTo>
                      <a:cubicBezTo>
                        <a:pt x="603" y="231018"/>
                        <a:pt x="13546" y="183322"/>
                        <a:pt x="38831" y="140676"/>
                      </a:cubicBezTo>
                      <a:cubicBezTo>
                        <a:pt x="64116" y="98031"/>
                        <a:pt x="98130" y="64075"/>
                        <a:pt x="140873" y="38809"/>
                      </a:cubicBezTo>
                      <a:cubicBezTo>
                        <a:pt x="183616" y="13543"/>
                        <a:pt x="231475" y="607"/>
                        <a:pt x="284450" y="0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64" name="TextBox 171">
                  <a:extLst>
                    <a:ext uri="{FF2B5EF4-FFF2-40B4-BE49-F238E27FC236}">
                      <a16:creationId xmlns:a16="http://schemas.microsoft.com/office/drawing/2014/main" id="{1AECF73F-A57A-01D0-5ACB-3C1A027C2C03}"/>
                    </a:ext>
                  </a:extLst>
                </p:cNvPr>
                <p:cNvSpPr txBox="1"/>
                <p:nvPr/>
              </p:nvSpPr>
              <p:spPr>
                <a:xfrm>
                  <a:off x="1751656" y="5046556"/>
                  <a:ext cx="176496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665" h="545730">
                      <a:moveTo>
                        <a:pt x="0" y="0"/>
                      </a:moveTo>
                      <a:lnTo>
                        <a:pt x="325665" y="0"/>
                      </a:lnTo>
                      <a:lnTo>
                        <a:pt x="325665" y="56373"/>
                      </a:lnTo>
                      <a:lnTo>
                        <a:pt x="192467" y="56373"/>
                      </a:lnTo>
                      <a:lnTo>
                        <a:pt x="192467" y="545730"/>
                      </a:lnTo>
                      <a:lnTo>
                        <a:pt x="131750" y="545730"/>
                      </a:lnTo>
                      <a:lnTo>
                        <a:pt x="131750" y="56373"/>
                      </a:lnTo>
                      <a:lnTo>
                        <a:pt x="0" y="5637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65" name="TextBox 172">
                  <a:extLst>
                    <a:ext uri="{FF2B5EF4-FFF2-40B4-BE49-F238E27FC236}">
                      <a16:creationId xmlns:a16="http://schemas.microsoft.com/office/drawing/2014/main" id="{21479D7E-13C6-BEB8-7901-F994C6DDE89E}"/>
                    </a:ext>
                  </a:extLst>
                </p:cNvPr>
                <p:cNvSpPr txBox="1"/>
                <p:nvPr/>
              </p:nvSpPr>
              <p:spPr>
                <a:xfrm>
                  <a:off x="1958670" y="5046556"/>
                  <a:ext cx="217296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950" h="545730">
                      <a:moveTo>
                        <a:pt x="0" y="0"/>
                      </a:moveTo>
                      <a:lnTo>
                        <a:pt x="60717" y="0"/>
                      </a:lnTo>
                      <a:lnTo>
                        <a:pt x="60717" y="221513"/>
                      </a:lnTo>
                      <a:lnTo>
                        <a:pt x="340233" y="221513"/>
                      </a:lnTo>
                      <a:lnTo>
                        <a:pt x="340233" y="0"/>
                      </a:lnTo>
                      <a:lnTo>
                        <a:pt x="400950" y="0"/>
                      </a:lnTo>
                      <a:lnTo>
                        <a:pt x="400950" y="545730"/>
                      </a:lnTo>
                      <a:lnTo>
                        <a:pt x="340233" y="545730"/>
                      </a:lnTo>
                      <a:lnTo>
                        <a:pt x="340233" y="277887"/>
                      </a:lnTo>
                      <a:lnTo>
                        <a:pt x="60717" y="277887"/>
                      </a:lnTo>
                      <a:lnTo>
                        <a:pt x="60717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66" name="TextBox 173">
                  <a:extLst>
                    <a:ext uri="{FF2B5EF4-FFF2-40B4-BE49-F238E27FC236}">
                      <a16:creationId xmlns:a16="http://schemas.microsoft.com/office/drawing/2014/main" id="{F6CFCE0F-98CC-0D3E-3522-4F02C173DF1C}"/>
                    </a:ext>
                  </a:extLst>
                </p:cNvPr>
                <p:cNvSpPr txBox="1"/>
                <p:nvPr/>
              </p:nvSpPr>
              <p:spPr>
                <a:xfrm>
                  <a:off x="2235854" y="5046556"/>
                  <a:ext cx="153347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955" h="545730">
                      <a:moveTo>
                        <a:pt x="0" y="0"/>
                      </a:moveTo>
                      <a:lnTo>
                        <a:pt x="282955" y="0"/>
                      </a:lnTo>
                      <a:lnTo>
                        <a:pt x="282955" y="56373"/>
                      </a:lnTo>
                      <a:lnTo>
                        <a:pt x="60718" y="56373"/>
                      </a:lnTo>
                      <a:lnTo>
                        <a:pt x="60718" y="218618"/>
                      </a:lnTo>
                      <a:lnTo>
                        <a:pt x="276440" y="218618"/>
                      </a:lnTo>
                      <a:lnTo>
                        <a:pt x="276440" y="274991"/>
                      </a:lnTo>
                      <a:lnTo>
                        <a:pt x="60718" y="274991"/>
                      </a:lnTo>
                      <a:lnTo>
                        <a:pt x="60718" y="489356"/>
                      </a:lnTo>
                      <a:lnTo>
                        <a:pt x="282955" y="489356"/>
                      </a:lnTo>
                      <a:lnTo>
                        <a:pt x="282955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67" name="TextBox 174">
                  <a:extLst>
                    <a:ext uri="{FF2B5EF4-FFF2-40B4-BE49-F238E27FC236}">
                      <a16:creationId xmlns:a16="http://schemas.microsoft.com/office/drawing/2014/main" id="{74B3805C-E99C-545B-B7D1-24B9EE81F5B1}"/>
                    </a:ext>
                  </a:extLst>
                </p:cNvPr>
                <p:cNvSpPr txBox="1"/>
                <p:nvPr/>
              </p:nvSpPr>
              <p:spPr>
                <a:xfrm>
                  <a:off x="2561514" y="5046556"/>
                  <a:ext cx="217296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950" h="545730">
                      <a:moveTo>
                        <a:pt x="0" y="0"/>
                      </a:moveTo>
                      <a:lnTo>
                        <a:pt x="60717" y="0"/>
                      </a:lnTo>
                      <a:lnTo>
                        <a:pt x="60717" y="221513"/>
                      </a:lnTo>
                      <a:lnTo>
                        <a:pt x="340233" y="221513"/>
                      </a:lnTo>
                      <a:lnTo>
                        <a:pt x="340233" y="0"/>
                      </a:lnTo>
                      <a:lnTo>
                        <a:pt x="400950" y="0"/>
                      </a:lnTo>
                      <a:lnTo>
                        <a:pt x="400950" y="545730"/>
                      </a:lnTo>
                      <a:lnTo>
                        <a:pt x="340233" y="545730"/>
                      </a:lnTo>
                      <a:lnTo>
                        <a:pt x="340233" y="277887"/>
                      </a:lnTo>
                      <a:lnTo>
                        <a:pt x="60717" y="277887"/>
                      </a:lnTo>
                      <a:lnTo>
                        <a:pt x="60717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68" name="TextBox 175">
                  <a:extLst>
                    <a:ext uri="{FF2B5EF4-FFF2-40B4-BE49-F238E27FC236}">
                      <a16:creationId xmlns:a16="http://schemas.microsoft.com/office/drawing/2014/main" id="{DE7594CD-5EB0-1F27-641B-7F7177A08939}"/>
                    </a:ext>
                  </a:extLst>
                </p:cNvPr>
                <p:cNvSpPr txBox="1"/>
                <p:nvPr/>
              </p:nvSpPr>
              <p:spPr>
                <a:xfrm>
                  <a:off x="3922232" y="5046556"/>
                  <a:ext cx="207881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576" h="545730">
                      <a:moveTo>
                        <a:pt x="0" y="0"/>
                      </a:moveTo>
                      <a:lnTo>
                        <a:pt x="60717" y="0"/>
                      </a:lnTo>
                      <a:lnTo>
                        <a:pt x="60717" y="233781"/>
                      </a:lnTo>
                      <a:lnTo>
                        <a:pt x="293089" y="0"/>
                      </a:lnTo>
                      <a:lnTo>
                        <a:pt x="374890" y="0"/>
                      </a:lnTo>
                      <a:lnTo>
                        <a:pt x="118629" y="254047"/>
                      </a:lnTo>
                      <a:lnTo>
                        <a:pt x="383576" y="545730"/>
                      </a:lnTo>
                      <a:lnTo>
                        <a:pt x="299604" y="545730"/>
                      </a:lnTo>
                      <a:lnTo>
                        <a:pt x="75919" y="295303"/>
                      </a:lnTo>
                      <a:lnTo>
                        <a:pt x="60717" y="310502"/>
                      </a:lnTo>
                      <a:lnTo>
                        <a:pt x="60717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</p:grpSp>
          <p:grpSp>
            <p:nvGrpSpPr>
              <p:cNvPr id="208" name="Group 124">
                <a:extLst>
                  <a:ext uri="{FF2B5EF4-FFF2-40B4-BE49-F238E27FC236}">
                    <a16:creationId xmlns:a16="http://schemas.microsoft.com/office/drawing/2014/main" id="{DB7885CE-A9ED-029B-35B2-9B821693BB72}"/>
                  </a:ext>
                </a:extLst>
              </p:cNvPr>
              <p:cNvGrpSpPr/>
              <p:nvPr/>
            </p:nvGrpSpPr>
            <p:grpSpPr>
              <a:xfrm>
                <a:off x="2303347" y="1984814"/>
                <a:ext cx="2487337" cy="222939"/>
                <a:chOff x="1751656" y="5986588"/>
                <a:chExt cx="3606206" cy="323223"/>
              </a:xfrm>
            </p:grpSpPr>
            <p:sp>
              <p:nvSpPr>
                <p:cNvPr id="244" name="TextBox 152">
                  <a:extLst>
                    <a:ext uri="{FF2B5EF4-FFF2-40B4-BE49-F238E27FC236}">
                      <a16:creationId xmlns:a16="http://schemas.microsoft.com/office/drawing/2014/main" id="{8BBA738B-997C-5901-F588-499F01E75CE8}"/>
                    </a:ext>
                  </a:extLst>
                </p:cNvPr>
                <p:cNvSpPr txBox="1"/>
                <p:nvPr/>
              </p:nvSpPr>
              <p:spPr>
                <a:xfrm>
                  <a:off x="1751656" y="5986588"/>
                  <a:ext cx="269475" cy="309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229" h="571791">
                      <a:moveTo>
                        <a:pt x="251872" y="0"/>
                      </a:moveTo>
                      <a:lnTo>
                        <a:pt x="497229" y="571791"/>
                      </a:lnTo>
                      <a:lnTo>
                        <a:pt x="429918" y="571791"/>
                      </a:lnTo>
                      <a:lnTo>
                        <a:pt x="365503" y="416876"/>
                      </a:lnTo>
                      <a:lnTo>
                        <a:pt x="132449" y="416876"/>
                      </a:lnTo>
                      <a:lnTo>
                        <a:pt x="66587" y="571791"/>
                      </a:lnTo>
                      <a:lnTo>
                        <a:pt x="0" y="571791"/>
                      </a:lnTo>
                      <a:lnTo>
                        <a:pt x="251872" y="0"/>
                      </a:lnTo>
                      <a:close/>
                      <a:moveTo>
                        <a:pt x="250423" y="141885"/>
                      </a:moveTo>
                      <a:lnTo>
                        <a:pt x="157057" y="360503"/>
                      </a:lnTo>
                      <a:lnTo>
                        <a:pt x="341618" y="360503"/>
                      </a:lnTo>
                      <a:lnTo>
                        <a:pt x="250423" y="141885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45" name="TextBox 153">
                  <a:extLst>
                    <a:ext uri="{FF2B5EF4-FFF2-40B4-BE49-F238E27FC236}">
                      <a16:creationId xmlns:a16="http://schemas.microsoft.com/office/drawing/2014/main" id="{8FFF0867-850A-70F8-155F-4F6A45A41F2E}"/>
                    </a:ext>
                  </a:extLst>
                </p:cNvPr>
                <p:cNvSpPr txBox="1"/>
                <p:nvPr/>
              </p:nvSpPr>
              <p:spPr>
                <a:xfrm>
                  <a:off x="2051528" y="5988157"/>
                  <a:ext cx="263590" cy="321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371" h="593508">
                      <a:moveTo>
                        <a:pt x="0" y="0"/>
                      </a:moveTo>
                      <a:lnTo>
                        <a:pt x="425654" y="445853"/>
                      </a:lnTo>
                      <a:lnTo>
                        <a:pt x="425654" y="23165"/>
                      </a:lnTo>
                      <a:lnTo>
                        <a:pt x="486371" y="23165"/>
                      </a:lnTo>
                      <a:lnTo>
                        <a:pt x="486371" y="593508"/>
                      </a:lnTo>
                      <a:lnTo>
                        <a:pt x="60718" y="148380"/>
                      </a:lnTo>
                      <a:lnTo>
                        <a:pt x="60718" y="568895"/>
                      </a:lnTo>
                      <a:lnTo>
                        <a:pt x="0" y="5688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46" name="TextBox 154">
                  <a:extLst>
                    <a:ext uri="{FF2B5EF4-FFF2-40B4-BE49-F238E27FC236}">
                      <a16:creationId xmlns:a16="http://schemas.microsoft.com/office/drawing/2014/main" id="{6C9D790D-D694-852A-7D0F-4B0133750C99}"/>
                    </a:ext>
                  </a:extLst>
                </p:cNvPr>
                <p:cNvSpPr txBox="1"/>
                <p:nvPr/>
              </p:nvSpPr>
              <p:spPr>
                <a:xfrm>
                  <a:off x="3698016" y="5988157"/>
                  <a:ext cx="263590" cy="321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370" h="593508">
                      <a:moveTo>
                        <a:pt x="0" y="0"/>
                      </a:moveTo>
                      <a:lnTo>
                        <a:pt x="425653" y="445853"/>
                      </a:lnTo>
                      <a:lnTo>
                        <a:pt x="425653" y="23165"/>
                      </a:lnTo>
                      <a:lnTo>
                        <a:pt x="486370" y="23165"/>
                      </a:lnTo>
                      <a:lnTo>
                        <a:pt x="486370" y="593508"/>
                      </a:lnTo>
                      <a:lnTo>
                        <a:pt x="60716" y="148380"/>
                      </a:lnTo>
                      <a:lnTo>
                        <a:pt x="60716" y="568895"/>
                      </a:lnTo>
                      <a:lnTo>
                        <a:pt x="0" y="5688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47" name="TextBox 155">
                  <a:extLst>
                    <a:ext uri="{FF2B5EF4-FFF2-40B4-BE49-F238E27FC236}">
                      <a16:creationId xmlns:a16="http://schemas.microsoft.com/office/drawing/2014/main" id="{FE4939F3-4204-5FA5-7342-A23C6EE06CD5}"/>
                    </a:ext>
                  </a:extLst>
                </p:cNvPr>
                <p:cNvSpPr txBox="1"/>
                <p:nvPr/>
              </p:nvSpPr>
              <p:spPr>
                <a:xfrm>
                  <a:off x="3145453" y="5995611"/>
                  <a:ext cx="242405" cy="305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279" h="564553">
                      <a:moveTo>
                        <a:pt x="284402" y="1"/>
                      </a:moveTo>
                      <a:cubicBezTo>
                        <a:pt x="314760" y="-29"/>
                        <a:pt x="343445" y="4368"/>
                        <a:pt x="370455" y="13191"/>
                      </a:cubicBezTo>
                      <a:cubicBezTo>
                        <a:pt x="397465" y="22015"/>
                        <a:pt x="423074" y="35446"/>
                        <a:pt x="447279" y="53484"/>
                      </a:cubicBezTo>
                      <a:lnTo>
                        <a:pt x="447279" y="128780"/>
                      </a:lnTo>
                      <a:cubicBezTo>
                        <a:pt x="425276" y="106124"/>
                        <a:pt x="399970" y="88445"/>
                        <a:pt x="371360" y="75743"/>
                      </a:cubicBezTo>
                      <a:cubicBezTo>
                        <a:pt x="342751" y="63042"/>
                        <a:pt x="312559" y="56586"/>
                        <a:pt x="280782" y="56375"/>
                      </a:cubicBezTo>
                      <a:cubicBezTo>
                        <a:pt x="239780" y="56938"/>
                        <a:pt x="202744" y="67557"/>
                        <a:pt x="169677" y="88233"/>
                      </a:cubicBezTo>
                      <a:cubicBezTo>
                        <a:pt x="136610" y="108909"/>
                        <a:pt x="110300" y="136261"/>
                        <a:pt x="90745" y="170292"/>
                      </a:cubicBezTo>
                      <a:cubicBezTo>
                        <a:pt x="71191" y="204322"/>
                        <a:pt x="61182" y="241650"/>
                        <a:pt x="60717" y="282277"/>
                      </a:cubicBezTo>
                      <a:cubicBezTo>
                        <a:pt x="61186" y="322904"/>
                        <a:pt x="71267" y="360233"/>
                        <a:pt x="90960" y="394263"/>
                      </a:cubicBezTo>
                      <a:cubicBezTo>
                        <a:pt x="110653" y="428293"/>
                        <a:pt x="137142" y="455645"/>
                        <a:pt x="170428" y="476321"/>
                      </a:cubicBezTo>
                      <a:cubicBezTo>
                        <a:pt x="203714" y="496996"/>
                        <a:pt x="240981" y="507616"/>
                        <a:pt x="282230" y="508179"/>
                      </a:cubicBezTo>
                      <a:cubicBezTo>
                        <a:pt x="313313" y="507877"/>
                        <a:pt x="343083" y="501240"/>
                        <a:pt x="371541" y="488268"/>
                      </a:cubicBezTo>
                      <a:cubicBezTo>
                        <a:pt x="400000" y="475295"/>
                        <a:pt x="425245" y="457798"/>
                        <a:pt x="447279" y="435775"/>
                      </a:cubicBezTo>
                      <a:lnTo>
                        <a:pt x="447279" y="511070"/>
                      </a:lnTo>
                      <a:cubicBezTo>
                        <a:pt x="423526" y="528160"/>
                        <a:pt x="397737" y="541320"/>
                        <a:pt x="369913" y="550550"/>
                      </a:cubicBezTo>
                      <a:cubicBezTo>
                        <a:pt x="342087" y="559780"/>
                        <a:pt x="313584" y="564447"/>
                        <a:pt x="284402" y="564553"/>
                      </a:cubicBezTo>
                      <a:cubicBezTo>
                        <a:pt x="232350" y="563964"/>
                        <a:pt x="184929" y="551235"/>
                        <a:pt x="142139" y="526366"/>
                      </a:cubicBezTo>
                      <a:cubicBezTo>
                        <a:pt x="99350" y="501496"/>
                        <a:pt x="65126" y="468019"/>
                        <a:pt x="39469" y="425933"/>
                      </a:cubicBezTo>
                      <a:cubicBezTo>
                        <a:pt x="13812" y="383848"/>
                        <a:pt x="656" y="336687"/>
                        <a:pt x="0" y="284450"/>
                      </a:cubicBezTo>
                      <a:cubicBezTo>
                        <a:pt x="616" y="231703"/>
                        <a:pt x="13611" y="183951"/>
                        <a:pt x="38987" y="141195"/>
                      </a:cubicBezTo>
                      <a:cubicBezTo>
                        <a:pt x="64362" y="98439"/>
                        <a:pt x="98425" y="64372"/>
                        <a:pt x="141174" y="38993"/>
                      </a:cubicBezTo>
                      <a:cubicBezTo>
                        <a:pt x="183923" y="13614"/>
                        <a:pt x="231666" y="617"/>
                        <a:pt x="284402" y="1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48" name="TextBox 156">
                  <a:extLst>
                    <a:ext uri="{FF2B5EF4-FFF2-40B4-BE49-F238E27FC236}">
                      <a16:creationId xmlns:a16="http://schemas.microsoft.com/office/drawing/2014/main" id="{DDA802B3-FAAC-9B98-D365-D6CB25D912D9}"/>
                    </a:ext>
                  </a:extLst>
                </p:cNvPr>
                <p:cNvSpPr txBox="1"/>
                <p:nvPr/>
              </p:nvSpPr>
              <p:spPr>
                <a:xfrm>
                  <a:off x="3996933" y="5995612"/>
                  <a:ext cx="308314" cy="305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894" h="564552">
                      <a:moveTo>
                        <a:pt x="284446" y="0"/>
                      </a:moveTo>
                      <a:cubicBezTo>
                        <a:pt x="336965" y="598"/>
                        <a:pt x="384608" y="13470"/>
                        <a:pt x="427378" y="38617"/>
                      </a:cubicBezTo>
                      <a:cubicBezTo>
                        <a:pt x="470148" y="63763"/>
                        <a:pt x="504269" y="97598"/>
                        <a:pt x="529742" y="140122"/>
                      </a:cubicBezTo>
                      <a:cubicBezTo>
                        <a:pt x="555214" y="182645"/>
                        <a:pt x="568266" y="230272"/>
                        <a:pt x="568894" y="283000"/>
                      </a:cubicBezTo>
                      <a:cubicBezTo>
                        <a:pt x="568266" y="335939"/>
                        <a:pt x="555214" y="383547"/>
                        <a:pt x="529742" y="425825"/>
                      </a:cubicBezTo>
                      <a:cubicBezTo>
                        <a:pt x="504269" y="468103"/>
                        <a:pt x="470148" y="501652"/>
                        <a:pt x="427378" y="526472"/>
                      </a:cubicBezTo>
                      <a:cubicBezTo>
                        <a:pt x="384608" y="551292"/>
                        <a:pt x="336965" y="563985"/>
                        <a:pt x="284446" y="564552"/>
                      </a:cubicBezTo>
                      <a:cubicBezTo>
                        <a:pt x="231927" y="563985"/>
                        <a:pt x="184284" y="551292"/>
                        <a:pt x="141514" y="526472"/>
                      </a:cubicBezTo>
                      <a:cubicBezTo>
                        <a:pt x="98745" y="501652"/>
                        <a:pt x="64624" y="468103"/>
                        <a:pt x="39151" y="425825"/>
                      </a:cubicBezTo>
                      <a:cubicBezTo>
                        <a:pt x="13678" y="383547"/>
                        <a:pt x="628" y="335939"/>
                        <a:pt x="0" y="283000"/>
                      </a:cubicBezTo>
                      <a:cubicBezTo>
                        <a:pt x="628" y="230272"/>
                        <a:pt x="13678" y="182645"/>
                        <a:pt x="39151" y="140122"/>
                      </a:cubicBezTo>
                      <a:cubicBezTo>
                        <a:pt x="64624" y="97598"/>
                        <a:pt x="98745" y="63763"/>
                        <a:pt x="141514" y="38617"/>
                      </a:cubicBezTo>
                      <a:cubicBezTo>
                        <a:pt x="184284" y="13470"/>
                        <a:pt x="231927" y="598"/>
                        <a:pt x="284446" y="0"/>
                      </a:cubicBezTo>
                      <a:close/>
                      <a:moveTo>
                        <a:pt x="284446" y="56374"/>
                      </a:moveTo>
                      <a:cubicBezTo>
                        <a:pt x="242250" y="56870"/>
                        <a:pt x="204359" y="67221"/>
                        <a:pt x="170771" y="87427"/>
                      </a:cubicBezTo>
                      <a:cubicBezTo>
                        <a:pt x="137183" y="107634"/>
                        <a:pt x="110555" y="134719"/>
                        <a:pt x="90884" y="168682"/>
                      </a:cubicBezTo>
                      <a:cubicBezTo>
                        <a:pt x="71214" y="202645"/>
                        <a:pt x="61159" y="240510"/>
                        <a:pt x="60716" y="282276"/>
                      </a:cubicBezTo>
                      <a:cubicBezTo>
                        <a:pt x="61186" y="323815"/>
                        <a:pt x="71349" y="361572"/>
                        <a:pt x="91207" y="395549"/>
                      </a:cubicBezTo>
                      <a:cubicBezTo>
                        <a:pt x="111064" y="429525"/>
                        <a:pt x="137800" y="456664"/>
                        <a:pt x="171414" y="476964"/>
                      </a:cubicBezTo>
                      <a:cubicBezTo>
                        <a:pt x="205028" y="497264"/>
                        <a:pt x="242706" y="507668"/>
                        <a:pt x="284446" y="508178"/>
                      </a:cubicBezTo>
                      <a:cubicBezTo>
                        <a:pt x="326185" y="507668"/>
                        <a:pt x="363862" y="497264"/>
                        <a:pt x="397478" y="476964"/>
                      </a:cubicBezTo>
                      <a:cubicBezTo>
                        <a:pt x="431092" y="456664"/>
                        <a:pt x="457828" y="429525"/>
                        <a:pt x="477686" y="395549"/>
                      </a:cubicBezTo>
                      <a:cubicBezTo>
                        <a:pt x="497544" y="361572"/>
                        <a:pt x="507708" y="323815"/>
                        <a:pt x="508177" y="282276"/>
                      </a:cubicBezTo>
                      <a:cubicBezTo>
                        <a:pt x="507734" y="240510"/>
                        <a:pt x="497678" y="202645"/>
                        <a:pt x="478008" y="168682"/>
                      </a:cubicBezTo>
                      <a:cubicBezTo>
                        <a:pt x="458338" y="134719"/>
                        <a:pt x="431709" y="107634"/>
                        <a:pt x="398121" y="87427"/>
                      </a:cubicBezTo>
                      <a:cubicBezTo>
                        <a:pt x="364533" y="67221"/>
                        <a:pt x="326641" y="56870"/>
                        <a:pt x="284446" y="56374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50" name="TextBox 157">
                  <a:extLst>
                    <a:ext uri="{FF2B5EF4-FFF2-40B4-BE49-F238E27FC236}">
                      <a16:creationId xmlns:a16="http://schemas.microsoft.com/office/drawing/2014/main" id="{ADFA9CAA-D2D6-93D8-93F2-D1EC8C384432}"/>
                    </a:ext>
                  </a:extLst>
                </p:cNvPr>
                <p:cNvSpPr txBox="1"/>
                <p:nvPr/>
              </p:nvSpPr>
              <p:spPr>
                <a:xfrm>
                  <a:off x="4487331" y="5995612"/>
                  <a:ext cx="308315" cy="305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895" h="564552">
                      <a:moveTo>
                        <a:pt x="284447" y="0"/>
                      </a:moveTo>
                      <a:cubicBezTo>
                        <a:pt x="336966" y="598"/>
                        <a:pt x="384609" y="13470"/>
                        <a:pt x="427379" y="38617"/>
                      </a:cubicBezTo>
                      <a:cubicBezTo>
                        <a:pt x="470148" y="63763"/>
                        <a:pt x="504270" y="97598"/>
                        <a:pt x="529742" y="140122"/>
                      </a:cubicBezTo>
                      <a:cubicBezTo>
                        <a:pt x="555215" y="182645"/>
                        <a:pt x="568267" y="230272"/>
                        <a:pt x="568895" y="283000"/>
                      </a:cubicBezTo>
                      <a:cubicBezTo>
                        <a:pt x="568267" y="335939"/>
                        <a:pt x="555215" y="383547"/>
                        <a:pt x="529742" y="425825"/>
                      </a:cubicBezTo>
                      <a:cubicBezTo>
                        <a:pt x="504270" y="468103"/>
                        <a:pt x="470148" y="501652"/>
                        <a:pt x="427379" y="526472"/>
                      </a:cubicBezTo>
                      <a:cubicBezTo>
                        <a:pt x="384609" y="551292"/>
                        <a:pt x="336966" y="563985"/>
                        <a:pt x="284447" y="564552"/>
                      </a:cubicBezTo>
                      <a:cubicBezTo>
                        <a:pt x="231928" y="563985"/>
                        <a:pt x="184284" y="551292"/>
                        <a:pt x="141515" y="526472"/>
                      </a:cubicBezTo>
                      <a:cubicBezTo>
                        <a:pt x="98746" y="501652"/>
                        <a:pt x="64625" y="468103"/>
                        <a:pt x="39152" y="425825"/>
                      </a:cubicBezTo>
                      <a:cubicBezTo>
                        <a:pt x="13680" y="383547"/>
                        <a:pt x="630" y="335939"/>
                        <a:pt x="0" y="283000"/>
                      </a:cubicBezTo>
                      <a:cubicBezTo>
                        <a:pt x="630" y="230272"/>
                        <a:pt x="13680" y="182645"/>
                        <a:pt x="39152" y="140122"/>
                      </a:cubicBezTo>
                      <a:cubicBezTo>
                        <a:pt x="64625" y="97598"/>
                        <a:pt x="98746" y="63763"/>
                        <a:pt x="141515" y="38617"/>
                      </a:cubicBezTo>
                      <a:cubicBezTo>
                        <a:pt x="184284" y="13470"/>
                        <a:pt x="231928" y="598"/>
                        <a:pt x="284447" y="0"/>
                      </a:cubicBezTo>
                      <a:close/>
                      <a:moveTo>
                        <a:pt x="284447" y="56374"/>
                      </a:moveTo>
                      <a:cubicBezTo>
                        <a:pt x="242251" y="56870"/>
                        <a:pt x="204360" y="67221"/>
                        <a:pt x="170772" y="87427"/>
                      </a:cubicBezTo>
                      <a:cubicBezTo>
                        <a:pt x="137184" y="107634"/>
                        <a:pt x="110556" y="134719"/>
                        <a:pt x="90885" y="168682"/>
                      </a:cubicBezTo>
                      <a:cubicBezTo>
                        <a:pt x="71216" y="202645"/>
                        <a:pt x="61160" y="240510"/>
                        <a:pt x="60717" y="282276"/>
                      </a:cubicBezTo>
                      <a:cubicBezTo>
                        <a:pt x="61187" y="323815"/>
                        <a:pt x="71350" y="361572"/>
                        <a:pt x="91208" y="395549"/>
                      </a:cubicBezTo>
                      <a:cubicBezTo>
                        <a:pt x="111065" y="429525"/>
                        <a:pt x="137801" y="456664"/>
                        <a:pt x="171415" y="476964"/>
                      </a:cubicBezTo>
                      <a:cubicBezTo>
                        <a:pt x="205030" y="497264"/>
                        <a:pt x="242708" y="507668"/>
                        <a:pt x="284447" y="508178"/>
                      </a:cubicBezTo>
                      <a:cubicBezTo>
                        <a:pt x="326186" y="507668"/>
                        <a:pt x="363864" y="497264"/>
                        <a:pt x="397478" y="476964"/>
                      </a:cubicBezTo>
                      <a:cubicBezTo>
                        <a:pt x="431093" y="456664"/>
                        <a:pt x="457829" y="429525"/>
                        <a:pt x="477687" y="395549"/>
                      </a:cubicBezTo>
                      <a:cubicBezTo>
                        <a:pt x="497545" y="361572"/>
                        <a:pt x="507708" y="323815"/>
                        <a:pt x="508178" y="282276"/>
                      </a:cubicBezTo>
                      <a:cubicBezTo>
                        <a:pt x="507736" y="240510"/>
                        <a:pt x="497679" y="202645"/>
                        <a:pt x="478009" y="168682"/>
                      </a:cubicBezTo>
                      <a:cubicBezTo>
                        <a:pt x="458339" y="134719"/>
                        <a:pt x="431710" y="107634"/>
                        <a:pt x="398122" y="87427"/>
                      </a:cubicBezTo>
                      <a:cubicBezTo>
                        <a:pt x="364534" y="67221"/>
                        <a:pt x="326642" y="56870"/>
                        <a:pt x="284447" y="56374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51" name="TextBox 158">
                  <a:extLst>
                    <a:ext uri="{FF2B5EF4-FFF2-40B4-BE49-F238E27FC236}">
                      <a16:creationId xmlns:a16="http://schemas.microsoft.com/office/drawing/2014/main" id="{8358BF63-3B25-1944-C13B-28F977404EB3}"/>
                    </a:ext>
                  </a:extLst>
                </p:cNvPr>
                <p:cNvSpPr txBox="1"/>
                <p:nvPr/>
              </p:nvSpPr>
              <p:spPr>
                <a:xfrm>
                  <a:off x="4820514" y="5995612"/>
                  <a:ext cx="292410" cy="305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550" h="564552">
                      <a:moveTo>
                        <a:pt x="284449" y="0"/>
                      </a:moveTo>
                      <a:cubicBezTo>
                        <a:pt x="332269" y="208"/>
                        <a:pt x="375468" y="10452"/>
                        <a:pt x="414047" y="30732"/>
                      </a:cubicBezTo>
                      <a:cubicBezTo>
                        <a:pt x="452627" y="51012"/>
                        <a:pt x="486398" y="80078"/>
                        <a:pt x="515360" y="117931"/>
                      </a:cubicBezTo>
                      <a:lnTo>
                        <a:pt x="471256" y="159210"/>
                      </a:lnTo>
                      <a:cubicBezTo>
                        <a:pt x="448509" y="126727"/>
                        <a:pt x="421598" y="101531"/>
                        <a:pt x="390524" y="83622"/>
                      </a:cubicBezTo>
                      <a:cubicBezTo>
                        <a:pt x="359450" y="65713"/>
                        <a:pt x="323851" y="56630"/>
                        <a:pt x="283726" y="56374"/>
                      </a:cubicBezTo>
                      <a:cubicBezTo>
                        <a:pt x="241767" y="56910"/>
                        <a:pt x="204044" y="67505"/>
                        <a:pt x="170558" y="88158"/>
                      </a:cubicBezTo>
                      <a:cubicBezTo>
                        <a:pt x="137073" y="108810"/>
                        <a:pt x="110507" y="136302"/>
                        <a:pt x="90860" y="170633"/>
                      </a:cubicBezTo>
                      <a:cubicBezTo>
                        <a:pt x="71211" y="204964"/>
                        <a:pt x="61164" y="242916"/>
                        <a:pt x="60717" y="284487"/>
                      </a:cubicBezTo>
                      <a:cubicBezTo>
                        <a:pt x="60838" y="313630"/>
                        <a:pt x="66389" y="341392"/>
                        <a:pt x="77370" y="367771"/>
                      </a:cubicBezTo>
                      <a:cubicBezTo>
                        <a:pt x="88352" y="394150"/>
                        <a:pt x="104040" y="417776"/>
                        <a:pt x="124434" y="438646"/>
                      </a:cubicBezTo>
                      <a:cubicBezTo>
                        <a:pt x="144738" y="458972"/>
                        <a:pt x="168390" y="475540"/>
                        <a:pt x="195391" y="488351"/>
                      </a:cubicBezTo>
                      <a:cubicBezTo>
                        <a:pt x="222392" y="501161"/>
                        <a:pt x="250389" y="507771"/>
                        <a:pt x="279382" y="508178"/>
                      </a:cubicBezTo>
                      <a:cubicBezTo>
                        <a:pt x="311647" y="507945"/>
                        <a:pt x="342531" y="500685"/>
                        <a:pt x="372034" y="486396"/>
                      </a:cubicBezTo>
                      <a:cubicBezTo>
                        <a:pt x="401538" y="472107"/>
                        <a:pt x="425771" y="452184"/>
                        <a:pt x="444736" y="426629"/>
                      </a:cubicBezTo>
                      <a:cubicBezTo>
                        <a:pt x="463700" y="401073"/>
                        <a:pt x="473507" y="371279"/>
                        <a:pt x="474155" y="337247"/>
                      </a:cubicBezTo>
                      <a:lnTo>
                        <a:pt x="311964" y="337247"/>
                      </a:lnTo>
                      <a:lnTo>
                        <a:pt x="311964" y="280873"/>
                      </a:lnTo>
                      <a:lnTo>
                        <a:pt x="539215" y="280873"/>
                      </a:lnTo>
                      <a:cubicBezTo>
                        <a:pt x="540616" y="317543"/>
                        <a:pt x="537635" y="351609"/>
                        <a:pt x="530269" y="383073"/>
                      </a:cubicBezTo>
                      <a:cubicBezTo>
                        <a:pt x="522905" y="414536"/>
                        <a:pt x="507091" y="444649"/>
                        <a:pt x="482829" y="473412"/>
                      </a:cubicBezTo>
                      <a:cubicBezTo>
                        <a:pt x="457312" y="502538"/>
                        <a:pt x="426905" y="524965"/>
                        <a:pt x="391609" y="540692"/>
                      </a:cubicBezTo>
                      <a:cubicBezTo>
                        <a:pt x="356312" y="556419"/>
                        <a:pt x="319386" y="564373"/>
                        <a:pt x="280829" y="564552"/>
                      </a:cubicBezTo>
                      <a:cubicBezTo>
                        <a:pt x="229039" y="563927"/>
                        <a:pt x="182028" y="551026"/>
                        <a:pt x="139800" y="525851"/>
                      </a:cubicBezTo>
                      <a:cubicBezTo>
                        <a:pt x="97571" y="500676"/>
                        <a:pt x="63870" y="466977"/>
                        <a:pt x="38696" y="424754"/>
                      </a:cubicBezTo>
                      <a:cubicBezTo>
                        <a:pt x="13523" y="382530"/>
                        <a:pt x="624" y="335534"/>
                        <a:pt x="0" y="283764"/>
                      </a:cubicBezTo>
                      <a:cubicBezTo>
                        <a:pt x="602" y="231018"/>
                        <a:pt x="13546" y="183322"/>
                        <a:pt x="38831" y="140676"/>
                      </a:cubicBezTo>
                      <a:cubicBezTo>
                        <a:pt x="64115" y="98031"/>
                        <a:pt x="98129" y="64075"/>
                        <a:pt x="140872" y="38809"/>
                      </a:cubicBezTo>
                      <a:cubicBezTo>
                        <a:pt x="183616" y="13543"/>
                        <a:pt x="231474" y="607"/>
                        <a:pt x="284449" y="0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52" name="TextBox 159">
                  <a:extLst>
                    <a:ext uri="{FF2B5EF4-FFF2-40B4-BE49-F238E27FC236}">
                      <a16:creationId xmlns:a16="http://schemas.microsoft.com/office/drawing/2014/main" id="{ABF84C9D-7DF7-0BF0-C766-A79E2B7CF21B}"/>
                    </a:ext>
                  </a:extLst>
                </p:cNvPr>
                <p:cNvSpPr txBox="1"/>
                <p:nvPr/>
              </p:nvSpPr>
              <p:spPr>
                <a:xfrm>
                  <a:off x="2374780" y="6000671"/>
                  <a:ext cx="220043" cy="295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018" h="545891">
                      <a:moveTo>
                        <a:pt x="0" y="76"/>
                      </a:moveTo>
                      <a:lnTo>
                        <a:pt x="102717" y="76"/>
                      </a:lnTo>
                      <a:cubicBezTo>
                        <a:pt x="143359" y="-617"/>
                        <a:pt x="181013" y="3479"/>
                        <a:pt x="215681" y="12364"/>
                      </a:cubicBezTo>
                      <a:cubicBezTo>
                        <a:pt x="250349" y="21250"/>
                        <a:pt x="283659" y="39081"/>
                        <a:pt x="315612" y="65860"/>
                      </a:cubicBezTo>
                      <a:cubicBezTo>
                        <a:pt x="346598" y="92892"/>
                        <a:pt x="369443" y="124086"/>
                        <a:pt x="384146" y="159444"/>
                      </a:cubicBezTo>
                      <a:cubicBezTo>
                        <a:pt x="398848" y="194802"/>
                        <a:pt x="406139" y="232876"/>
                        <a:pt x="406017" y="273664"/>
                      </a:cubicBezTo>
                      <a:cubicBezTo>
                        <a:pt x="406064" y="313638"/>
                        <a:pt x="398743" y="350806"/>
                        <a:pt x="384055" y="385168"/>
                      </a:cubicBezTo>
                      <a:cubicBezTo>
                        <a:pt x="369368" y="419531"/>
                        <a:pt x="347036" y="450182"/>
                        <a:pt x="317060" y="477123"/>
                      </a:cubicBezTo>
                      <a:cubicBezTo>
                        <a:pt x="284897" y="505291"/>
                        <a:pt x="251466" y="523968"/>
                        <a:pt x="216767" y="533155"/>
                      </a:cubicBezTo>
                      <a:cubicBezTo>
                        <a:pt x="182070" y="542342"/>
                        <a:pt x="143570" y="546559"/>
                        <a:pt x="101269" y="545806"/>
                      </a:cubicBezTo>
                      <a:lnTo>
                        <a:pt x="0" y="545806"/>
                      </a:lnTo>
                      <a:lnTo>
                        <a:pt x="0" y="76"/>
                      </a:lnTo>
                      <a:close/>
                      <a:moveTo>
                        <a:pt x="60717" y="56450"/>
                      </a:moveTo>
                      <a:lnTo>
                        <a:pt x="60717" y="489432"/>
                      </a:lnTo>
                      <a:lnTo>
                        <a:pt x="104889" y="489432"/>
                      </a:lnTo>
                      <a:cubicBezTo>
                        <a:pt x="138093" y="490020"/>
                        <a:pt x="168899" y="486491"/>
                        <a:pt x="197307" y="478843"/>
                      </a:cubicBezTo>
                      <a:cubicBezTo>
                        <a:pt x="225714" y="471195"/>
                        <a:pt x="252356" y="455899"/>
                        <a:pt x="277233" y="432956"/>
                      </a:cubicBezTo>
                      <a:cubicBezTo>
                        <a:pt x="299711" y="411717"/>
                        <a:pt x="316668" y="387401"/>
                        <a:pt x="328102" y="360007"/>
                      </a:cubicBezTo>
                      <a:cubicBezTo>
                        <a:pt x="339537" y="332614"/>
                        <a:pt x="345271" y="303592"/>
                        <a:pt x="345300" y="272940"/>
                      </a:cubicBezTo>
                      <a:cubicBezTo>
                        <a:pt x="345285" y="241459"/>
                        <a:pt x="339341" y="211561"/>
                        <a:pt x="327469" y="183248"/>
                      </a:cubicBezTo>
                      <a:cubicBezTo>
                        <a:pt x="315597" y="154934"/>
                        <a:pt x="297885" y="130286"/>
                        <a:pt x="274336" y="109304"/>
                      </a:cubicBezTo>
                      <a:cubicBezTo>
                        <a:pt x="249444" y="87778"/>
                        <a:pt x="223013" y="73448"/>
                        <a:pt x="195044" y="66314"/>
                      </a:cubicBezTo>
                      <a:cubicBezTo>
                        <a:pt x="167074" y="59179"/>
                        <a:pt x="137023" y="55891"/>
                        <a:pt x="104889" y="56450"/>
                      </a:cubicBezTo>
                      <a:lnTo>
                        <a:pt x="60717" y="5645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53" name="TextBox 160">
                  <a:extLst>
                    <a:ext uri="{FF2B5EF4-FFF2-40B4-BE49-F238E27FC236}">
                      <a16:creationId xmlns:a16="http://schemas.microsoft.com/office/drawing/2014/main" id="{E470C72B-266E-BA4F-9AAA-AD86999F5451}"/>
                    </a:ext>
                  </a:extLst>
                </p:cNvPr>
                <p:cNvSpPr txBox="1"/>
                <p:nvPr/>
              </p:nvSpPr>
              <p:spPr>
                <a:xfrm>
                  <a:off x="2736259" y="6000712"/>
                  <a:ext cx="176496" cy="295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665" h="545730">
                      <a:moveTo>
                        <a:pt x="0" y="0"/>
                      </a:moveTo>
                      <a:lnTo>
                        <a:pt x="325665" y="0"/>
                      </a:lnTo>
                      <a:lnTo>
                        <a:pt x="325665" y="56374"/>
                      </a:lnTo>
                      <a:lnTo>
                        <a:pt x="192467" y="56374"/>
                      </a:lnTo>
                      <a:lnTo>
                        <a:pt x="192467" y="545730"/>
                      </a:lnTo>
                      <a:lnTo>
                        <a:pt x="131750" y="545730"/>
                      </a:lnTo>
                      <a:lnTo>
                        <a:pt x="131750" y="56374"/>
                      </a:lnTo>
                      <a:lnTo>
                        <a:pt x="0" y="563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54" name="TextBox 161">
                  <a:extLst>
                    <a:ext uri="{FF2B5EF4-FFF2-40B4-BE49-F238E27FC236}">
                      <a16:creationId xmlns:a16="http://schemas.microsoft.com/office/drawing/2014/main" id="{9B106F3A-B4C9-B731-13D2-68A5F4F0F4C9}"/>
                    </a:ext>
                  </a:extLst>
                </p:cNvPr>
                <p:cNvSpPr txBox="1"/>
                <p:nvPr/>
              </p:nvSpPr>
              <p:spPr>
                <a:xfrm>
                  <a:off x="2950676" y="6000712"/>
                  <a:ext cx="153347" cy="295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954" h="545730">
                      <a:moveTo>
                        <a:pt x="0" y="0"/>
                      </a:moveTo>
                      <a:lnTo>
                        <a:pt x="282954" y="0"/>
                      </a:lnTo>
                      <a:lnTo>
                        <a:pt x="282954" y="56374"/>
                      </a:lnTo>
                      <a:lnTo>
                        <a:pt x="60716" y="56374"/>
                      </a:lnTo>
                      <a:lnTo>
                        <a:pt x="60716" y="218618"/>
                      </a:lnTo>
                      <a:lnTo>
                        <a:pt x="276439" y="218618"/>
                      </a:lnTo>
                      <a:lnTo>
                        <a:pt x="276439" y="274991"/>
                      </a:lnTo>
                      <a:lnTo>
                        <a:pt x="60716" y="274991"/>
                      </a:lnTo>
                      <a:lnTo>
                        <a:pt x="60716" y="489356"/>
                      </a:lnTo>
                      <a:lnTo>
                        <a:pt x="282954" y="489356"/>
                      </a:lnTo>
                      <a:lnTo>
                        <a:pt x="282954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55" name="TextBox 162">
                  <a:extLst>
                    <a:ext uri="{FF2B5EF4-FFF2-40B4-BE49-F238E27FC236}">
                      <a16:creationId xmlns:a16="http://schemas.microsoft.com/office/drawing/2014/main" id="{B10CEB14-1061-EE1E-758D-221AD776C0A1}"/>
                    </a:ext>
                  </a:extLst>
                </p:cNvPr>
                <p:cNvSpPr txBox="1"/>
                <p:nvPr/>
              </p:nvSpPr>
              <p:spPr>
                <a:xfrm>
                  <a:off x="3425154" y="6000712"/>
                  <a:ext cx="217296" cy="295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950" h="545730">
                      <a:moveTo>
                        <a:pt x="0" y="0"/>
                      </a:moveTo>
                      <a:lnTo>
                        <a:pt x="60717" y="0"/>
                      </a:lnTo>
                      <a:lnTo>
                        <a:pt x="60717" y="221513"/>
                      </a:lnTo>
                      <a:lnTo>
                        <a:pt x="340233" y="221513"/>
                      </a:lnTo>
                      <a:lnTo>
                        <a:pt x="340233" y="0"/>
                      </a:lnTo>
                      <a:lnTo>
                        <a:pt x="400950" y="0"/>
                      </a:lnTo>
                      <a:lnTo>
                        <a:pt x="400950" y="545730"/>
                      </a:lnTo>
                      <a:lnTo>
                        <a:pt x="340233" y="545730"/>
                      </a:lnTo>
                      <a:lnTo>
                        <a:pt x="340233" y="277887"/>
                      </a:lnTo>
                      <a:lnTo>
                        <a:pt x="60717" y="277887"/>
                      </a:lnTo>
                      <a:lnTo>
                        <a:pt x="60717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56" name="TextBox 163">
                  <a:extLst>
                    <a:ext uri="{FF2B5EF4-FFF2-40B4-BE49-F238E27FC236}">
                      <a16:creationId xmlns:a16="http://schemas.microsoft.com/office/drawing/2014/main" id="{4899F96B-46EB-206C-7D4B-4CA2B1718A66}"/>
                    </a:ext>
                  </a:extLst>
                </p:cNvPr>
                <p:cNvSpPr txBox="1"/>
                <p:nvPr/>
              </p:nvSpPr>
              <p:spPr>
                <a:xfrm>
                  <a:off x="4352539" y="6000712"/>
                  <a:ext cx="114508" cy="295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88" h="545730">
                      <a:moveTo>
                        <a:pt x="0" y="0"/>
                      </a:moveTo>
                      <a:lnTo>
                        <a:pt x="60717" y="0"/>
                      </a:lnTo>
                      <a:lnTo>
                        <a:pt x="60717" y="489356"/>
                      </a:lnTo>
                      <a:lnTo>
                        <a:pt x="211288" y="489356"/>
                      </a:lnTo>
                      <a:lnTo>
                        <a:pt x="211288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57" name="TextBox 164">
                  <a:extLst>
                    <a:ext uri="{FF2B5EF4-FFF2-40B4-BE49-F238E27FC236}">
                      <a16:creationId xmlns:a16="http://schemas.microsoft.com/office/drawing/2014/main" id="{2EC87917-10C9-EE1F-21DA-E87782279837}"/>
                    </a:ext>
                  </a:extLst>
                </p:cNvPr>
                <p:cNvSpPr txBox="1"/>
                <p:nvPr/>
              </p:nvSpPr>
              <p:spPr>
                <a:xfrm>
                  <a:off x="5131150" y="6000712"/>
                  <a:ext cx="226712" cy="295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324" h="545730">
                      <a:moveTo>
                        <a:pt x="0" y="0"/>
                      </a:moveTo>
                      <a:lnTo>
                        <a:pt x="70218" y="0"/>
                      </a:lnTo>
                      <a:lnTo>
                        <a:pt x="209162" y="243191"/>
                      </a:lnTo>
                      <a:lnTo>
                        <a:pt x="348106" y="0"/>
                      </a:lnTo>
                      <a:lnTo>
                        <a:pt x="418324" y="0"/>
                      </a:lnTo>
                      <a:lnTo>
                        <a:pt x="239521" y="311226"/>
                      </a:lnTo>
                      <a:lnTo>
                        <a:pt x="239521" y="545730"/>
                      </a:lnTo>
                      <a:lnTo>
                        <a:pt x="178804" y="545730"/>
                      </a:lnTo>
                      <a:lnTo>
                        <a:pt x="178804" y="3112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</p:grpSp>
          <p:grpSp>
            <p:nvGrpSpPr>
              <p:cNvPr id="216" name="Group 125">
                <a:extLst>
                  <a:ext uri="{FF2B5EF4-FFF2-40B4-BE49-F238E27FC236}">
                    <a16:creationId xmlns:a16="http://schemas.microsoft.com/office/drawing/2014/main" id="{4590C21B-47A6-A0AD-41AE-AAB6AFD2E2A0}"/>
                  </a:ext>
                </a:extLst>
              </p:cNvPr>
              <p:cNvGrpSpPr/>
              <p:nvPr/>
            </p:nvGrpSpPr>
            <p:grpSpPr>
              <a:xfrm>
                <a:off x="2303346" y="1656837"/>
                <a:ext cx="3036409" cy="224867"/>
                <a:chOff x="1773650" y="5511077"/>
                <a:chExt cx="4402265" cy="326019"/>
              </a:xfrm>
            </p:grpSpPr>
            <p:sp>
              <p:nvSpPr>
                <p:cNvPr id="223" name="TextBox 133">
                  <a:extLst>
                    <a:ext uri="{FF2B5EF4-FFF2-40B4-BE49-F238E27FC236}">
                      <a16:creationId xmlns:a16="http://schemas.microsoft.com/office/drawing/2014/main" id="{2C7DB72E-0515-29C1-B13F-179EFC3A579B}"/>
                    </a:ext>
                  </a:extLst>
                </p:cNvPr>
                <p:cNvSpPr txBox="1"/>
                <p:nvPr/>
              </p:nvSpPr>
              <p:spPr>
                <a:xfrm>
                  <a:off x="5432224" y="5511077"/>
                  <a:ext cx="263590" cy="321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370" h="593508">
                      <a:moveTo>
                        <a:pt x="0" y="0"/>
                      </a:moveTo>
                      <a:lnTo>
                        <a:pt x="425653" y="445853"/>
                      </a:lnTo>
                      <a:lnTo>
                        <a:pt x="425653" y="23165"/>
                      </a:lnTo>
                      <a:lnTo>
                        <a:pt x="486370" y="23165"/>
                      </a:lnTo>
                      <a:lnTo>
                        <a:pt x="486370" y="593508"/>
                      </a:lnTo>
                      <a:lnTo>
                        <a:pt x="60717" y="148380"/>
                      </a:lnTo>
                      <a:lnTo>
                        <a:pt x="60717" y="568895"/>
                      </a:lnTo>
                      <a:lnTo>
                        <a:pt x="0" y="5688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24" name="TextBox 134">
                  <a:extLst>
                    <a:ext uri="{FF2B5EF4-FFF2-40B4-BE49-F238E27FC236}">
                      <a16:creationId xmlns:a16="http://schemas.microsoft.com/office/drawing/2014/main" id="{1DC35F94-D9BB-3CCB-3069-C2B9E42D76DE}"/>
                    </a:ext>
                  </a:extLst>
                </p:cNvPr>
                <p:cNvSpPr txBox="1"/>
                <p:nvPr/>
              </p:nvSpPr>
              <p:spPr>
                <a:xfrm>
                  <a:off x="4628581" y="5518531"/>
                  <a:ext cx="185126" cy="305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590" h="564552">
                      <a:moveTo>
                        <a:pt x="180928" y="0"/>
                      </a:moveTo>
                      <a:cubicBezTo>
                        <a:pt x="211617" y="180"/>
                        <a:pt x="239132" y="7590"/>
                        <a:pt x="263472" y="22231"/>
                      </a:cubicBezTo>
                      <a:cubicBezTo>
                        <a:pt x="287811" y="36872"/>
                        <a:pt x="307345" y="57666"/>
                        <a:pt x="322073" y="84612"/>
                      </a:cubicBezTo>
                      <a:lnTo>
                        <a:pt x="273631" y="115746"/>
                      </a:lnTo>
                      <a:cubicBezTo>
                        <a:pt x="263099" y="96800"/>
                        <a:pt x="250485" y="82199"/>
                        <a:pt x="235789" y="71941"/>
                      </a:cubicBezTo>
                      <a:cubicBezTo>
                        <a:pt x="221093" y="61684"/>
                        <a:pt x="202323" y="56495"/>
                        <a:pt x="179479" y="56374"/>
                      </a:cubicBezTo>
                      <a:cubicBezTo>
                        <a:pt x="154478" y="56781"/>
                        <a:pt x="133324" y="64655"/>
                        <a:pt x="116017" y="79996"/>
                      </a:cubicBezTo>
                      <a:cubicBezTo>
                        <a:pt x="98711" y="95337"/>
                        <a:pt x="89688" y="115701"/>
                        <a:pt x="88949" y="141088"/>
                      </a:cubicBezTo>
                      <a:cubicBezTo>
                        <a:pt x="89320" y="156650"/>
                        <a:pt x="93969" y="169772"/>
                        <a:pt x="102897" y="180454"/>
                      </a:cubicBezTo>
                      <a:cubicBezTo>
                        <a:pt x="111825" y="191136"/>
                        <a:pt x="122805" y="200129"/>
                        <a:pt x="135837" y="207432"/>
                      </a:cubicBezTo>
                      <a:cubicBezTo>
                        <a:pt x="148869" y="214735"/>
                        <a:pt x="161726" y="221099"/>
                        <a:pt x="174409" y="226525"/>
                      </a:cubicBezTo>
                      <a:lnTo>
                        <a:pt x="210622" y="242454"/>
                      </a:lnTo>
                      <a:cubicBezTo>
                        <a:pt x="247130" y="257040"/>
                        <a:pt x="277830" y="275654"/>
                        <a:pt x="302721" y="298296"/>
                      </a:cubicBezTo>
                      <a:cubicBezTo>
                        <a:pt x="327613" y="320937"/>
                        <a:pt x="340569" y="353489"/>
                        <a:pt x="341590" y="395951"/>
                      </a:cubicBezTo>
                      <a:cubicBezTo>
                        <a:pt x="341229" y="428121"/>
                        <a:pt x="333434" y="456850"/>
                        <a:pt x="318204" y="482140"/>
                      </a:cubicBezTo>
                      <a:cubicBezTo>
                        <a:pt x="302973" y="507429"/>
                        <a:pt x="282473" y="527409"/>
                        <a:pt x="256701" y="542079"/>
                      </a:cubicBezTo>
                      <a:cubicBezTo>
                        <a:pt x="230929" y="556749"/>
                        <a:pt x="202050" y="564240"/>
                        <a:pt x="170064" y="564552"/>
                      </a:cubicBezTo>
                      <a:cubicBezTo>
                        <a:pt x="125730" y="563968"/>
                        <a:pt x="88605" y="551042"/>
                        <a:pt x="58689" y="525776"/>
                      </a:cubicBezTo>
                      <a:cubicBezTo>
                        <a:pt x="28774" y="500509"/>
                        <a:pt x="9210" y="466405"/>
                        <a:pt x="0" y="423465"/>
                      </a:cubicBezTo>
                      <a:lnTo>
                        <a:pt x="59313" y="406812"/>
                      </a:lnTo>
                      <a:cubicBezTo>
                        <a:pt x="63679" y="435427"/>
                        <a:pt x="75557" y="459290"/>
                        <a:pt x="94947" y="478402"/>
                      </a:cubicBezTo>
                      <a:cubicBezTo>
                        <a:pt x="114337" y="497513"/>
                        <a:pt x="138893" y="507439"/>
                        <a:pt x="168616" y="508178"/>
                      </a:cubicBezTo>
                      <a:cubicBezTo>
                        <a:pt x="198958" y="507590"/>
                        <a:pt x="225001" y="497544"/>
                        <a:pt x="246743" y="478040"/>
                      </a:cubicBezTo>
                      <a:cubicBezTo>
                        <a:pt x="268485" y="458536"/>
                        <a:pt x="279862" y="433104"/>
                        <a:pt x="280873" y="401744"/>
                      </a:cubicBezTo>
                      <a:cubicBezTo>
                        <a:pt x="279847" y="370791"/>
                        <a:pt x="269406" y="347621"/>
                        <a:pt x="249550" y="332235"/>
                      </a:cubicBezTo>
                      <a:cubicBezTo>
                        <a:pt x="229693" y="316849"/>
                        <a:pt x="206578" y="303817"/>
                        <a:pt x="180204" y="293137"/>
                      </a:cubicBezTo>
                      <a:lnTo>
                        <a:pt x="146888" y="278656"/>
                      </a:lnTo>
                      <a:cubicBezTo>
                        <a:pt x="114066" y="265050"/>
                        <a:pt x="86324" y="247914"/>
                        <a:pt x="63664" y="227249"/>
                      </a:cubicBezTo>
                      <a:cubicBezTo>
                        <a:pt x="41004" y="206584"/>
                        <a:pt x="29193" y="177139"/>
                        <a:pt x="28232" y="138916"/>
                      </a:cubicBezTo>
                      <a:cubicBezTo>
                        <a:pt x="28615" y="110533"/>
                        <a:pt x="35802" y="85978"/>
                        <a:pt x="49794" y="65252"/>
                      </a:cubicBezTo>
                      <a:cubicBezTo>
                        <a:pt x="63786" y="44525"/>
                        <a:pt x="82284" y="28505"/>
                        <a:pt x="105289" y="17191"/>
                      </a:cubicBezTo>
                      <a:cubicBezTo>
                        <a:pt x="128293" y="5877"/>
                        <a:pt x="153506" y="146"/>
                        <a:pt x="180928" y="0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25" name="TextBox 135">
                  <a:extLst>
                    <a:ext uri="{FF2B5EF4-FFF2-40B4-BE49-F238E27FC236}">
                      <a16:creationId xmlns:a16="http://schemas.microsoft.com/office/drawing/2014/main" id="{9FA31F15-BE21-08F8-A0B4-6A77344AB4DD}"/>
                    </a:ext>
                  </a:extLst>
                </p:cNvPr>
                <p:cNvSpPr txBox="1"/>
                <p:nvPr/>
              </p:nvSpPr>
              <p:spPr>
                <a:xfrm>
                  <a:off x="4848929" y="5518530"/>
                  <a:ext cx="242405" cy="305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280" h="564553">
                      <a:moveTo>
                        <a:pt x="284403" y="1"/>
                      </a:moveTo>
                      <a:cubicBezTo>
                        <a:pt x="314761" y="-29"/>
                        <a:pt x="343446" y="4368"/>
                        <a:pt x="370456" y="13191"/>
                      </a:cubicBezTo>
                      <a:cubicBezTo>
                        <a:pt x="397467" y="22015"/>
                        <a:pt x="423075" y="35446"/>
                        <a:pt x="447280" y="53484"/>
                      </a:cubicBezTo>
                      <a:lnTo>
                        <a:pt x="447280" y="128780"/>
                      </a:lnTo>
                      <a:cubicBezTo>
                        <a:pt x="425277" y="106124"/>
                        <a:pt x="399970" y="88445"/>
                        <a:pt x="371361" y="75743"/>
                      </a:cubicBezTo>
                      <a:cubicBezTo>
                        <a:pt x="342752" y="63042"/>
                        <a:pt x="312559" y="56586"/>
                        <a:pt x="280783" y="56375"/>
                      </a:cubicBezTo>
                      <a:cubicBezTo>
                        <a:pt x="239780" y="56938"/>
                        <a:pt x="202745" y="67557"/>
                        <a:pt x="169678" y="88233"/>
                      </a:cubicBezTo>
                      <a:cubicBezTo>
                        <a:pt x="136611" y="108909"/>
                        <a:pt x="110300" y="136261"/>
                        <a:pt x="90746" y="170292"/>
                      </a:cubicBezTo>
                      <a:cubicBezTo>
                        <a:pt x="71192" y="204322"/>
                        <a:pt x="61182" y="241650"/>
                        <a:pt x="60718" y="282277"/>
                      </a:cubicBezTo>
                      <a:cubicBezTo>
                        <a:pt x="61187" y="322904"/>
                        <a:pt x="71268" y="360233"/>
                        <a:pt x="90961" y="394263"/>
                      </a:cubicBezTo>
                      <a:cubicBezTo>
                        <a:pt x="110653" y="428293"/>
                        <a:pt x="137143" y="455645"/>
                        <a:pt x="170429" y="476321"/>
                      </a:cubicBezTo>
                      <a:cubicBezTo>
                        <a:pt x="203714" y="496996"/>
                        <a:pt x="240982" y="507616"/>
                        <a:pt x="282231" y="508179"/>
                      </a:cubicBezTo>
                      <a:cubicBezTo>
                        <a:pt x="313313" y="507877"/>
                        <a:pt x="343084" y="501240"/>
                        <a:pt x="371542" y="488268"/>
                      </a:cubicBezTo>
                      <a:cubicBezTo>
                        <a:pt x="400000" y="475295"/>
                        <a:pt x="425246" y="457798"/>
                        <a:pt x="447280" y="435775"/>
                      </a:cubicBezTo>
                      <a:lnTo>
                        <a:pt x="447280" y="511070"/>
                      </a:lnTo>
                      <a:cubicBezTo>
                        <a:pt x="423527" y="528160"/>
                        <a:pt x="397738" y="541320"/>
                        <a:pt x="369913" y="550550"/>
                      </a:cubicBezTo>
                      <a:cubicBezTo>
                        <a:pt x="342088" y="559780"/>
                        <a:pt x="313585" y="564447"/>
                        <a:pt x="284403" y="564553"/>
                      </a:cubicBezTo>
                      <a:cubicBezTo>
                        <a:pt x="232350" y="563964"/>
                        <a:pt x="184929" y="551235"/>
                        <a:pt x="142140" y="526366"/>
                      </a:cubicBezTo>
                      <a:cubicBezTo>
                        <a:pt x="99350" y="501496"/>
                        <a:pt x="65127" y="468019"/>
                        <a:pt x="39470" y="425933"/>
                      </a:cubicBezTo>
                      <a:cubicBezTo>
                        <a:pt x="13813" y="383848"/>
                        <a:pt x="656" y="336687"/>
                        <a:pt x="0" y="284450"/>
                      </a:cubicBezTo>
                      <a:cubicBezTo>
                        <a:pt x="616" y="231703"/>
                        <a:pt x="13611" y="183951"/>
                        <a:pt x="38987" y="141195"/>
                      </a:cubicBezTo>
                      <a:cubicBezTo>
                        <a:pt x="64363" y="98439"/>
                        <a:pt x="98425" y="64372"/>
                        <a:pt x="141174" y="38993"/>
                      </a:cubicBezTo>
                      <a:cubicBezTo>
                        <a:pt x="183923" y="13614"/>
                        <a:pt x="231666" y="617"/>
                        <a:pt x="284403" y="1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26" name="TextBox 136">
                  <a:extLst>
                    <a:ext uri="{FF2B5EF4-FFF2-40B4-BE49-F238E27FC236}">
                      <a16:creationId xmlns:a16="http://schemas.microsoft.com/office/drawing/2014/main" id="{1F886A21-75ED-E889-AC02-7B94E34253F7}"/>
                    </a:ext>
                  </a:extLst>
                </p:cNvPr>
                <p:cNvSpPr txBox="1"/>
                <p:nvPr/>
              </p:nvSpPr>
              <p:spPr>
                <a:xfrm>
                  <a:off x="5741747" y="5518530"/>
                  <a:ext cx="242405" cy="305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279" h="564553">
                      <a:moveTo>
                        <a:pt x="284402" y="1"/>
                      </a:moveTo>
                      <a:cubicBezTo>
                        <a:pt x="314760" y="-29"/>
                        <a:pt x="343445" y="4368"/>
                        <a:pt x="370455" y="13191"/>
                      </a:cubicBezTo>
                      <a:cubicBezTo>
                        <a:pt x="397466" y="22015"/>
                        <a:pt x="423074" y="35446"/>
                        <a:pt x="447279" y="53484"/>
                      </a:cubicBezTo>
                      <a:lnTo>
                        <a:pt x="447279" y="128780"/>
                      </a:lnTo>
                      <a:cubicBezTo>
                        <a:pt x="425276" y="106124"/>
                        <a:pt x="399969" y="88445"/>
                        <a:pt x="371360" y="75743"/>
                      </a:cubicBezTo>
                      <a:cubicBezTo>
                        <a:pt x="342751" y="63042"/>
                        <a:pt x="312558" y="56586"/>
                        <a:pt x="280782" y="56375"/>
                      </a:cubicBezTo>
                      <a:cubicBezTo>
                        <a:pt x="239779" y="56938"/>
                        <a:pt x="202744" y="67557"/>
                        <a:pt x="169677" y="88233"/>
                      </a:cubicBezTo>
                      <a:cubicBezTo>
                        <a:pt x="136610" y="108909"/>
                        <a:pt x="110299" y="136261"/>
                        <a:pt x="90745" y="170292"/>
                      </a:cubicBezTo>
                      <a:cubicBezTo>
                        <a:pt x="71191" y="204322"/>
                        <a:pt x="61181" y="241650"/>
                        <a:pt x="60716" y="282277"/>
                      </a:cubicBezTo>
                      <a:cubicBezTo>
                        <a:pt x="61186" y="322904"/>
                        <a:pt x="71266" y="360233"/>
                        <a:pt x="90959" y="394263"/>
                      </a:cubicBezTo>
                      <a:cubicBezTo>
                        <a:pt x="110652" y="428293"/>
                        <a:pt x="137141" y="455645"/>
                        <a:pt x="170427" y="476321"/>
                      </a:cubicBezTo>
                      <a:cubicBezTo>
                        <a:pt x="203713" y="496996"/>
                        <a:pt x="240982" y="507616"/>
                        <a:pt x="282230" y="508179"/>
                      </a:cubicBezTo>
                      <a:cubicBezTo>
                        <a:pt x="313312" y="507877"/>
                        <a:pt x="343083" y="501240"/>
                        <a:pt x="371541" y="488268"/>
                      </a:cubicBezTo>
                      <a:cubicBezTo>
                        <a:pt x="399999" y="475295"/>
                        <a:pt x="425245" y="457798"/>
                        <a:pt x="447279" y="435775"/>
                      </a:cubicBezTo>
                      <a:lnTo>
                        <a:pt x="447279" y="511070"/>
                      </a:lnTo>
                      <a:cubicBezTo>
                        <a:pt x="423526" y="528160"/>
                        <a:pt x="397737" y="541320"/>
                        <a:pt x="369912" y="550550"/>
                      </a:cubicBezTo>
                      <a:cubicBezTo>
                        <a:pt x="342088" y="559780"/>
                        <a:pt x="313584" y="564447"/>
                        <a:pt x="284402" y="564553"/>
                      </a:cubicBezTo>
                      <a:cubicBezTo>
                        <a:pt x="232349" y="563964"/>
                        <a:pt x="184928" y="551235"/>
                        <a:pt x="142138" y="526366"/>
                      </a:cubicBezTo>
                      <a:cubicBezTo>
                        <a:pt x="99349" y="501496"/>
                        <a:pt x="65126" y="468019"/>
                        <a:pt x="39468" y="425933"/>
                      </a:cubicBezTo>
                      <a:cubicBezTo>
                        <a:pt x="13811" y="383848"/>
                        <a:pt x="655" y="336687"/>
                        <a:pt x="0" y="284450"/>
                      </a:cubicBezTo>
                      <a:cubicBezTo>
                        <a:pt x="615" y="231703"/>
                        <a:pt x="13611" y="183951"/>
                        <a:pt x="38986" y="141195"/>
                      </a:cubicBezTo>
                      <a:cubicBezTo>
                        <a:pt x="64362" y="98439"/>
                        <a:pt x="98424" y="64372"/>
                        <a:pt x="141173" y="38993"/>
                      </a:cubicBezTo>
                      <a:cubicBezTo>
                        <a:pt x="183922" y="13614"/>
                        <a:pt x="231665" y="617"/>
                        <a:pt x="284402" y="1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27" name="TextBox 137">
                  <a:extLst>
                    <a:ext uri="{FF2B5EF4-FFF2-40B4-BE49-F238E27FC236}">
                      <a16:creationId xmlns:a16="http://schemas.microsoft.com/office/drawing/2014/main" id="{44559D71-A50C-4025-72A0-37E12A36354A}"/>
                    </a:ext>
                  </a:extLst>
                </p:cNvPr>
                <p:cNvSpPr txBox="1"/>
                <p:nvPr/>
              </p:nvSpPr>
              <p:spPr>
                <a:xfrm>
                  <a:off x="5132767" y="5523632"/>
                  <a:ext cx="32906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17" h="545730">
                      <a:moveTo>
                        <a:pt x="0" y="0"/>
                      </a:moveTo>
                      <a:lnTo>
                        <a:pt x="60717" y="0"/>
                      </a:lnTo>
                      <a:lnTo>
                        <a:pt x="60717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28" name="TextBox 139">
                  <a:extLst>
                    <a:ext uri="{FF2B5EF4-FFF2-40B4-BE49-F238E27FC236}">
                      <a16:creationId xmlns:a16="http://schemas.microsoft.com/office/drawing/2014/main" id="{C9DAC4C8-97AD-921A-1C90-081F611CFEFC}"/>
                    </a:ext>
                  </a:extLst>
                </p:cNvPr>
                <p:cNvSpPr txBox="1"/>
                <p:nvPr/>
              </p:nvSpPr>
              <p:spPr>
                <a:xfrm>
                  <a:off x="6022568" y="5523632"/>
                  <a:ext cx="153347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954" h="545730">
                      <a:moveTo>
                        <a:pt x="0" y="0"/>
                      </a:moveTo>
                      <a:lnTo>
                        <a:pt x="282954" y="0"/>
                      </a:lnTo>
                      <a:lnTo>
                        <a:pt x="282954" y="56374"/>
                      </a:lnTo>
                      <a:lnTo>
                        <a:pt x="60717" y="56374"/>
                      </a:lnTo>
                      <a:lnTo>
                        <a:pt x="60717" y="218618"/>
                      </a:lnTo>
                      <a:lnTo>
                        <a:pt x="276439" y="218618"/>
                      </a:lnTo>
                      <a:lnTo>
                        <a:pt x="276439" y="274991"/>
                      </a:lnTo>
                      <a:lnTo>
                        <a:pt x="60717" y="274991"/>
                      </a:lnTo>
                      <a:lnTo>
                        <a:pt x="60717" y="489356"/>
                      </a:lnTo>
                      <a:lnTo>
                        <a:pt x="282954" y="489356"/>
                      </a:lnTo>
                      <a:lnTo>
                        <a:pt x="282954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32" name="TextBox 140">
                  <a:extLst>
                    <a:ext uri="{FF2B5EF4-FFF2-40B4-BE49-F238E27FC236}">
                      <a16:creationId xmlns:a16="http://schemas.microsoft.com/office/drawing/2014/main" id="{E891014A-0735-E1BB-304C-3BDC1D4E557F}"/>
                    </a:ext>
                  </a:extLst>
                </p:cNvPr>
                <p:cNvSpPr txBox="1"/>
                <p:nvPr/>
              </p:nvSpPr>
              <p:spPr>
                <a:xfrm>
                  <a:off x="2044887" y="5511077"/>
                  <a:ext cx="263590" cy="321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370" h="593508">
                      <a:moveTo>
                        <a:pt x="0" y="0"/>
                      </a:moveTo>
                      <a:lnTo>
                        <a:pt x="425654" y="445853"/>
                      </a:lnTo>
                      <a:lnTo>
                        <a:pt x="425654" y="23165"/>
                      </a:lnTo>
                      <a:lnTo>
                        <a:pt x="486370" y="23165"/>
                      </a:lnTo>
                      <a:lnTo>
                        <a:pt x="486370" y="593508"/>
                      </a:lnTo>
                      <a:lnTo>
                        <a:pt x="60718" y="148380"/>
                      </a:lnTo>
                      <a:lnTo>
                        <a:pt x="60718" y="568895"/>
                      </a:lnTo>
                      <a:lnTo>
                        <a:pt x="0" y="5688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33" name="TextBox 141">
                  <a:extLst>
                    <a:ext uri="{FF2B5EF4-FFF2-40B4-BE49-F238E27FC236}">
                      <a16:creationId xmlns:a16="http://schemas.microsoft.com/office/drawing/2014/main" id="{8BCDD0E9-AF4E-6C47-3A6C-02ECF8D31820}"/>
                    </a:ext>
                  </a:extLst>
                </p:cNvPr>
                <p:cNvSpPr txBox="1"/>
                <p:nvPr/>
              </p:nvSpPr>
              <p:spPr>
                <a:xfrm>
                  <a:off x="3134687" y="5518531"/>
                  <a:ext cx="185127" cy="305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591" h="564552">
                      <a:moveTo>
                        <a:pt x="180928" y="0"/>
                      </a:moveTo>
                      <a:cubicBezTo>
                        <a:pt x="211618" y="180"/>
                        <a:pt x="239133" y="7590"/>
                        <a:pt x="263472" y="22231"/>
                      </a:cubicBezTo>
                      <a:cubicBezTo>
                        <a:pt x="287812" y="36872"/>
                        <a:pt x="307346" y="57666"/>
                        <a:pt x="322074" y="84612"/>
                      </a:cubicBezTo>
                      <a:lnTo>
                        <a:pt x="273631" y="115746"/>
                      </a:lnTo>
                      <a:cubicBezTo>
                        <a:pt x="263100" y="96800"/>
                        <a:pt x="250486" y="82199"/>
                        <a:pt x="235790" y="71941"/>
                      </a:cubicBezTo>
                      <a:cubicBezTo>
                        <a:pt x="221093" y="61684"/>
                        <a:pt x="202324" y="56495"/>
                        <a:pt x="179480" y="56374"/>
                      </a:cubicBezTo>
                      <a:cubicBezTo>
                        <a:pt x="154478" y="56781"/>
                        <a:pt x="133324" y="64655"/>
                        <a:pt x="116018" y="79996"/>
                      </a:cubicBezTo>
                      <a:cubicBezTo>
                        <a:pt x="98711" y="95337"/>
                        <a:pt x="89689" y="115701"/>
                        <a:pt x="88949" y="141088"/>
                      </a:cubicBezTo>
                      <a:cubicBezTo>
                        <a:pt x="89321" y="156650"/>
                        <a:pt x="93970" y="169772"/>
                        <a:pt x="102898" y="180454"/>
                      </a:cubicBezTo>
                      <a:cubicBezTo>
                        <a:pt x="111826" y="191136"/>
                        <a:pt x="122805" y="200129"/>
                        <a:pt x="135838" y="207432"/>
                      </a:cubicBezTo>
                      <a:cubicBezTo>
                        <a:pt x="148869" y="214735"/>
                        <a:pt x="161727" y="221099"/>
                        <a:pt x="174410" y="226525"/>
                      </a:cubicBezTo>
                      <a:lnTo>
                        <a:pt x="210622" y="242454"/>
                      </a:lnTo>
                      <a:cubicBezTo>
                        <a:pt x="247130" y="257040"/>
                        <a:pt x="277830" y="275654"/>
                        <a:pt x="302722" y="298296"/>
                      </a:cubicBezTo>
                      <a:cubicBezTo>
                        <a:pt x="327613" y="320937"/>
                        <a:pt x="340569" y="353489"/>
                        <a:pt x="341591" y="395951"/>
                      </a:cubicBezTo>
                      <a:cubicBezTo>
                        <a:pt x="341230" y="428121"/>
                        <a:pt x="333434" y="456850"/>
                        <a:pt x="318204" y="482140"/>
                      </a:cubicBezTo>
                      <a:cubicBezTo>
                        <a:pt x="302974" y="507429"/>
                        <a:pt x="282473" y="527409"/>
                        <a:pt x="256701" y="542079"/>
                      </a:cubicBezTo>
                      <a:cubicBezTo>
                        <a:pt x="230929" y="556749"/>
                        <a:pt x="202050" y="564240"/>
                        <a:pt x="170065" y="564552"/>
                      </a:cubicBezTo>
                      <a:cubicBezTo>
                        <a:pt x="125730" y="563968"/>
                        <a:pt x="88606" y="551042"/>
                        <a:pt x="58689" y="525776"/>
                      </a:cubicBezTo>
                      <a:cubicBezTo>
                        <a:pt x="28774" y="500509"/>
                        <a:pt x="9211" y="466405"/>
                        <a:pt x="0" y="423465"/>
                      </a:cubicBezTo>
                      <a:lnTo>
                        <a:pt x="59314" y="406812"/>
                      </a:lnTo>
                      <a:cubicBezTo>
                        <a:pt x="63680" y="435427"/>
                        <a:pt x="75558" y="459290"/>
                        <a:pt x="94948" y="478402"/>
                      </a:cubicBezTo>
                      <a:cubicBezTo>
                        <a:pt x="114337" y="497513"/>
                        <a:pt x="138893" y="507439"/>
                        <a:pt x="168616" y="508178"/>
                      </a:cubicBezTo>
                      <a:cubicBezTo>
                        <a:pt x="198959" y="507590"/>
                        <a:pt x="225001" y="497543"/>
                        <a:pt x="246744" y="478040"/>
                      </a:cubicBezTo>
                      <a:cubicBezTo>
                        <a:pt x="268486" y="458536"/>
                        <a:pt x="279862" y="433104"/>
                        <a:pt x="280873" y="401743"/>
                      </a:cubicBezTo>
                      <a:cubicBezTo>
                        <a:pt x="279847" y="370791"/>
                        <a:pt x="269406" y="347621"/>
                        <a:pt x="249550" y="332235"/>
                      </a:cubicBezTo>
                      <a:cubicBezTo>
                        <a:pt x="229694" y="316849"/>
                        <a:pt x="206579" y="303817"/>
                        <a:pt x="180204" y="293137"/>
                      </a:cubicBezTo>
                      <a:lnTo>
                        <a:pt x="146889" y="278656"/>
                      </a:lnTo>
                      <a:cubicBezTo>
                        <a:pt x="114066" y="265050"/>
                        <a:pt x="86325" y="247914"/>
                        <a:pt x="63665" y="227249"/>
                      </a:cubicBezTo>
                      <a:cubicBezTo>
                        <a:pt x="41004" y="206584"/>
                        <a:pt x="29193" y="177139"/>
                        <a:pt x="28232" y="138916"/>
                      </a:cubicBezTo>
                      <a:cubicBezTo>
                        <a:pt x="28615" y="110533"/>
                        <a:pt x="35802" y="85978"/>
                        <a:pt x="49795" y="65252"/>
                      </a:cubicBezTo>
                      <a:cubicBezTo>
                        <a:pt x="63786" y="44525"/>
                        <a:pt x="82284" y="28505"/>
                        <a:pt x="105289" y="17191"/>
                      </a:cubicBezTo>
                      <a:cubicBezTo>
                        <a:pt x="128294" y="5877"/>
                        <a:pt x="153507" y="146"/>
                        <a:pt x="180928" y="0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34" name="TextBox 142">
                  <a:extLst>
                    <a:ext uri="{FF2B5EF4-FFF2-40B4-BE49-F238E27FC236}">
                      <a16:creationId xmlns:a16="http://schemas.microsoft.com/office/drawing/2014/main" id="{DD5D45C8-4D4C-3C31-923F-8328A104289A}"/>
                    </a:ext>
                  </a:extLst>
                </p:cNvPr>
                <p:cNvSpPr txBox="1"/>
                <p:nvPr/>
              </p:nvSpPr>
              <p:spPr>
                <a:xfrm>
                  <a:off x="3982038" y="5518531"/>
                  <a:ext cx="308314" cy="305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894" h="564552">
                      <a:moveTo>
                        <a:pt x="284446" y="0"/>
                      </a:moveTo>
                      <a:cubicBezTo>
                        <a:pt x="336964" y="598"/>
                        <a:pt x="384609" y="13470"/>
                        <a:pt x="427378" y="38616"/>
                      </a:cubicBezTo>
                      <a:cubicBezTo>
                        <a:pt x="470148" y="63763"/>
                        <a:pt x="504269" y="97598"/>
                        <a:pt x="529742" y="140122"/>
                      </a:cubicBezTo>
                      <a:cubicBezTo>
                        <a:pt x="555215" y="182645"/>
                        <a:pt x="568265" y="230272"/>
                        <a:pt x="568894" y="283000"/>
                      </a:cubicBezTo>
                      <a:cubicBezTo>
                        <a:pt x="568265" y="335939"/>
                        <a:pt x="555215" y="383547"/>
                        <a:pt x="529742" y="425825"/>
                      </a:cubicBezTo>
                      <a:cubicBezTo>
                        <a:pt x="504269" y="468103"/>
                        <a:pt x="470148" y="501652"/>
                        <a:pt x="427378" y="526472"/>
                      </a:cubicBezTo>
                      <a:cubicBezTo>
                        <a:pt x="384609" y="551292"/>
                        <a:pt x="336964" y="563985"/>
                        <a:pt x="284446" y="564552"/>
                      </a:cubicBezTo>
                      <a:cubicBezTo>
                        <a:pt x="231928" y="563985"/>
                        <a:pt x="184283" y="551292"/>
                        <a:pt x="141515" y="526472"/>
                      </a:cubicBezTo>
                      <a:cubicBezTo>
                        <a:pt x="98745" y="501652"/>
                        <a:pt x="64624" y="468103"/>
                        <a:pt x="39152" y="425825"/>
                      </a:cubicBezTo>
                      <a:cubicBezTo>
                        <a:pt x="13679" y="383547"/>
                        <a:pt x="629" y="335939"/>
                        <a:pt x="0" y="283000"/>
                      </a:cubicBezTo>
                      <a:cubicBezTo>
                        <a:pt x="629" y="230272"/>
                        <a:pt x="13679" y="182645"/>
                        <a:pt x="39152" y="140122"/>
                      </a:cubicBezTo>
                      <a:cubicBezTo>
                        <a:pt x="64624" y="97598"/>
                        <a:pt x="98745" y="63763"/>
                        <a:pt x="141515" y="38616"/>
                      </a:cubicBezTo>
                      <a:cubicBezTo>
                        <a:pt x="184283" y="13470"/>
                        <a:pt x="231928" y="598"/>
                        <a:pt x="284446" y="0"/>
                      </a:cubicBezTo>
                      <a:close/>
                      <a:moveTo>
                        <a:pt x="284446" y="56374"/>
                      </a:moveTo>
                      <a:cubicBezTo>
                        <a:pt x="242250" y="56870"/>
                        <a:pt x="204358" y="67221"/>
                        <a:pt x="170771" y="87427"/>
                      </a:cubicBezTo>
                      <a:cubicBezTo>
                        <a:pt x="137183" y="107634"/>
                        <a:pt x="110555" y="134718"/>
                        <a:pt x="90885" y="168682"/>
                      </a:cubicBezTo>
                      <a:cubicBezTo>
                        <a:pt x="71215" y="202645"/>
                        <a:pt x="61159" y="240510"/>
                        <a:pt x="60717" y="282276"/>
                      </a:cubicBezTo>
                      <a:cubicBezTo>
                        <a:pt x="61186" y="323815"/>
                        <a:pt x="71349" y="361572"/>
                        <a:pt x="91207" y="395549"/>
                      </a:cubicBezTo>
                      <a:cubicBezTo>
                        <a:pt x="111064" y="429525"/>
                        <a:pt x="137801" y="456664"/>
                        <a:pt x="171415" y="476964"/>
                      </a:cubicBezTo>
                      <a:cubicBezTo>
                        <a:pt x="205029" y="497264"/>
                        <a:pt x="242706" y="507668"/>
                        <a:pt x="284446" y="508178"/>
                      </a:cubicBezTo>
                      <a:cubicBezTo>
                        <a:pt x="326186" y="507668"/>
                        <a:pt x="363863" y="497264"/>
                        <a:pt x="397478" y="476964"/>
                      </a:cubicBezTo>
                      <a:cubicBezTo>
                        <a:pt x="431092" y="456664"/>
                        <a:pt x="457829" y="429525"/>
                        <a:pt x="477687" y="395549"/>
                      </a:cubicBezTo>
                      <a:cubicBezTo>
                        <a:pt x="497544" y="361572"/>
                        <a:pt x="507708" y="323815"/>
                        <a:pt x="508177" y="282276"/>
                      </a:cubicBezTo>
                      <a:cubicBezTo>
                        <a:pt x="507735" y="240510"/>
                        <a:pt x="497679" y="202645"/>
                        <a:pt x="478008" y="168682"/>
                      </a:cubicBezTo>
                      <a:cubicBezTo>
                        <a:pt x="458338" y="134719"/>
                        <a:pt x="431710" y="107634"/>
                        <a:pt x="398121" y="87427"/>
                      </a:cubicBezTo>
                      <a:cubicBezTo>
                        <a:pt x="364533" y="67221"/>
                        <a:pt x="326642" y="56870"/>
                        <a:pt x="284446" y="56374"/>
                      </a:cubicBez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35" name="TextBox 143">
                  <a:extLst>
                    <a:ext uri="{FF2B5EF4-FFF2-40B4-BE49-F238E27FC236}">
                      <a16:creationId xmlns:a16="http://schemas.microsoft.com/office/drawing/2014/main" id="{95AA87B3-B53B-C3C4-F05F-A35CDBD5C3CD}"/>
                    </a:ext>
                  </a:extLst>
                </p:cNvPr>
                <p:cNvSpPr txBox="1"/>
                <p:nvPr/>
              </p:nvSpPr>
              <p:spPr>
                <a:xfrm>
                  <a:off x="1773650" y="5523632"/>
                  <a:ext cx="211147" cy="300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602" h="555141">
                      <a:moveTo>
                        <a:pt x="115" y="0"/>
                      </a:moveTo>
                      <a:lnTo>
                        <a:pt x="60832" y="0"/>
                      </a:lnTo>
                      <a:lnTo>
                        <a:pt x="60832" y="325031"/>
                      </a:lnTo>
                      <a:cubicBezTo>
                        <a:pt x="60244" y="345662"/>
                        <a:pt x="61059" y="366655"/>
                        <a:pt x="63277" y="388010"/>
                      </a:cubicBezTo>
                      <a:cubicBezTo>
                        <a:pt x="65494" y="409365"/>
                        <a:pt x="72646" y="428911"/>
                        <a:pt x="84729" y="446646"/>
                      </a:cubicBezTo>
                      <a:cubicBezTo>
                        <a:pt x="97280" y="463386"/>
                        <a:pt x="113634" y="476236"/>
                        <a:pt x="133790" y="485194"/>
                      </a:cubicBezTo>
                      <a:cubicBezTo>
                        <a:pt x="153944" y="494152"/>
                        <a:pt x="174281" y="498676"/>
                        <a:pt x="194798" y="498767"/>
                      </a:cubicBezTo>
                      <a:cubicBezTo>
                        <a:pt x="214788" y="498646"/>
                        <a:pt x="234370" y="494363"/>
                        <a:pt x="253545" y="485918"/>
                      </a:cubicBezTo>
                      <a:cubicBezTo>
                        <a:pt x="272719" y="477472"/>
                        <a:pt x="288862" y="465588"/>
                        <a:pt x="301972" y="450266"/>
                      </a:cubicBezTo>
                      <a:cubicBezTo>
                        <a:pt x="315759" y="432515"/>
                        <a:pt x="323845" y="412638"/>
                        <a:pt x="326230" y="390634"/>
                      </a:cubicBezTo>
                      <a:cubicBezTo>
                        <a:pt x="328614" y="368631"/>
                        <a:pt x="329460" y="346763"/>
                        <a:pt x="328765" y="325031"/>
                      </a:cubicBezTo>
                      <a:lnTo>
                        <a:pt x="328765" y="0"/>
                      </a:lnTo>
                      <a:lnTo>
                        <a:pt x="389482" y="0"/>
                      </a:lnTo>
                      <a:lnTo>
                        <a:pt x="389482" y="341681"/>
                      </a:lnTo>
                      <a:cubicBezTo>
                        <a:pt x="390206" y="371149"/>
                        <a:pt x="387676" y="398175"/>
                        <a:pt x="381893" y="422757"/>
                      </a:cubicBezTo>
                      <a:cubicBezTo>
                        <a:pt x="376110" y="447340"/>
                        <a:pt x="362738" y="470746"/>
                        <a:pt x="341776" y="492976"/>
                      </a:cubicBezTo>
                      <a:cubicBezTo>
                        <a:pt x="322628" y="513277"/>
                        <a:pt x="300307" y="528698"/>
                        <a:pt x="274814" y="539239"/>
                      </a:cubicBezTo>
                      <a:cubicBezTo>
                        <a:pt x="249320" y="549780"/>
                        <a:pt x="222648" y="555081"/>
                        <a:pt x="194798" y="555141"/>
                      </a:cubicBezTo>
                      <a:cubicBezTo>
                        <a:pt x="168729" y="555080"/>
                        <a:pt x="143384" y="550322"/>
                        <a:pt x="118766" y="540866"/>
                      </a:cubicBezTo>
                      <a:cubicBezTo>
                        <a:pt x="94145" y="531411"/>
                        <a:pt x="72425" y="517618"/>
                        <a:pt x="53604" y="499490"/>
                      </a:cubicBezTo>
                      <a:cubicBezTo>
                        <a:pt x="30503" y="476853"/>
                        <a:pt x="15626" y="452633"/>
                        <a:pt x="8970" y="426829"/>
                      </a:cubicBezTo>
                      <a:cubicBezTo>
                        <a:pt x="2314" y="401025"/>
                        <a:pt x="-638" y="372642"/>
                        <a:pt x="115" y="341681"/>
                      </a:cubicBezTo>
                      <a:lnTo>
                        <a:pt x="115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36" name="TextBox 144">
                  <a:extLst>
                    <a:ext uri="{FF2B5EF4-FFF2-40B4-BE49-F238E27FC236}">
                      <a16:creationId xmlns:a16="http://schemas.microsoft.com/office/drawing/2014/main" id="{4ACCA544-675A-515A-5748-C826154AF1C3}"/>
                    </a:ext>
                  </a:extLst>
                </p:cNvPr>
                <p:cNvSpPr txBox="1"/>
                <p:nvPr/>
              </p:nvSpPr>
              <p:spPr>
                <a:xfrm>
                  <a:off x="2359497" y="5523632"/>
                  <a:ext cx="32906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16" h="545730">
                      <a:moveTo>
                        <a:pt x="0" y="0"/>
                      </a:moveTo>
                      <a:lnTo>
                        <a:pt x="60716" y="0"/>
                      </a:lnTo>
                      <a:lnTo>
                        <a:pt x="60716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37" name="TextBox 145">
                  <a:extLst>
                    <a:ext uri="{FF2B5EF4-FFF2-40B4-BE49-F238E27FC236}">
                      <a16:creationId xmlns:a16="http://schemas.microsoft.com/office/drawing/2014/main" id="{CDFEF56D-9839-746A-5CBC-4DAA1F52F272}"/>
                    </a:ext>
                  </a:extLst>
                </p:cNvPr>
                <p:cNvSpPr txBox="1"/>
                <p:nvPr/>
              </p:nvSpPr>
              <p:spPr>
                <a:xfrm>
                  <a:off x="2435756" y="5523632"/>
                  <a:ext cx="240051" cy="313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937" h="578396">
                      <a:moveTo>
                        <a:pt x="0" y="0"/>
                      </a:moveTo>
                      <a:lnTo>
                        <a:pt x="65862" y="0"/>
                      </a:lnTo>
                      <a:lnTo>
                        <a:pt x="221470" y="416242"/>
                      </a:lnTo>
                      <a:lnTo>
                        <a:pt x="377078" y="0"/>
                      </a:lnTo>
                      <a:lnTo>
                        <a:pt x="442937" y="0"/>
                      </a:lnTo>
                      <a:lnTo>
                        <a:pt x="221470" y="5783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38" name="TextBox 146">
                  <a:extLst>
                    <a:ext uri="{FF2B5EF4-FFF2-40B4-BE49-F238E27FC236}">
                      <a16:creationId xmlns:a16="http://schemas.microsoft.com/office/drawing/2014/main" id="{ED94666B-F563-72A1-E4B6-14956E093A24}"/>
                    </a:ext>
                  </a:extLst>
                </p:cNvPr>
                <p:cNvSpPr txBox="1"/>
                <p:nvPr/>
              </p:nvSpPr>
              <p:spPr>
                <a:xfrm>
                  <a:off x="2719915" y="5523632"/>
                  <a:ext cx="153347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955" h="545730">
                      <a:moveTo>
                        <a:pt x="0" y="0"/>
                      </a:moveTo>
                      <a:lnTo>
                        <a:pt x="282955" y="0"/>
                      </a:lnTo>
                      <a:lnTo>
                        <a:pt x="282955" y="56373"/>
                      </a:lnTo>
                      <a:lnTo>
                        <a:pt x="60718" y="56373"/>
                      </a:lnTo>
                      <a:lnTo>
                        <a:pt x="60718" y="218618"/>
                      </a:lnTo>
                      <a:lnTo>
                        <a:pt x="276440" y="218618"/>
                      </a:lnTo>
                      <a:lnTo>
                        <a:pt x="276440" y="274991"/>
                      </a:lnTo>
                      <a:lnTo>
                        <a:pt x="60718" y="274991"/>
                      </a:lnTo>
                      <a:lnTo>
                        <a:pt x="60718" y="489356"/>
                      </a:lnTo>
                      <a:lnTo>
                        <a:pt x="282955" y="489356"/>
                      </a:lnTo>
                      <a:lnTo>
                        <a:pt x="282955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39" name="TextBox 147">
                  <a:extLst>
                    <a:ext uri="{FF2B5EF4-FFF2-40B4-BE49-F238E27FC236}">
                      <a16:creationId xmlns:a16="http://schemas.microsoft.com/office/drawing/2014/main" id="{6A3D2113-3646-A3AD-E6D1-16BD83C42D2C}"/>
                    </a:ext>
                  </a:extLst>
                </p:cNvPr>
                <p:cNvSpPr txBox="1"/>
                <p:nvPr/>
              </p:nvSpPr>
              <p:spPr>
                <a:xfrm>
                  <a:off x="2930908" y="5523614"/>
                  <a:ext cx="171002" cy="295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530" h="545761">
                      <a:moveTo>
                        <a:pt x="0" y="31"/>
                      </a:moveTo>
                      <a:lnTo>
                        <a:pt x="78825" y="31"/>
                      </a:lnTo>
                      <a:cubicBezTo>
                        <a:pt x="113899" y="-390"/>
                        <a:pt x="146509" y="3503"/>
                        <a:pt x="176656" y="11709"/>
                      </a:cubicBezTo>
                      <a:cubicBezTo>
                        <a:pt x="206802" y="19915"/>
                        <a:pt x="231194" y="34958"/>
                        <a:pt x="249831" y="56837"/>
                      </a:cubicBezTo>
                      <a:cubicBezTo>
                        <a:pt x="268469" y="78716"/>
                        <a:pt x="278062" y="109956"/>
                        <a:pt x="278610" y="150555"/>
                      </a:cubicBezTo>
                      <a:cubicBezTo>
                        <a:pt x="278162" y="193131"/>
                        <a:pt x="265868" y="227818"/>
                        <a:pt x="241727" y="254617"/>
                      </a:cubicBezTo>
                      <a:cubicBezTo>
                        <a:pt x="217587" y="281417"/>
                        <a:pt x="184291" y="296908"/>
                        <a:pt x="141841" y="301091"/>
                      </a:cubicBezTo>
                      <a:lnTo>
                        <a:pt x="315530" y="545761"/>
                      </a:lnTo>
                      <a:lnTo>
                        <a:pt x="241024" y="545761"/>
                      </a:lnTo>
                      <a:lnTo>
                        <a:pt x="75927" y="306150"/>
                      </a:lnTo>
                      <a:lnTo>
                        <a:pt x="60717" y="306150"/>
                      </a:lnTo>
                      <a:lnTo>
                        <a:pt x="60717" y="545761"/>
                      </a:lnTo>
                      <a:lnTo>
                        <a:pt x="0" y="545761"/>
                      </a:lnTo>
                      <a:lnTo>
                        <a:pt x="0" y="31"/>
                      </a:lnTo>
                      <a:close/>
                      <a:moveTo>
                        <a:pt x="60717" y="56404"/>
                      </a:moveTo>
                      <a:lnTo>
                        <a:pt x="60717" y="252672"/>
                      </a:lnTo>
                      <a:lnTo>
                        <a:pt x="79549" y="252672"/>
                      </a:lnTo>
                      <a:cubicBezTo>
                        <a:pt x="102919" y="253034"/>
                        <a:pt x="125069" y="250861"/>
                        <a:pt x="145999" y="246154"/>
                      </a:cubicBezTo>
                      <a:cubicBezTo>
                        <a:pt x="166928" y="241446"/>
                        <a:pt x="184034" y="232031"/>
                        <a:pt x="197318" y="217909"/>
                      </a:cubicBezTo>
                      <a:cubicBezTo>
                        <a:pt x="210601" y="203786"/>
                        <a:pt x="217460" y="182784"/>
                        <a:pt x="217894" y="154901"/>
                      </a:cubicBezTo>
                      <a:cubicBezTo>
                        <a:pt x="217532" y="125413"/>
                        <a:pt x="210932" y="103596"/>
                        <a:pt x="198096" y="89451"/>
                      </a:cubicBezTo>
                      <a:cubicBezTo>
                        <a:pt x="185259" y="75306"/>
                        <a:pt x="168358" y="66151"/>
                        <a:pt x="147393" y="61984"/>
                      </a:cubicBezTo>
                      <a:cubicBezTo>
                        <a:pt x="126428" y="57817"/>
                        <a:pt x="103572" y="55957"/>
                        <a:pt x="78825" y="56404"/>
                      </a:cubicBezTo>
                      <a:lnTo>
                        <a:pt x="60717" y="56404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40" name="TextBox 148">
                  <a:extLst>
                    <a:ext uri="{FF2B5EF4-FFF2-40B4-BE49-F238E27FC236}">
                      <a16:creationId xmlns:a16="http://schemas.microsoft.com/office/drawing/2014/main" id="{913536FC-350E-6059-F890-F11F2B2D595E}"/>
                    </a:ext>
                  </a:extLst>
                </p:cNvPr>
                <p:cNvSpPr txBox="1"/>
                <p:nvPr/>
              </p:nvSpPr>
              <p:spPr>
                <a:xfrm>
                  <a:off x="3368593" y="5523632"/>
                  <a:ext cx="32906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17" h="545730">
                      <a:moveTo>
                        <a:pt x="0" y="0"/>
                      </a:moveTo>
                      <a:lnTo>
                        <a:pt x="60717" y="0"/>
                      </a:lnTo>
                      <a:lnTo>
                        <a:pt x="60717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41" name="TextBox 149">
                  <a:extLst>
                    <a:ext uri="{FF2B5EF4-FFF2-40B4-BE49-F238E27FC236}">
                      <a16:creationId xmlns:a16="http://schemas.microsoft.com/office/drawing/2014/main" id="{E58AB023-2483-39BD-0A6E-2F15D40FC242}"/>
                    </a:ext>
                  </a:extLst>
                </p:cNvPr>
                <p:cNvSpPr txBox="1"/>
                <p:nvPr/>
              </p:nvSpPr>
              <p:spPr>
                <a:xfrm>
                  <a:off x="3437648" y="5523632"/>
                  <a:ext cx="176496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665" h="545730">
                      <a:moveTo>
                        <a:pt x="0" y="0"/>
                      </a:moveTo>
                      <a:lnTo>
                        <a:pt x="325665" y="0"/>
                      </a:lnTo>
                      <a:lnTo>
                        <a:pt x="325665" y="56373"/>
                      </a:lnTo>
                      <a:lnTo>
                        <a:pt x="192468" y="56373"/>
                      </a:lnTo>
                      <a:lnTo>
                        <a:pt x="192468" y="545730"/>
                      </a:lnTo>
                      <a:lnTo>
                        <a:pt x="131750" y="545730"/>
                      </a:lnTo>
                      <a:lnTo>
                        <a:pt x="131750" y="56373"/>
                      </a:lnTo>
                      <a:lnTo>
                        <a:pt x="0" y="5637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42" name="TextBox 150">
                  <a:extLst>
                    <a:ext uri="{FF2B5EF4-FFF2-40B4-BE49-F238E27FC236}">
                      <a16:creationId xmlns:a16="http://schemas.microsoft.com/office/drawing/2014/main" id="{26AE7576-507F-4A26-A55F-D20887A47C84}"/>
                    </a:ext>
                  </a:extLst>
                </p:cNvPr>
                <p:cNvSpPr txBox="1"/>
                <p:nvPr/>
              </p:nvSpPr>
              <p:spPr>
                <a:xfrm>
                  <a:off x="3622701" y="5523632"/>
                  <a:ext cx="226711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323" h="545730">
                      <a:moveTo>
                        <a:pt x="0" y="0"/>
                      </a:moveTo>
                      <a:lnTo>
                        <a:pt x="70217" y="0"/>
                      </a:lnTo>
                      <a:lnTo>
                        <a:pt x="209161" y="243191"/>
                      </a:lnTo>
                      <a:lnTo>
                        <a:pt x="348105" y="0"/>
                      </a:lnTo>
                      <a:lnTo>
                        <a:pt x="418323" y="0"/>
                      </a:lnTo>
                      <a:lnTo>
                        <a:pt x="239520" y="311226"/>
                      </a:lnTo>
                      <a:lnTo>
                        <a:pt x="239520" y="545730"/>
                      </a:lnTo>
                      <a:lnTo>
                        <a:pt x="178803" y="545730"/>
                      </a:lnTo>
                      <a:lnTo>
                        <a:pt x="178803" y="3112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  <p:sp>
              <p:nvSpPr>
                <p:cNvPr id="243" name="TextBox 151">
                  <a:extLst>
                    <a:ext uri="{FF2B5EF4-FFF2-40B4-BE49-F238E27FC236}">
                      <a16:creationId xmlns:a16="http://schemas.microsoft.com/office/drawing/2014/main" id="{FA37C95C-3EDB-F481-5560-E7828341B43F}"/>
                    </a:ext>
                  </a:extLst>
                </p:cNvPr>
                <p:cNvSpPr txBox="1"/>
                <p:nvPr/>
              </p:nvSpPr>
              <p:spPr>
                <a:xfrm>
                  <a:off x="4337872" y="5523632"/>
                  <a:ext cx="134516" cy="295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206" h="545730">
                      <a:moveTo>
                        <a:pt x="0" y="0"/>
                      </a:moveTo>
                      <a:lnTo>
                        <a:pt x="248206" y="0"/>
                      </a:lnTo>
                      <a:lnTo>
                        <a:pt x="248206" y="56373"/>
                      </a:lnTo>
                      <a:lnTo>
                        <a:pt x="60717" y="56373"/>
                      </a:lnTo>
                      <a:lnTo>
                        <a:pt x="60717" y="218618"/>
                      </a:lnTo>
                      <a:lnTo>
                        <a:pt x="242416" y="218618"/>
                      </a:lnTo>
                      <a:lnTo>
                        <a:pt x="242416" y="274991"/>
                      </a:lnTo>
                      <a:lnTo>
                        <a:pt x="60717" y="274991"/>
                      </a:lnTo>
                      <a:lnTo>
                        <a:pt x="60717" y="545730"/>
                      </a:lnTo>
                      <a:lnTo>
                        <a:pt x="0" y="545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66"/>
                </a:solidFill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HK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5700" spc="-30" dirty="0">
                    <a:latin typeface="Futura Std Book" panose="020B0502020204020303" pitchFamily="34" charset="0"/>
                  </a:endParaRPr>
                </a:p>
              </p:txBody>
            </p:sp>
          </p:grpSp>
        </p:grpSp>
        <p:grpSp>
          <p:nvGrpSpPr>
            <p:cNvPr id="28" name="Group 126">
              <a:extLst>
                <a:ext uri="{FF2B5EF4-FFF2-40B4-BE49-F238E27FC236}">
                  <a16:creationId xmlns:a16="http://schemas.microsoft.com/office/drawing/2014/main" id="{1534ADEF-90C0-004D-09B0-90D3D6F5130F}"/>
                </a:ext>
              </a:extLst>
            </p:cNvPr>
            <p:cNvGrpSpPr/>
            <p:nvPr/>
          </p:nvGrpSpPr>
          <p:grpSpPr>
            <a:xfrm>
              <a:off x="4046885" y="2012140"/>
              <a:ext cx="4138991" cy="532254"/>
              <a:chOff x="1737116" y="4501972"/>
              <a:chExt cx="3000417" cy="385839"/>
            </a:xfrm>
          </p:grpSpPr>
          <p:sp>
            <p:nvSpPr>
              <p:cNvPr id="52" name="TextBox 127">
                <a:extLst>
                  <a:ext uri="{FF2B5EF4-FFF2-40B4-BE49-F238E27FC236}">
                    <a16:creationId xmlns:a16="http://schemas.microsoft.com/office/drawing/2014/main" id="{87928114-14A8-570C-7A42-C6B8ADDCB31C}"/>
                  </a:ext>
                </a:extLst>
              </p:cNvPr>
              <p:cNvSpPr txBox="1"/>
              <p:nvPr/>
            </p:nvSpPr>
            <p:spPr>
              <a:xfrm>
                <a:off x="3305343" y="4501972"/>
                <a:ext cx="385839" cy="385019"/>
              </a:xfrm>
              <a:custGeom>
                <a:avLst/>
                <a:gdLst/>
                <a:ahLst/>
                <a:cxnLst/>
                <a:rect l="l" t="t" r="r" b="b"/>
                <a:pathLst>
                  <a:path w="700981" h="699492">
                    <a:moveTo>
                      <a:pt x="117574" y="0"/>
                    </a:moveTo>
                    <a:lnTo>
                      <a:pt x="191244" y="0"/>
                    </a:lnTo>
                    <a:lnTo>
                      <a:pt x="191244" y="152548"/>
                    </a:lnTo>
                    <a:lnTo>
                      <a:pt x="279053" y="152548"/>
                    </a:lnTo>
                    <a:lnTo>
                      <a:pt x="279053" y="104923"/>
                    </a:lnTo>
                    <a:lnTo>
                      <a:pt x="439043" y="104923"/>
                    </a:lnTo>
                    <a:lnTo>
                      <a:pt x="439043" y="0"/>
                    </a:lnTo>
                    <a:lnTo>
                      <a:pt x="512713" y="0"/>
                    </a:lnTo>
                    <a:lnTo>
                      <a:pt x="512713" y="104923"/>
                    </a:lnTo>
                    <a:lnTo>
                      <a:pt x="688330" y="104923"/>
                    </a:lnTo>
                    <a:lnTo>
                      <a:pt x="688330" y="172640"/>
                    </a:lnTo>
                    <a:lnTo>
                      <a:pt x="512713" y="172640"/>
                    </a:lnTo>
                    <a:lnTo>
                      <a:pt x="512713" y="272355"/>
                    </a:lnTo>
                    <a:lnTo>
                      <a:pt x="663029" y="272355"/>
                    </a:lnTo>
                    <a:lnTo>
                      <a:pt x="663029" y="334119"/>
                    </a:lnTo>
                    <a:cubicBezTo>
                      <a:pt x="656580" y="360908"/>
                      <a:pt x="640209" y="395882"/>
                      <a:pt x="613916" y="439043"/>
                    </a:cubicBezTo>
                    <a:cubicBezTo>
                      <a:pt x="588119" y="482203"/>
                      <a:pt x="561082" y="516185"/>
                      <a:pt x="532805" y="540990"/>
                    </a:cubicBezTo>
                    <a:cubicBezTo>
                      <a:pt x="582414" y="581670"/>
                      <a:pt x="638473" y="610691"/>
                      <a:pt x="700981" y="628054"/>
                    </a:cubicBezTo>
                    <a:lnTo>
                      <a:pt x="663029" y="698004"/>
                    </a:lnTo>
                    <a:cubicBezTo>
                      <a:pt x="597545" y="676671"/>
                      <a:pt x="536029" y="639712"/>
                      <a:pt x="478483" y="587127"/>
                    </a:cubicBezTo>
                    <a:cubicBezTo>
                      <a:pt x="400100" y="647154"/>
                      <a:pt x="325190" y="684609"/>
                      <a:pt x="253752" y="699492"/>
                    </a:cubicBezTo>
                    <a:lnTo>
                      <a:pt x="212824" y="631775"/>
                    </a:lnTo>
                    <a:cubicBezTo>
                      <a:pt x="284262" y="615900"/>
                      <a:pt x="355699" y="583902"/>
                      <a:pt x="427137" y="535781"/>
                    </a:cubicBezTo>
                    <a:cubicBezTo>
                      <a:pt x="388938" y="497086"/>
                      <a:pt x="351482" y="444252"/>
                      <a:pt x="314772" y="377279"/>
                    </a:cubicBezTo>
                    <a:lnTo>
                      <a:pt x="376535" y="352722"/>
                    </a:lnTo>
                    <a:cubicBezTo>
                      <a:pt x="410766" y="413246"/>
                      <a:pt x="444996" y="460623"/>
                      <a:pt x="479227" y="494853"/>
                    </a:cubicBezTo>
                    <a:cubicBezTo>
                      <a:pt x="529828" y="454670"/>
                      <a:pt x="565795" y="403324"/>
                      <a:pt x="587127" y="340816"/>
                    </a:cubicBezTo>
                    <a:lnTo>
                      <a:pt x="291703" y="340816"/>
                    </a:lnTo>
                    <a:lnTo>
                      <a:pt x="291703" y="272355"/>
                    </a:lnTo>
                    <a:lnTo>
                      <a:pt x="439043" y="272355"/>
                    </a:lnTo>
                    <a:lnTo>
                      <a:pt x="439043" y="172640"/>
                    </a:lnTo>
                    <a:lnTo>
                      <a:pt x="279053" y="172640"/>
                    </a:lnTo>
                    <a:lnTo>
                      <a:pt x="278309" y="220265"/>
                    </a:lnTo>
                    <a:lnTo>
                      <a:pt x="190500" y="220265"/>
                    </a:lnTo>
                    <a:lnTo>
                      <a:pt x="190500" y="351978"/>
                    </a:lnTo>
                    <a:cubicBezTo>
                      <a:pt x="230187" y="339080"/>
                      <a:pt x="259209" y="328166"/>
                      <a:pt x="277565" y="319236"/>
                    </a:cubicBezTo>
                    <a:lnTo>
                      <a:pt x="277565" y="392162"/>
                    </a:lnTo>
                    <a:cubicBezTo>
                      <a:pt x="262186" y="400595"/>
                      <a:pt x="233164" y="412005"/>
                      <a:pt x="190500" y="426392"/>
                    </a:cubicBezTo>
                    <a:lnTo>
                      <a:pt x="190500" y="608707"/>
                    </a:lnTo>
                    <a:cubicBezTo>
                      <a:pt x="190500" y="643929"/>
                      <a:pt x="185489" y="667246"/>
                      <a:pt x="175466" y="678656"/>
                    </a:cubicBezTo>
                    <a:cubicBezTo>
                      <a:pt x="164940" y="690562"/>
                      <a:pt x="141178" y="696515"/>
                      <a:pt x="104180" y="696515"/>
                    </a:cubicBezTo>
                    <a:lnTo>
                      <a:pt x="45393" y="696515"/>
                    </a:lnTo>
                    <a:lnTo>
                      <a:pt x="28277" y="621357"/>
                    </a:lnTo>
                    <a:lnTo>
                      <a:pt x="93018" y="623589"/>
                    </a:lnTo>
                    <a:cubicBezTo>
                      <a:pt x="109389" y="623589"/>
                      <a:pt x="117574" y="615404"/>
                      <a:pt x="117574" y="599033"/>
                    </a:cubicBezTo>
                    <a:lnTo>
                      <a:pt x="117574" y="447228"/>
                    </a:lnTo>
                    <a:cubicBezTo>
                      <a:pt x="75406" y="458142"/>
                      <a:pt x="42168" y="466576"/>
                      <a:pt x="17859" y="472529"/>
                    </a:cubicBezTo>
                    <a:lnTo>
                      <a:pt x="0" y="392162"/>
                    </a:lnTo>
                    <a:cubicBezTo>
                      <a:pt x="43160" y="386705"/>
                      <a:pt x="82352" y="379263"/>
                      <a:pt x="117574" y="369837"/>
                    </a:cubicBezTo>
                    <a:lnTo>
                      <a:pt x="117574" y="220265"/>
                    </a:lnTo>
                    <a:lnTo>
                      <a:pt x="7441" y="220265"/>
                    </a:lnTo>
                    <a:lnTo>
                      <a:pt x="7441" y="152548"/>
                    </a:lnTo>
                    <a:lnTo>
                      <a:pt x="117574" y="152548"/>
                    </a:lnTo>
                    <a:lnTo>
                      <a:pt x="117574" y="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70" name="TextBox 128">
                <a:extLst>
                  <a:ext uri="{FF2B5EF4-FFF2-40B4-BE49-F238E27FC236}">
                    <a16:creationId xmlns:a16="http://schemas.microsoft.com/office/drawing/2014/main" id="{61A0E442-27C1-F923-32AA-069BDAE5797A}"/>
                  </a:ext>
                </a:extLst>
              </p:cNvPr>
              <p:cNvSpPr txBox="1"/>
              <p:nvPr/>
            </p:nvSpPr>
            <p:spPr>
              <a:xfrm>
                <a:off x="3823678" y="4502381"/>
                <a:ext cx="385838" cy="384200"/>
              </a:xfrm>
              <a:custGeom>
                <a:avLst/>
                <a:gdLst/>
                <a:ahLst/>
                <a:cxnLst/>
                <a:rect l="l" t="t" r="r" b="b"/>
                <a:pathLst>
                  <a:path w="700980" h="698004">
                    <a:moveTo>
                      <a:pt x="296912" y="0"/>
                    </a:moveTo>
                    <a:lnTo>
                      <a:pt x="375047" y="0"/>
                    </a:lnTo>
                    <a:cubicBezTo>
                      <a:pt x="375047" y="85328"/>
                      <a:pt x="373063" y="147588"/>
                      <a:pt x="369094" y="186779"/>
                    </a:cubicBezTo>
                    <a:lnTo>
                      <a:pt x="684609" y="186779"/>
                    </a:lnTo>
                    <a:lnTo>
                      <a:pt x="684609" y="265658"/>
                    </a:lnTo>
                    <a:lnTo>
                      <a:pt x="446484" y="264914"/>
                    </a:lnTo>
                    <a:cubicBezTo>
                      <a:pt x="457895" y="325437"/>
                      <a:pt x="484684" y="388937"/>
                      <a:pt x="526852" y="455414"/>
                    </a:cubicBezTo>
                    <a:cubicBezTo>
                      <a:pt x="569019" y="521890"/>
                      <a:pt x="627062" y="579437"/>
                      <a:pt x="700980" y="628054"/>
                    </a:cubicBezTo>
                    <a:lnTo>
                      <a:pt x="643682" y="696515"/>
                    </a:lnTo>
                    <a:cubicBezTo>
                      <a:pt x="509736" y="608707"/>
                      <a:pt x="417959" y="464840"/>
                      <a:pt x="368350" y="264914"/>
                    </a:cubicBezTo>
                    <a:lnTo>
                      <a:pt x="356443" y="264914"/>
                    </a:lnTo>
                    <a:cubicBezTo>
                      <a:pt x="323205" y="444004"/>
                      <a:pt x="223242" y="588367"/>
                      <a:pt x="56555" y="698004"/>
                    </a:cubicBezTo>
                    <a:lnTo>
                      <a:pt x="0" y="627310"/>
                    </a:lnTo>
                    <a:cubicBezTo>
                      <a:pt x="70445" y="587127"/>
                      <a:pt x="130969" y="534293"/>
                      <a:pt x="181570" y="468808"/>
                    </a:cubicBezTo>
                    <a:cubicBezTo>
                      <a:pt x="231676" y="403324"/>
                      <a:pt x="262682" y="335607"/>
                      <a:pt x="274588" y="265658"/>
                    </a:cubicBezTo>
                    <a:lnTo>
                      <a:pt x="17859" y="265658"/>
                    </a:lnTo>
                    <a:lnTo>
                      <a:pt x="17859" y="186779"/>
                    </a:lnTo>
                    <a:lnTo>
                      <a:pt x="287238" y="186779"/>
                    </a:lnTo>
                    <a:cubicBezTo>
                      <a:pt x="293687" y="141634"/>
                      <a:pt x="296912" y="79375"/>
                      <a:pt x="296912" y="0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82" name="TextBox 129">
                <a:extLst>
                  <a:ext uri="{FF2B5EF4-FFF2-40B4-BE49-F238E27FC236}">
                    <a16:creationId xmlns:a16="http://schemas.microsoft.com/office/drawing/2014/main" id="{181286CF-480E-112B-BE16-8593C8527D20}"/>
                  </a:ext>
                </a:extLst>
              </p:cNvPr>
              <p:cNvSpPr txBox="1"/>
              <p:nvPr/>
            </p:nvSpPr>
            <p:spPr>
              <a:xfrm>
                <a:off x="1737116" y="4503611"/>
                <a:ext cx="386247" cy="384200"/>
              </a:xfrm>
              <a:custGeom>
                <a:avLst/>
                <a:gdLst/>
                <a:ahLst/>
                <a:cxnLst/>
                <a:rect l="l" t="t" r="r" b="b"/>
                <a:pathLst>
                  <a:path w="701724" h="698004">
                    <a:moveTo>
                      <a:pt x="601265" y="0"/>
                    </a:moveTo>
                    <a:lnTo>
                      <a:pt x="633264" y="61020"/>
                    </a:lnTo>
                    <a:cubicBezTo>
                      <a:pt x="565795" y="74910"/>
                      <a:pt x="481955" y="86072"/>
                      <a:pt x="381744" y="94506"/>
                    </a:cubicBezTo>
                    <a:lnTo>
                      <a:pt x="381744" y="157014"/>
                    </a:lnTo>
                    <a:lnTo>
                      <a:pt x="695771" y="157014"/>
                    </a:lnTo>
                    <a:lnTo>
                      <a:pt x="695771" y="218777"/>
                    </a:lnTo>
                    <a:lnTo>
                      <a:pt x="456158" y="218777"/>
                    </a:lnTo>
                    <a:cubicBezTo>
                      <a:pt x="512713" y="273348"/>
                      <a:pt x="594568" y="311299"/>
                      <a:pt x="701724" y="332631"/>
                    </a:cubicBezTo>
                    <a:lnTo>
                      <a:pt x="668982" y="400348"/>
                    </a:lnTo>
                    <a:cubicBezTo>
                      <a:pt x="659060" y="395883"/>
                      <a:pt x="648146" y="391914"/>
                      <a:pt x="636240" y="388442"/>
                    </a:cubicBezTo>
                    <a:cubicBezTo>
                      <a:pt x="624334" y="384969"/>
                      <a:pt x="613420" y="380504"/>
                      <a:pt x="603498" y="375047"/>
                    </a:cubicBezTo>
                    <a:lnTo>
                      <a:pt x="603498" y="698004"/>
                    </a:lnTo>
                    <a:lnTo>
                      <a:pt x="534293" y="698004"/>
                    </a:lnTo>
                    <a:lnTo>
                      <a:pt x="534293" y="663774"/>
                    </a:lnTo>
                    <a:lnTo>
                      <a:pt x="168176" y="663774"/>
                    </a:lnTo>
                    <a:lnTo>
                      <a:pt x="168176" y="698004"/>
                    </a:lnTo>
                    <a:lnTo>
                      <a:pt x="98971" y="698004"/>
                    </a:lnTo>
                    <a:lnTo>
                      <a:pt x="98971" y="378768"/>
                    </a:lnTo>
                    <a:cubicBezTo>
                      <a:pt x="86568" y="384225"/>
                      <a:pt x="65484" y="391914"/>
                      <a:pt x="35719" y="401836"/>
                    </a:cubicBezTo>
                    <a:lnTo>
                      <a:pt x="0" y="335608"/>
                    </a:lnTo>
                    <a:cubicBezTo>
                      <a:pt x="90289" y="313779"/>
                      <a:pt x="168920" y="274836"/>
                      <a:pt x="235892" y="218777"/>
                    </a:cubicBezTo>
                    <a:lnTo>
                      <a:pt x="5953" y="218777"/>
                    </a:lnTo>
                    <a:lnTo>
                      <a:pt x="5953" y="157014"/>
                    </a:lnTo>
                    <a:lnTo>
                      <a:pt x="311795" y="157014"/>
                    </a:lnTo>
                    <a:lnTo>
                      <a:pt x="311795" y="96738"/>
                    </a:lnTo>
                    <a:cubicBezTo>
                      <a:pt x="200174" y="99715"/>
                      <a:pt x="120054" y="101203"/>
                      <a:pt x="71437" y="101203"/>
                    </a:cubicBezTo>
                    <a:lnTo>
                      <a:pt x="46881" y="32742"/>
                    </a:lnTo>
                    <a:cubicBezTo>
                      <a:pt x="75158" y="33734"/>
                      <a:pt x="110133" y="34231"/>
                      <a:pt x="151804" y="34231"/>
                    </a:cubicBezTo>
                    <a:cubicBezTo>
                      <a:pt x="349746" y="34231"/>
                      <a:pt x="499566" y="22820"/>
                      <a:pt x="601265" y="0"/>
                    </a:cubicBezTo>
                    <a:close/>
                    <a:moveTo>
                      <a:pt x="381744" y="220266"/>
                    </a:moveTo>
                    <a:lnTo>
                      <a:pt x="381744" y="357932"/>
                    </a:lnTo>
                    <a:lnTo>
                      <a:pt x="565547" y="357932"/>
                    </a:lnTo>
                    <a:cubicBezTo>
                      <a:pt x="489644" y="328166"/>
                      <a:pt x="428377" y="282278"/>
                      <a:pt x="381744" y="220266"/>
                    </a:cubicBezTo>
                    <a:close/>
                    <a:moveTo>
                      <a:pt x="311795" y="221010"/>
                    </a:moveTo>
                    <a:cubicBezTo>
                      <a:pt x="268635" y="282526"/>
                      <a:pt x="212080" y="328166"/>
                      <a:pt x="142131" y="357932"/>
                    </a:cubicBezTo>
                    <a:lnTo>
                      <a:pt x="311795" y="357932"/>
                    </a:lnTo>
                    <a:lnTo>
                      <a:pt x="311795" y="221010"/>
                    </a:lnTo>
                    <a:close/>
                    <a:moveTo>
                      <a:pt x="168176" y="420440"/>
                    </a:moveTo>
                    <a:lnTo>
                      <a:pt x="168176" y="476994"/>
                    </a:lnTo>
                    <a:lnTo>
                      <a:pt x="534293" y="476994"/>
                    </a:lnTo>
                    <a:lnTo>
                      <a:pt x="534293" y="420440"/>
                    </a:lnTo>
                    <a:lnTo>
                      <a:pt x="168176" y="420440"/>
                    </a:lnTo>
                    <a:close/>
                    <a:moveTo>
                      <a:pt x="168176" y="536526"/>
                    </a:moveTo>
                    <a:lnTo>
                      <a:pt x="168176" y="602010"/>
                    </a:lnTo>
                    <a:lnTo>
                      <a:pt x="534293" y="602010"/>
                    </a:lnTo>
                    <a:lnTo>
                      <a:pt x="534293" y="536526"/>
                    </a:lnTo>
                    <a:lnTo>
                      <a:pt x="168176" y="536526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87" name="TextBox 130">
                <a:extLst>
                  <a:ext uri="{FF2B5EF4-FFF2-40B4-BE49-F238E27FC236}">
                    <a16:creationId xmlns:a16="http://schemas.microsoft.com/office/drawing/2014/main" id="{EFE6C232-7CAF-122D-1433-9704DB1C6985}"/>
                  </a:ext>
                </a:extLst>
              </p:cNvPr>
              <p:cNvSpPr txBox="1"/>
              <p:nvPr/>
            </p:nvSpPr>
            <p:spPr>
              <a:xfrm>
                <a:off x="2780505" y="4501972"/>
                <a:ext cx="385839" cy="385838"/>
              </a:xfrm>
              <a:custGeom>
                <a:avLst/>
                <a:gdLst>
                  <a:gd name="connsiteX0" fmla="*/ 380437 w 700981"/>
                  <a:gd name="connsiteY0" fmla="*/ 234404 h 700980"/>
                  <a:gd name="connsiteX1" fmla="*/ 518103 w 700981"/>
                  <a:gd name="connsiteY1" fmla="*/ 325933 h 700980"/>
                  <a:gd name="connsiteX2" fmla="*/ 471966 w 700981"/>
                  <a:gd name="connsiteY2" fmla="*/ 383232 h 700980"/>
                  <a:gd name="connsiteX3" fmla="*/ 336533 w 700981"/>
                  <a:gd name="connsiteY3" fmla="*/ 284261 h 700980"/>
                  <a:gd name="connsiteX4" fmla="*/ 396064 w 700981"/>
                  <a:gd name="connsiteY4" fmla="*/ 55810 h 700980"/>
                  <a:gd name="connsiteX5" fmla="*/ 532242 w 700981"/>
                  <a:gd name="connsiteY5" fmla="*/ 146595 h 700980"/>
                  <a:gd name="connsiteX6" fmla="*/ 485361 w 700981"/>
                  <a:gd name="connsiteY6" fmla="*/ 202406 h 700980"/>
                  <a:gd name="connsiteX7" fmla="*/ 351415 w 700981"/>
                  <a:gd name="connsiteY7" fmla="*/ 104923 h 700980"/>
                  <a:gd name="connsiteX8" fmla="*/ 298401 w 700981"/>
                  <a:gd name="connsiteY8" fmla="*/ 4464 h 700980"/>
                  <a:gd name="connsiteX9" fmla="*/ 323701 w 700981"/>
                  <a:gd name="connsiteY9" fmla="*/ 65484 h 700980"/>
                  <a:gd name="connsiteX10" fmla="*/ 211336 w 700981"/>
                  <a:gd name="connsiteY10" fmla="*/ 95994 h 700980"/>
                  <a:gd name="connsiteX11" fmla="*/ 211336 w 700981"/>
                  <a:gd name="connsiteY11" fmla="*/ 200917 h 700980"/>
                  <a:gd name="connsiteX12" fmla="*/ 324445 w 700981"/>
                  <a:gd name="connsiteY12" fmla="*/ 200917 h 700980"/>
                  <a:gd name="connsiteX13" fmla="*/ 324445 w 700981"/>
                  <a:gd name="connsiteY13" fmla="*/ 264914 h 700980"/>
                  <a:gd name="connsiteX14" fmla="*/ 211336 w 700981"/>
                  <a:gd name="connsiteY14" fmla="*/ 264914 h 700980"/>
                  <a:gd name="connsiteX15" fmla="*/ 211336 w 700981"/>
                  <a:gd name="connsiteY15" fmla="*/ 271611 h 700980"/>
                  <a:gd name="connsiteX16" fmla="*/ 337096 w 700981"/>
                  <a:gd name="connsiteY16" fmla="*/ 395138 h 700980"/>
                  <a:gd name="connsiteX17" fmla="*/ 295424 w 700981"/>
                  <a:gd name="connsiteY17" fmla="*/ 459134 h 700980"/>
                  <a:gd name="connsiteX18" fmla="*/ 250776 w 700981"/>
                  <a:gd name="connsiteY18" fmla="*/ 402580 h 700980"/>
                  <a:gd name="connsiteX19" fmla="*/ 211336 w 700981"/>
                  <a:gd name="connsiteY19" fmla="*/ 352722 h 700980"/>
                  <a:gd name="connsiteX20" fmla="*/ 211336 w 700981"/>
                  <a:gd name="connsiteY20" fmla="*/ 698004 h 700980"/>
                  <a:gd name="connsiteX21" fmla="*/ 142875 w 700981"/>
                  <a:gd name="connsiteY21" fmla="*/ 700980 h 700980"/>
                  <a:gd name="connsiteX22" fmla="*/ 142875 w 700981"/>
                  <a:gd name="connsiteY22" fmla="*/ 395138 h 700980"/>
                  <a:gd name="connsiteX23" fmla="*/ 41672 w 700981"/>
                  <a:gd name="connsiteY23" fmla="*/ 561826 h 700980"/>
                  <a:gd name="connsiteX24" fmla="*/ 0 w 700981"/>
                  <a:gd name="connsiteY24" fmla="*/ 494853 h 700980"/>
                  <a:gd name="connsiteX25" fmla="*/ 140643 w 700981"/>
                  <a:gd name="connsiteY25" fmla="*/ 264914 h 700980"/>
                  <a:gd name="connsiteX26" fmla="*/ 4465 w 700981"/>
                  <a:gd name="connsiteY26" fmla="*/ 264914 h 700980"/>
                  <a:gd name="connsiteX27" fmla="*/ 4465 w 700981"/>
                  <a:gd name="connsiteY27" fmla="*/ 200917 h 700980"/>
                  <a:gd name="connsiteX28" fmla="*/ 142875 w 700981"/>
                  <a:gd name="connsiteY28" fmla="*/ 200917 h 700980"/>
                  <a:gd name="connsiteX29" fmla="*/ 142875 w 700981"/>
                  <a:gd name="connsiteY29" fmla="*/ 107900 h 700980"/>
                  <a:gd name="connsiteX30" fmla="*/ 27533 w 700981"/>
                  <a:gd name="connsiteY30" fmla="*/ 120550 h 700980"/>
                  <a:gd name="connsiteX31" fmla="*/ 11906 w 700981"/>
                  <a:gd name="connsiteY31" fmla="*/ 58042 h 700980"/>
                  <a:gd name="connsiteX32" fmla="*/ 298401 w 700981"/>
                  <a:gd name="connsiteY32" fmla="*/ 4464 h 700980"/>
                  <a:gd name="connsiteX33" fmla="*/ 564803 w 700981"/>
                  <a:gd name="connsiteY33" fmla="*/ 0 h 700980"/>
                  <a:gd name="connsiteX34" fmla="*/ 634008 w 700981"/>
                  <a:gd name="connsiteY34" fmla="*/ 0 h 700980"/>
                  <a:gd name="connsiteX35" fmla="*/ 634008 w 700981"/>
                  <a:gd name="connsiteY35" fmla="*/ 419695 h 700980"/>
                  <a:gd name="connsiteX36" fmla="*/ 700981 w 700981"/>
                  <a:gd name="connsiteY36" fmla="*/ 408533 h 700980"/>
                  <a:gd name="connsiteX37" fmla="*/ 700981 w 700981"/>
                  <a:gd name="connsiteY37" fmla="*/ 476250 h 700980"/>
                  <a:gd name="connsiteX38" fmla="*/ 634008 w 700981"/>
                  <a:gd name="connsiteY38" fmla="*/ 487412 h 700980"/>
                  <a:gd name="connsiteX39" fmla="*/ 634008 w 700981"/>
                  <a:gd name="connsiteY39" fmla="*/ 700980 h 700980"/>
                  <a:gd name="connsiteX40" fmla="*/ 564803 w 700981"/>
                  <a:gd name="connsiteY40" fmla="*/ 700980 h 700980"/>
                  <a:gd name="connsiteX41" fmla="*/ 564803 w 700981"/>
                  <a:gd name="connsiteY41" fmla="*/ 496341 h 700980"/>
                  <a:gd name="connsiteX42" fmla="*/ 315516 w 700981"/>
                  <a:gd name="connsiteY42" fmla="*/ 534293 h 700980"/>
                  <a:gd name="connsiteX43" fmla="*/ 315516 w 700981"/>
                  <a:gd name="connsiteY43" fmla="*/ 465088 h 700980"/>
                  <a:gd name="connsiteX44" fmla="*/ 564803 w 700981"/>
                  <a:gd name="connsiteY44" fmla="*/ 427880 h 700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00981" h="700980">
                    <a:moveTo>
                      <a:pt x="380437" y="234404"/>
                    </a:moveTo>
                    <a:cubicBezTo>
                      <a:pt x="417644" y="253752"/>
                      <a:pt x="463533" y="284261"/>
                      <a:pt x="518103" y="325933"/>
                    </a:cubicBezTo>
                    <a:lnTo>
                      <a:pt x="471966" y="383232"/>
                    </a:lnTo>
                    <a:cubicBezTo>
                      <a:pt x="420868" y="340568"/>
                      <a:pt x="375724" y="307578"/>
                      <a:pt x="336533" y="284261"/>
                    </a:cubicBezTo>
                    <a:close/>
                    <a:moveTo>
                      <a:pt x="396064" y="55810"/>
                    </a:moveTo>
                    <a:cubicBezTo>
                      <a:pt x="428310" y="73669"/>
                      <a:pt x="473702" y="103931"/>
                      <a:pt x="532242" y="146595"/>
                    </a:cubicBezTo>
                    <a:lnTo>
                      <a:pt x="485361" y="202406"/>
                    </a:lnTo>
                    <a:cubicBezTo>
                      <a:pt x="430294" y="158253"/>
                      <a:pt x="385646" y="125759"/>
                      <a:pt x="351415" y="104923"/>
                    </a:cubicBezTo>
                    <a:close/>
                    <a:moveTo>
                      <a:pt x="298401" y="4464"/>
                    </a:moveTo>
                    <a:lnTo>
                      <a:pt x="323701" y="65484"/>
                    </a:lnTo>
                    <a:cubicBezTo>
                      <a:pt x="287983" y="77886"/>
                      <a:pt x="250528" y="88056"/>
                      <a:pt x="211336" y="95994"/>
                    </a:cubicBezTo>
                    <a:lnTo>
                      <a:pt x="211336" y="200917"/>
                    </a:lnTo>
                    <a:lnTo>
                      <a:pt x="324445" y="200917"/>
                    </a:lnTo>
                    <a:lnTo>
                      <a:pt x="324445" y="264914"/>
                    </a:lnTo>
                    <a:lnTo>
                      <a:pt x="211336" y="264914"/>
                    </a:lnTo>
                    <a:lnTo>
                      <a:pt x="211336" y="271611"/>
                    </a:lnTo>
                    <a:cubicBezTo>
                      <a:pt x="266899" y="323205"/>
                      <a:pt x="308818" y="364380"/>
                      <a:pt x="337096" y="395138"/>
                    </a:cubicBezTo>
                    <a:lnTo>
                      <a:pt x="295424" y="459134"/>
                    </a:lnTo>
                    <a:cubicBezTo>
                      <a:pt x="280541" y="438298"/>
                      <a:pt x="265658" y="419447"/>
                      <a:pt x="250776" y="402580"/>
                    </a:cubicBezTo>
                    <a:cubicBezTo>
                      <a:pt x="237877" y="387201"/>
                      <a:pt x="224731" y="370582"/>
                      <a:pt x="211336" y="352722"/>
                    </a:cubicBezTo>
                    <a:lnTo>
                      <a:pt x="211336" y="698004"/>
                    </a:lnTo>
                    <a:lnTo>
                      <a:pt x="142875" y="700980"/>
                    </a:lnTo>
                    <a:lnTo>
                      <a:pt x="142875" y="395138"/>
                    </a:lnTo>
                    <a:cubicBezTo>
                      <a:pt x="124024" y="442763"/>
                      <a:pt x="90289" y="498326"/>
                      <a:pt x="41672" y="561826"/>
                    </a:cubicBezTo>
                    <a:lnTo>
                      <a:pt x="0" y="494853"/>
                    </a:lnTo>
                    <a:cubicBezTo>
                      <a:pt x="62508" y="423912"/>
                      <a:pt x="109389" y="347265"/>
                      <a:pt x="140643" y="264914"/>
                    </a:cubicBezTo>
                    <a:lnTo>
                      <a:pt x="4465" y="264914"/>
                    </a:lnTo>
                    <a:lnTo>
                      <a:pt x="4465" y="200917"/>
                    </a:lnTo>
                    <a:lnTo>
                      <a:pt x="142875" y="200917"/>
                    </a:lnTo>
                    <a:lnTo>
                      <a:pt x="142875" y="107900"/>
                    </a:lnTo>
                    <a:cubicBezTo>
                      <a:pt x="116582" y="112861"/>
                      <a:pt x="78135" y="117078"/>
                      <a:pt x="27533" y="120550"/>
                    </a:cubicBezTo>
                    <a:lnTo>
                      <a:pt x="11906" y="58042"/>
                    </a:lnTo>
                    <a:cubicBezTo>
                      <a:pt x="123031" y="52585"/>
                      <a:pt x="218529" y="34726"/>
                      <a:pt x="298401" y="4464"/>
                    </a:cubicBezTo>
                    <a:close/>
                    <a:moveTo>
                      <a:pt x="564803" y="0"/>
                    </a:moveTo>
                    <a:lnTo>
                      <a:pt x="634008" y="0"/>
                    </a:lnTo>
                    <a:lnTo>
                      <a:pt x="634008" y="419695"/>
                    </a:lnTo>
                    <a:lnTo>
                      <a:pt x="700981" y="408533"/>
                    </a:lnTo>
                    <a:lnTo>
                      <a:pt x="700981" y="476250"/>
                    </a:lnTo>
                    <a:lnTo>
                      <a:pt x="634008" y="487412"/>
                    </a:lnTo>
                    <a:lnTo>
                      <a:pt x="634008" y="700980"/>
                    </a:lnTo>
                    <a:lnTo>
                      <a:pt x="564803" y="700980"/>
                    </a:lnTo>
                    <a:lnTo>
                      <a:pt x="564803" y="496341"/>
                    </a:lnTo>
                    <a:lnTo>
                      <a:pt x="315516" y="534293"/>
                    </a:lnTo>
                    <a:lnTo>
                      <a:pt x="315516" y="465088"/>
                    </a:lnTo>
                    <a:lnTo>
                      <a:pt x="564803" y="42788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92" name="TextBox 131">
                <a:extLst>
                  <a:ext uri="{FF2B5EF4-FFF2-40B4-BE49-F238E27FC236}">
                    <a16:creationId xmlns:a16="http://schemas.microsoft.com/office/drawing/2014/main" id="{6B050F62-392D-1E2D-7E43-E5444380954D}"/>
                  </a:ext>
                </a:extLst>
              </p:cNvPr>
              <p:cNvSpPr txBox="1"/>
              <p:nvPr/>
            </p:nvSpPr>
            <p:spPr>
              <a:xfrm>
                <a:off x="4351285" y="4501972"/>
                <a:ext cx="386248" cy="382152"/>
              </a:xfrm>
              <a:custGeom>
                <a:avLst/>
                <a:gdLst>
                  <a:gd name="connsiteX0" fmla="*/ 139899 w 701725"/>
                  <a:gd name="connsiteY0" fmla="*/ 404813 h 694284"/>
                  <a:gd name="connsiteX1" fmla="*/ 554385 w 701725"/>
                  <a:gd name="connsiteY1" fmla="*/ 404813 h 694284"/>
                  <a:gd name="connsiteX2" fmla="*/ 554385 w 701725"/>
                  <a:gd name="connsiteY2" fmla="*/ 459135 h 694284"/>
                  <a:gd name="connsiteX3" fmla="*/ 392906 w 701725"/>
                  <a:gd name="connsiteY3" fmla="*/ 523876 h 694284"/>
                  <a:gd name="connsiteX4" fmla="*/ 701725 w 701725"/>
                  <a:gd name="connsiteY4" fmla="*/ 523876 h 694284"/>
                  <a:gd name="connsiteX5" fmla="*/ 701725 w 701725"/>
                  <a:gd name="connsiteY5" fmla="*/ 584151 h 694284"/>
                  <a:gd name="connsiteX6" fmla="*/ 392906 w 701725"/>
                  <a:gd name="connsiteY6" fmla="*/ 584151 h 694284"/>
                  <a:gd name="connsiteX7" fmla="*/ 392906 w 701725"/>
                  <a:gd name="connsiteY7" fmla="*/ 614661 h 694284"/>
                  <a:gd name="connsiteX8" fmla="*/ 325190 w 701725"/>
                  <a:gd name="connsiteY8" fmla="*/ 694284 h 694284"/>
                  <a:gd name="connsiteX9" fmla="*/ 215801 w 701725"/>
                  <a:gd name="connsiteY9" fmla="*/ 694284 h 694284"/>
                  <a:gd name="connsiteX10" fmla="*/ 198686 w 701725"/>
                  <a:gd name="connsiteY10" fmla="*/ 634008 h 694284"/>
                  <a:gd name="connsiteX11" fmla="*/ 300633 w 701725"/>
                  <a:gd name="connsiteY11" fmla="*/ 636985 h 694284"/>
                  <a:gd name="connsiteX12" fmla="*/ 322957 w 701725"/>
                  <a:gd name="connsiteY12" fmla="*/ 614661 h 694284"/>
                  <a:gd name="connsiteX13" fmla="*/ 322957 w 701725"/>
                  <a:gd name="connsiteY13" fmla="*/ 584151 h 694284"/>
                  <a:gd name="connsiteX14" fmla="*/ 0 w 701725"/>
                  <a:gd name="connsiteY14" fmla="*/ 584151 h 694284"/>
                  <a:gd name="connsiteX15" fmla="*/ 0 w 701725"/>
                  <a:gd name="connsiteY15" fmla="*/ 523876 h 694284"/>
                  <a:gd name="connsiteX16" fmla="*/ 322957 w 701725"/>
                  <a:gd name="connsiteY16" fmla="*/ 523876 h 694284"/>
                  <a:gd name="connsiteX17" fmla="*/ 322957 w 701725"/>
                  <a:gd name="connsiteY17" fmla="*/ 491878 h 694284"/>
                  <a:gd name="connsiteX18" fmla="*/ 453182 w 701725"/>
                  <a:gd name="connsiteY18" fmla="*/ 459880 h 694284"/>
                  <a:gd name="connsiteX19" fmla="*/ 139899 w 701725"/>
                  <a:gd name="connsiteY19" fmla="*/ 459880 h 694284"/>
                  <a:gd name="connsiteX20" fmla="*/ 422672 w 701725"/>
                  <a:gd name="connsiteY20" fmla="*/ 147339 h 694284"/>
                  <a:gd name="connsiteX21" fmla="*/ 462112 w 701725"/>
                  <a:gd name="connsiteY21" fmla="*/ 180826 h 694284"/>
                  <a:gd name="connsiteX22" fmla="*/ 411510 w 701725"/>
                  <a:gd name="connsiteY22" fmla="*/ 225474 h 694284"/>
                  <a:gd name="connsiteX23" fmla="*/ 453926 w 701725"/>
                  <a:gd name="connsiteY23" fmla="*/ 264914 h 694284"/>
                  <a:gd name="connsiteX24" fmla="*/ 406301 w 701725"/>
                  <a:gd name="connsiteY24" fmla="*/ 301377 h 694284"/>
                  <a:gd name="connsiteX25" fmla="*/ 366862 w 701725"/>
                  <a:gd name="connsiteY25" fmla="*/ 257472 h 694284"/>
                  <a:gd name="connsiteX26" fmla="*/ 279797 w 701725"/>
                  <a:gd name="connsiteY26" fmla="*/ 299144 h 694284"/>
                  <a:gd name="connsiteX27" fmla="*/ 247799 w 701725"/>
                  <a:gd name="connsiteY27" fmla="*/ 249287 h 694284"/>
                  <a:gd name="connsiteX28" fmla="*/ 325190 w 701725"/>
                  <a:gd name="connsiteY28" fmla="*/ 222498 h 694284"/>
                  <a:gd name="connsiteX29" fmla="*/ 275332 w 701725"/>
                  <a:gd name="connsiteY29" fmla="*/ 186779 h 694284"/>
                  <a:gd name="connsiteX30" fmla="*/ 314028 w 701725"/>
                  <a:gd name="connsiteY30" fmla="*/ 154037 h 694284"/>
                  <a:gd name="connsiteX31" fmla="*/ 340072 w 701725"/>
                  <a:gd name="connsiteY31" fmla="*/ 170408 h 694284"/>
                  <a:gd name="connsiteX32" fmla="*/ 371326 w 701725"/>
                  <a:gd name="connsiteY32" fmla="*/ 193476 h 694284"/>
                  <a:gd name="connsiteX33" fmla="*/ 422672 w 701725"/>
                  <a:gd name="connsiteY33" fmla="*/ 147339 h 694284"/>
                  <a:gd name="connsiteX34" fmla="*/ 209848 w 701725"/>
                  <a:gd name="connsiteY34" fmla="*/ 6697 h 694284"/>
                  <a:gd name="connsiteX35" fmla="*/ 242590 w 701725"/>
                  <a:gd name="connsiteY35" fmla="*/ 61763 h 694284"/>
                  <a:gd name="connsiteX36" fmla="*/ 110133 w 701725"/>
                  <a:gd name="connsiteY36" fmla="*/ 81855 h 694284"/>
                  <a:gd name="connsiteX37" fmla="*/ 112365 w 701725"/>
                  <a:gd name="connsiteY37" fmla="*/ 119806 h 694284"/>
                  <a:gd name="connsiteX38" fmla="*/ 228451 w 701725"/>
                  <a:gd name="connsiteY38" fmla="*/ 119806 h 694284"/>
                  <a:gd name="connsiteX39" fmla="*/ 228451 w 701725"/>
                  <a:gd name="connsiteY39" fmla="*/ 170408 h 694284"/>
                  <a:gd name="connsiteX40" fmla="*/ 114598 w 701725"/>
                  <a:gd name="connsiteY40" fmla="*/ 170408 h 694284"/>
                  <a:gd name="connsiteX41" fmla="*/ 115342 w 701725"/>
                  <a:gd name="connsiteY41" fmla="*/ 212824 h 694284"/>
                  <a:gd name="connsiteX42" fmla="*/ 228451 w 701725"/>
                  <a:gd name="connsiteY42" fmla="*/ 212824 h 694284"/>
                  <a:gd name="connsiteX43" fmla="*/ 228451 w 701725"/>
                  <a:gd name="connsiteY43" fmla="*/ 264170 h 694284"/>
                  <a:gd name="connsiteX44" fmla="*/ 116830 w 701725"/>
                  <a:gd name="connsiteY44" fmla="*/ 264170 h 694284"/>
                  <a:gd name="connsiteX45" fmla="*/ 118318 w 701725"/>
                  <a:gd name="connsiteY45" fmla="*/ 314027 h 694284"/>
                  <a:gd name="connsiteX46" fmla="*/ 584151 w 701725"/>
                  <a:gd name="connsiteY46" fmla="*/ 314027 h 694284"/>
                  <a:gd name="connsiteX47" fmla="*/ 584895 w 701725"/>
                  <a:gd name="connsiteY47" fmla="*/ 264170 h 694284"/>
                  <a:gd name="connsiteX48" fmla="*/ 480715 w 701725"/>
                  <a:gd name="connsiteY48" fmla="*/ 264170 h 694284"/>
                  <a:gd name="connsiteX49" fmla="*/ 480715 w 701725"/>
                  <a:gd name="connsiteY49" fmla="*/ 212824 h 694284"/>
                  <a:gd name="connsiteX50" fmla="*/ 587127 w 701725"/>
                  <a:gd name="connsiteY50" fmla="*/ 212824 h 694284"/>
                  <a:gd name="connsiteX51" fmla="*/ 588615 w 701725"/>
                  <a:gd name="connsiteY51" fmla="*/ 170408 h 694284"/>
                  <a:gd name="connsiteX52" fmla="*/ 480715 w 701725"/>
                  <a:gd name="connsiteY52" fmla="*/ 170408 h 694284"/>
                  <a:gd name="connsiteX53" fmla="*/ 480715 w 701725"/>
                  <a:gd name="connsiteY53" fmla="*/ 119806 h 694284"/>
                  <a:gd name="connsiteX54" fmla="*/ 590104 w 701725"/>
                  <a:gd name="connsiteY54" fmla="*/ 119806 h 694284"/>
                  <a:gd name="connsiteX55" fmla="*/ 590848 w 701725"/>
                  <a:gd name="connsiteY55" fmla="*/ 78878 h 694284"/>
                  <a:gd name="connsiteX56" fmla="*/ 472530 w 701725"/>
                  <a:gd name="connsiteY56" fmla="*/ 78878 h 694284"/>
                  <a:gd name="connsiteX57" fmla="*/ 472530 w 701725"/>
                  <a:gd name="connsiteY57" fmla="*/ 20091 h 694284"/>
                  <a:gd name="connsiteX58" fmla="*/ 656332 w 701725"/>
                  <a:gd name="connsiteY58" fmla="*/ 20091 h 694284"/>
                  <a:gd name="connsiteX59" fmla="*/ 648147 w 701725"/>
                  <a:gd name="connsiteY59" fmla="*/ 314027 h 694284"/>
                  <a:gd name="connsiteX60" fmla="*/ 687586 w 701725"/>
                  <a:gd name="connsiteY60" fmla="*/ 314027 h 694284"/>
                  <a:gd name="connsiteX61" fmla="*/ 687586 w 701725"/>
                  <a:gd name="connsiteY61" fmla="*/ 482203 h 694284"/>
                  <a:gd name="connsiteX62" fmla="*/ 620613 w 701725"/>
                  <a:gd name="connsiteY62" fmla="*/ 482203 h 694284"/>
                  <a:gd name="connsiteX63" fmla="*/ 620613 w 701725"/>
                  <a:gd name="connsiteY63" fmla="*/ 372814 h 694284"/>
                  <a:gd name="connsiteX64" fmla="*/ 83344 w 701725"/>
                  <a:gd name="connsiteY64" fmla="*/ 372814 h 694284"/>
                  <a:gd name="connsiteX65" fmla="*/ 83344 w 701725"/>
                  <a:gd name="connsiteY65" fmla="*/ 482203 h 694284"/>
                  <a:gd name="connsiteX66" fmla="*/ 17115 w 701725"/>
                  <a:gd name="connsiteY66" fmla="*/ 482203 h 694284"/>
                  <a:gd name="connsiteX67" fmla="*/ 17115 w 701725"/>
                  <a:gd name="connsiteY67" fmla="*/ 314027 h 694284"/>
                  <a:gd name="connsiteX68" fmla="*/ 54322 w 701725"/>
                  <a:gd name="connsiteY68" fmla="*/ 314027 h 694284"/>
                  <a:gd name="connsiteX69" fmla="*/ 46137 w 701725"/>
                  <a:gd name="connsiteY69" fmla="*/ 28277 h 694284"/>
                  <a:gd name="connsiteX70" fmla="*/ 209848 w 701725"/>
                  <a:gd name="connsiteY70" fmla="*/ 6697 h 694284"/>
                  <a:gd name="connsiteX71" fmla="*/ 308819 w 701725"/>
                  <a:gd name="connsiteY71" fmla="*/ 0 h 694284"/>
                  <a:gd name="connsiteX72" fmla="*/ 367606 w 701725"/>
                  <a:gd name="connsiteY72" fmla="*/ 40927 h 694284"/>
                  <a:gd name="connsiteX73" fmla="*/ 412998 w 701725"/>
                  <a:gd name="connsiteY73" fmla="*/ 744 h 694284"/>
                  <a:gd name="connsiteX74" fmla="*/ 450205 w 701725"/>
                  <a:gd name="connsiteY74" fmla="*/ 34230 h 694284"/>
                  <a:gd name="connsiteX75" fmla="*/ 406301 w 701725"/>
                  <a:gd name="connsiteY75" fmla="*/ 74414 h 694284"/>
                  <a:gd name="connsiteX76" fmla="*/ 445740 w 701725"/>
                  <a:gd name="connsiteY76" fmla="*/ 113853 h 694284"/>
                  <a:gd name="connsiteX77" fmla="*/ 400348 w 701725"/>
                  <a:gd name="connsiteY77" fmla="*/ 147339 h 694284"/>
                  <a:gd name="connsiteX78" fmla="*/ 362397 w 701725"/>
                  <a:gd name="connsiteY78" fmla="*/ 104923 h 694284"/>
                  <a:gd name="connsiteX79" fmla="*/ 275332 w 701725"/>
                  <a:gd name="connsiteY79" fmla="*/ 150316 h 694284"/>
                  <a:gd name="connsiteX80" fmla="*/ 237381 w 701725"/>
                  <a:gd name="connsiteY80" fmla="*/ 100459 h 694284"/>
                  <a:gd name="connsiteX81" fmla="*/ 319237 w 701725"/>
                  <a:gd name="connsiteY81" fmla="*/ 69949 h 694284"/>
                  <a:gd name="connsiteX82" fmla="*/ 268635 w 701725"/>
                  <a:gd name="connsiteY82" fmla="*/ 34974 h 69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701725" h="694284">
                    <a:moveTo>
                      <a:pt x="139899" y="404813"/>
                    </a:moveTo>
                    <a:lnTo>
                      <a:pt x="554385" y="404813"/>
                    </a:lnTo>
                    <a:lnTo>
                      <a:pt x="554385" y="459135"/>
                    </a:lnTo>
                    <a:cubicBezTo>
                      <a:pt x="510729" y="482452"/>
                      <a:pt x="456903" y="504032"/>
                      <a:pt x="392906" y="523876"/>
                    </a:cubicBezTo>
                    <a:lnTo>
                      <a:pt x="701725" y="523876"/>
                    </a:lnTo>
                    <a:lnTo>
                      <a:pt x="701725" y="584151"/>
                    </a:lnTo>
                    <a:lnTo>
                      <a:pt x="392906" y="584151"/>
                    </a:lnTo>
                    <a:lnTo>
                      <a:pt x="392906" y="614661"/>
                    </a:lnTo>
                    <a:cubicBezTo>
                      <a:pt x="392906" y="667743"/>
                      <a:pt x="370334" y="694284"/>
                      <a:pt x="325190" y="694284"/>
                    </a:cubicBezTo>
                    <a:lnTo>
                      <a:pt x="215801" y="694284"/>
                    </a:lnTo>
                    <a:lnTo>
                      <a:pt x="198686" y="634008"/>
                    </a:lnTo>
                    <a:lnTo>
                      <a:pt x="300633" y="636985"/>
                    </a:lnTo>
                    <a:cubicBezTo>
                      <a:pt x="315516" y="636985"/>
                      <a:pt x="322957" y="629544"/>
                      <a:pt x="322957" y="614661"/>
                    </a:cubicBezTo>
                    <a:lnTo>
                      <a:pt x="322957" y="584151"/>
                    </a:lnTo>
                    <a:lnTo>
                      <a:pt x="0" y="584151"/>
                    </a:lnTo>
                    <a:lnTo>
                      <a:pt x="0" y="523876"/>
                    </a:lnTo>
                    <a:lnTo>
                      <a:pt x="322957" y="523876"/>
                    </a:lnTo>
                    <a:lnTo>
                      <a:pt x="322957" y="491878"/>
                    </a:lnTo>
                    <a:cubicBezTo>
                      <a:pt x="357188" y="485924"/>
                      <a:pt x="400596" y="475258"/>
                      <a:pt x="453182" y="459880"/>
                    </a:cubicBezTo>
                    <a:lnTo>
                      <a:pt x="139899" y="459880"/>
                    </a:lnTo>
                    <a:close/>
                    <a:moveTo>
                      <a:pt x="422672" y="147339"/>
                    </a:moveTo>
                    <a:lnTo>
                      <a:pt x="462112" y="180826"/>
                    </a:lnTo>
                    <a:cubicBezTo>
                      <a:pt x="443756" y="199181"/>
                      <a:pt x="426889" y="214064"/>
                      <a:pt x="411510" y="225474"/>
                    </a:cubicBezTo>
                    <a:cubicBezTo>
                      <a:pt x="425897" y="237877"/>
                      <a:pt x="440036" y="251023"/>
                      <a:pt x="453926" y="264914"/>
                    </a:cubicBezTo>
                    <a:lnTo>
                      <a:pt x="406301" y="301377"/>
                    </a:lnTo>
                    <a:cubicBezTo>
                      <a:pt x="383481" y="272107"/>
                      <a:pt x="370334" y="257472"/>
                      <a:pt x="366862" y="257472"/>
                    </a:cubicBezTo>
                    <a:cubicBezTo>
                      <a:pt x="344041" y="273347"/>
                      <a:pt x="315020" y="287238"/>
                      <a:pt x="279797" y="299144"/>
                    </a:cubicBezTo>
                    <a:lnTo>
                      <a:pt x="247799" y="249287"/>
                    </a:lnTo>
                    <a:cubicBezTo>
                      <a:pt x="282030" y="241845"/>
                      <a:pt x="307826" y="232916"/>
                      <a:pt x="325190" y="222498"/>
                    </a:cubicBezTo>
                    <a:cubicBezTo>
                      <a:pt x="315268" y="215056"/>
                      <a:pt x="298649" y="203150"/>
                      <a:pt x="275332" y="186779"/>
                    </a:cubicBezTo>
                    <a:lnTo>
                      <a:pt x="314028" y="154037"/>
                    </a:lnTo>
                    <a:cubicBezTo>
                      <a:pt x="323453" y="160486"/>
                      <a:pt x="332135" y="165943"/>
                      <a:pt x="340072" y="170408"/>
                    </a:cubicBezTo>
                    <a:cubicBezTo>
                      <a:pt x="349498" y="176857"/>
                      <a:pt x="359916" y="184546"/>
                      <a:pt x="371326" y="193476"/>
                    </a:cubicBezTo>
                    <a:cubicBezTo>
                      <a:pt x="386209" y="184050"/>
                      <a:pt x="403324" y="168671"/>
                      <a:pt x="422672" y="147339"/>
                    </a:cubicBezTo>
                    <a:close/>
                    <a:moveTo>
                      <a:pt x="209848" y="6697"/>
                    </a:moveTo>
                    <a:lnTo>
                      <a:pt x="242590" y="61763"/>
                    </a:lnTo>
                    <a:cubicBezTo>
                      <a:pt x="214808" y="71189"/>
                      <a:pt x="170657" y="77886"/>
                      <a:pt x="110133" y="81855"/>
                    </a:cubicBezTo>
                    <a:lnTo>
                      <a:pt x="112365" y="119806"/>
                    </a:lnTo>
                    <a:lnTo>
                      <a:pt x="228451" y="119806"/>
                    </a:lnTo>
                    <a:lnTo>
                      <a:pt x="228451" y="170408"/>
                    </a:lnTo>
                    <a:lnTo>
                      <a:pt x="114598" y="170408"/>
                    </a:lnTo>
                    <a:lnTo>
                      <a:pt x="115342" y="212824"/>
                    </a:lnTo>
                    <a:lnTo>
                      <a:pt x="228451" y="212824"/>
                    </a:lnTo>
                    <a:lnTo>
                      <a:pt x="228451" y="264170"/>
                    </a:lnTo>
                    <a:lnTo>
                      <a:pt x="116830" y="264170"/>
                    </a:lnTo>
                    <a:lnTo>
                      <a:pt x="118318" y="314027"/>
                    </a:lnTo>
                    <a:lnTo>
                      <a:pt x="584151" y="314027"/>
                    </a:lnTo>
                    <a:lnTo>
                      <a:pt x="584895" y="264170"/>
                    </a:lnTo>
                    <a:lnTo>
                      <a:pt x="480715" y="264170"/>
                    </a:lnTo>
                    <a:lnTo>
                      <a:pt x="480715" y="212824"/>
                    </a:lnTo>
                    <a:lnTo>
                      <a:pt x="587127" y="212824"/>
                    </a:lnTo>
                    <a:lnTo>
                      <a:pt x="588615" y="170408"/>
                    </a:lnTo>
                    <a:lnTo>
                      <a:pt x="480715" y="170408"/>
                    </a:lnTo>
                    <a:lnTo>
                      <a:pt x="480715" y="119806"/>
                    </a:lnTo>
                    <a:lnTo>
                      <a:pt x="590104" y="119806"/>
                    </a:lnTo>
                    <a:lnTo>
                      <a:pt x="590848" y="78878"/>
                    </a:lnTo>
                    <a:lnTo>
                      <a:pt x="472530" y="78878"/>
                    </a:lnTo>
                    <a:lnTo>
                      <a:pt x="472530" y="20091"/>
                    </a:lnTo>
                    <a:lnTo>
                      <a:pt x="656332" y="20091"/>
                    </a:lnTo>
                    <a:lnTo>
                      <a:pt x="648147" y="314027"/>
                    </a:lnTo>
                    <a:lnTo>
                      <a:pt x="687586" y="314027"/>
                    </a:lnTo>
                    <a:lnTo>
                      <a:pt x="687586" y="482203"/>
                    </a:lnTo>
                    <a:lnTo>
                      <a:pt x="620613" y="482203"/>
                    </a:lnTo>
                    <a:lnTo>
                      <a:pt x="620613" y="372814"/>
                    </a:lnTo>
                    <a:lnTo>
                      <a:pt x="83344" y="372814"/>
                    </a:lnTo>
                    <a:lnTo>
                      <a:pt x="83344" y="482203"/>
                    </a:lnTo>
                    <a:lnTo>
                      <a:pt x="17115" y="482203"/>
                    </a:lnTo>
                    <a:lnTo>
                      <a:pt x="17115" y="314027"/>
                    </a:lnTo>
                    <a:lnTo>
                      <a:pt x="54322" y="314027"/>
                    </a:lnTo>
                    <a:lnTo>
                      <a:pt x="46137" y="28277"/>
                    </a:lnTo>
                    <a:cubicBezTo>
                      <a:pt x="110629" y="26292"/>
                      <a:pt x="165199" y="19099"/>
                      <a:pt x="209848" y="6697"/>
                    </a:cubicBezTo>
                    <a:close/>
                    <a:moveTo>
                      <a:pt x="308819" y="0"/>
                    </a:moveTo>
                    <a:cubicBezTo>
                      <a:pt x="328166" y="12402"/>
                      <a:pt x="347762" y="26044"/>
                      <a:pt x="367606" y="40927"/>
                    </a:cubicBezTo>
                    <a:cubicBezTo>
                      <a:pt x="388938" y="26541"/>
                      <a:pt x="404069" y="13146"/>
                      <a:pt x="412998" y="744"/>
                    </a:cubicBezTo>
                    <a:lnTo>
                      <a:pt x="450205" y="34230"/>
                    </a:lnTo>
                    <a:cubicBezTo>
                      <a:pt x="439291" y="49113"/>
                      <a:pt x="424656" y="62507"/>
                      <a:pt x="406301" y="74414"/>
                    </a:cubicBezTo>
                    <a:cubicBezTo>
                      <a:pt x="416223" y="83343"/>
                      <a:pt x="429369" y="96490"/>
                      <a:pt x="445740" y="113853"/>
                    </a:cubicBezTo>
                    <a:lnTo>
                      <a:pt x="400348" y="147339"/>
                    </a:lnTo>
                    <a:cubicBezTo>
                      <a:pt x="380504" y="119062"/>
                      <a:pt x="367854" y="104923"/>
                      <a:pt x="362397" y="104923"/>
                    </a:cubicBezTo>
                    <a:cubicBezTo>
                      <a:pt x="337592" y="120798"/>
                      <a:pt x="308570" y="135929"/>
                      <a:pt x="275332" y="150316"/>
                    </a:cubicBezTo>
                    <a:lnTo>
                      <a:pt x="237381" y="100459"/>
                    </a:lnTo>
                    <a:cubicBezTo>
                      <a:pt x="279053" y="89048"/>
                      <a:pt x="306338" y="78878"/>
                      <a:pt x="319237" y="69949"/>
                    </a:cubicBezTo>
                    <a:cubicBezTo>
                      <a:pt x="306834" y="60027"/>
                      <a:pt x="289967" y="48369"/>
                      <a:pt x="268635" y="34974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02" name="TextBox 132">
                <a:extLst>
                  <a:ext uri="{FF2B5EF4-FFF2-40B4-BE49-F238E27FC236}">
                    <a16:creationId xmlns:a16="http://schemas.microsoft.com/office/drawing/2014/main" id="{ED97FBF2-2EAF-807F-29D4-04E46F3EBC47}"/>
                  </a:ext>
                </a:extLst>
              </p:cNvPr>
              <p:cNvSpPr txBox="1"/>
              <p:nvPr/>
            </p:nvSpPr>
            <p:spPr>
              <a:xfrm>
                <a:off x="2255470" y="4505659"/>
                <a:ext cx="383688" cy="377237"/>
              </a:xfrm>
              <a:custGeom>
                <a:avLst/>
                <a:gdLst>
                  <a:gd name="connsiteX0" fmla="*/ 89297 w 697075"/>
                  <a:gd name="connsiteY0" fmla="*/ 425648 h 685353"/>
                  <a:gd name="connsiteX1" fmla="*/ 154037 w 697075"/>
                  <a:gd name="connsiteY1" fmla="*/ 463600 h 685353"/>
                  <a:gd name="connsiteX2" fmla="*/ 59531 w 697075"/>
                  <a:gd name="connsiteY2" fmla="*/ 685353 h 685353"/>
                  <a:gd name="connsiteX3" fmla="*/ 0 w 697075"/>
                  <a:gd name="connsiteY3" fmla="*/ 624334 h 685353"/>
                  <a:gd name="connsiteX4" fmla="*/ 89297 w 697075"/>
                  <a:gd name="connsiteY4" fmla="*/ 425648 h 685353"/>
                  <a:gd name="connsiteX5" fmla="*/ 312355 w 697075"/>
                  <a:gd name="connsiteY5" fmla="*/ 401092 h 685353"/>
                  <a:gd name="connsiteX6" fmla="*/ 312355 w 697075"/>
                  <a:gd name="connsiteY6" fmla="*/ 474017 h 685353"/>
                  <a:gd name="connsiteX7" fmla="*/ 483507 w 697075"/>
                  <a:gd name="connsiteY7" fmla="*/ 474017 h 685353"/>
                  <a:gd name="connsiteX8" fmla="*/ 483507 w 697075"/>
                  <a:gd name="connsiteY8" fmla="*/ 401092 h 685353"/>
                  <a:gd name="connsiteX9" fmla="*/ 368909 w 697075"/>
                  <a:gd name="connsiteY9" fmla="*/ 275332 h 685353"/>
                  <a:gd name="connsiteX10" fmla="*/ 325005 w 697075"/>
                  <a:gd name="connsiteY10" fmla="*/ 342305 h 685353"/>
                  <a:gd name="connsiteX11" fmla="*/ 514761 w 697075"/>
                  <a:gd name="connsiteY11" fmla="*/ 342305 h 685353"/>
                  <a:gd name="connsiteX12" fmla="*/ 469368 w 697075"/>
                  <a:gd name="connsiteY12" fmla="*/ 275332 h 685353"/>
                  <a:gd name="connsiteX13" fmla="*/ 48377 w 697075"/>
                  <a:gd name="connsiteY13" fmla="*/ 206870 h 685353"/>
                  <a:gd name="connsiteX14" fmla="*/ 158510 w 697075"/>
                  <a:gd name="connsiteY14" fmla="*/ 279052 h 685353"/>
                  <a:gd name="connsiteX15" fmla="*/ 107908 w 697075"/>
                  <a:gd name="connsiteY15" fmla="*/ 343048 h 685353"/>
                  <a:gd name="connsiteX16" fmla="*/ 3728 w 697075"/>
                  <a:gd name="connsiteY16" fmla="*/ 262680 h 685353"/>
                  <a:gd name="connsiteX17" fmla="*/ 352538 w 697075"/>
                  <a:gd name="connsiteY17" fmla="*/ 139898 h 685353"/>
                  <a:gd name="connsiteX18" fmla="*/ 352538 w 697075"/>
                  <a:gd name="connsiteY18" fmla="*/ 212824 h 685353"/>
                  <a:gd name="connsiteX19" fmla="*/ 487972 w 697075"/>
                  <a:gd name="connsiteY19" fmla="*/ 212824 h 685353"/>
                  <a:gd name="connsiteX20" fmla="*/ 487972 w 697075"/>
                  <a:gd name="connsiteY20" fmla="*/ 139898 h 685353"/>
                  <a:gd name="connsiteX21" fmla="*/ 284077 w 697075"/>
                  <a:gd name="connsiteY21" fmla="*/ 0 h 685353"/>
                  <a:gd name="connsiteX22" fmla="*/ 352538 w 697075"/>
                  <a:gd name="connsiteY22" fmla="*/ 0 h 685353"/>
                  <a:gd name="connsiteX23" fmla="*/ 352538 w 697075"/>
                  <a:gd name="connsiteY23" fmla="*/ 77390 h 685353"/>
                  <a:gd name="connsiteX24" fmla="*/ 487972 w 697075"/>
                  <a:gd name="connsiteY24" fmla="*/ 77390 h 685353"/>
                  <a:gd name="connsiteX25" fmla="*/ 487972 w 697075"/>
                  <a:gd name="connsiteY25" fmla="*/ 0 h 685353"/>
                  <a:gd name="connsiteX26" fmla="*/ 554945 w 697075"/>
                  <a:gd name="connsiteY26" fmla="*/ 0 h 685353"/>
                  <a:gd name="connsiteX27" fmla="*/ 554945 w 697075"/>
                  <a:gd name="connsiteY27" fmla="*/ 77390 h 685353"/>
                  <a:gd name="connsiteX28" fmla="*/ 677728 w 697075"/>
                  <a:gd name="connsiteY28" fmla="*/ 77390 h 685353"/>
                  <a:gd name="connsiteX29" fmla="*/ 677728 w 697075"/>
                  <a:gd name="connsiteY29" fmla="*/ 136178 h 685353"/>
                  <a:gd name="connsiteX30" fmla="*/ 554945 w 697075"/>
                  <a:gd name="connsiteY30" fmla="*/ 136178 h 685353"/>
                  <a:gd name="connsiteX31" fmla="*/ 554945 w 697075"/>
                  <a:gd name="connsiteY31" fmla="*/ 212824 h 685353"/>
                  <a:gd name="connsiteX32" fmla="*/ 688890 w 697075"/>
                  <a:gd name="connsiteY32" fmla="*/ 212824 h 685353"/>
                  <a:gd name="connsiteX33" fmla="*/ 688890 w 697075"/>
                  <a:gd name="connsiteY33" fmla="*/ 275332 h 685353"/>
                  <a:gd name="connsiteX34" fmla="*/ 546759 w 697075"/>
                  <a:gd name="connsiteY34" fmla="*/ 275332 h 685353"/>
                  <a:gd name="connsiteX35" fmla="*/ 697075 w 697075"/>
                  <a:gd name="connsiteY35" fmla="*/ 395139 h 685353"/>
                  <a:gd name="connsiteX36" fmla="*/ 665078 w 697075"/>
                  <a:gd name="connsiteY36" fmla="*/ 461367 h 685353"/>
                  <a:gd name="connsiteX37" fmla="*/ 551968 w 697075"/>
                  <a:gd name="connsiteY37" fmla="*/ 380256 h 685353"/>
                  <a:gd name="connsiteX38" fmla="*/ 551968 w 697075"/>
                  <a:gd name="connsiteY38" fmla="*/ 532805 h 685353"/>
                  <a:gd name="connsiteX39" fmla="*/ 312355 w 697075"/>
                  <a:gd name="connsiteY39" fmla="*/ 532805 h 685353"/>
                  <a:gd name="connsiteX40" fmla="*/ 312355 w 697075"/>
                  <a:gd name="connsiteY40" fmla="*/ 580430 h 685353"/>
                  <a:gd name="connsiteX41" fmla="*/ 338400 w 697075"/>
                  <a:gd name="connsiteY41" fmla="*/ 606475 h 685353"/>
                  <a:gd name="connsiteX42" fmla="*/ 559409 w 697075"/>
                  <a:gd name="connsiteY42" fmla="*/ 606475 h 685353"/>
                  <a:gd name="connsiteX43" fmla="*/ 596617 w 697075"/>
                  <a:gd name="connsiteY43" fmla="*/ 583406 h 685353"/>
                  <a:gd name="connsiteX44" fmla="*/ 607779 w 697075"/>
                  <a:gd name="connsiteY44" fmla="*/ 500807 h 685353"/>
                  <a:gd name="connsiteX45" fmla="*/ 679216 w 697075"/>
                  <a:gd name="connsiteY45" fmla="*/ 526851 h 685353"/>
                  <a:gd name="connsiteX46" fmla="*/ 647218 w 697075"/>
                  <a:gd name="connsiteY46" fmla="*/ 651123 h 685353"/>
                  <a:gd name="connsiteX47" fmla="*/ 570572 w 697075"/>
                  <a:gd name="connsiteY47" fmla="*/ 671215 h 685353"/>
                  <a:gd name="connsiteX48" fmla="*/ 329470 w 697075"/>
                  <a:gd name="connsiteY48" fmla="*/ 671215 h 685353"/>
                  <a:gd name="connsiteX49" fmla="*/ 262497 w 697075"/>
                  <a:gd name="connsiteY49" fmla="*/ 653355 h 685353"/>
                  <a:gd name="connsiteX50" fmla="*/ 243894 w 697075"/>
                  <a:gd name="connsiteY50" fmla="*/ 584150 h 685353"/>
                  <a:gd name="connsiteX51" fmla="*/ 243894 w 697075"/>
                  <a:gd name="connsiteY51" fmla="*/ 417463 h 685353"/>
                  <a:gd name="connsiteX52" fmla="*/ 175433 w 697075"/>
                  <a:gd name="connsiteY52" fmla="*/ 464344 h 685353"/>
                  <a:gd name="connsiteX53" fmla="*/ 133017 w 697075"/>
                  <a:gd name="connsiteY53" fmla="*/ 401836 h 685353"/>
                  <a:gd name="connsiteX54" fmla="*/ 289286 w 697075"/>
                  <a:gd name="connsiteY54" fmla="*/ 276076 h 685353"/>
                  <a:gd name="connsiteX55" fmla="*/ 170224 w 697075"/>
                  <a:gd name="connsiteY55" fmla="*/ 276076 h 685353"/>
                  <a:gd name="connsiteX56" fmla="*/ 170224 w 697075"/>
                  <a:gd name="connsiteY56" fmla="*/ 213568 h 685353"/>
                  <a:gd name="connsiteX57" fmla="*/ 284077 w 697075"/>
                  <a:gd name="connsiteY57" fmla="*/ 213568 h 685353"/>
                  <a:gd name="connsiteX58" fmla="*/ 284077 w 697075"/>
                  <a:gd name="connsiteY58" fmla="*/ 139154 h 685353"/>
                  <a:gd name="connsiteX59" fmla="*/ 185107 w 697075"/>
                  <a:gd name="connsiteY59" fmla="*/ 139154 h 685353"/>
                  <a:gd name="connsiteX60" fmla="*/ 185107 w 697075"/>
                  <a:gd name="connsiteY60" fmla="*/ 98970 h 685353"/>
                  <a:gd name="connsiteX61" fmla="*/ 139714 w 697075"/>
                  <a:gd name="connsiteY61" fmla="*/ 155525 h 685353"/>
                  <a:gd name="connsiteX62" fmla="*/ 28837 w 697075"/>
                  <a:gd name="connsiteY62" fmla="*/ 68461 h 685353"/>
                  <a:gd name="connsiteX63" fmla="*/ 77950 w 697075"/>
                  <a:gd name="connsiteY63" fmla="*/ 13394 h 685353"/>
                  <a:gd name="connsiteX64" fmla="*/ 185107 w 697075"/>
                  <a:gd name="connsiteY64" fmla="*/ 87064 h 685353"/>
                  <a:gd name="connsiteX65" fmla="*/ 185107 w 697075"/>
                  <a:gd name="connsiteY65" fmla="*/ 77390 h 685353"/>
                  <a:gd name="connsiteX66" fmla="*/ 284077 w 697075"/>
                  <a:gd name="connsiteY66" fmla="*/ 77390 h 68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697075" h="685353">
                    <a:moveTo>
                      <a:pt x="89297" y="425648"/>
                    </a:moveTo>
                    <a:lnTo>
                      <a:pt x="154037" y="463600"/>
                    </a:lnTo>
                    <a:cubicBezTo>
                      <a:pt x="133697" y="543967"/>
                      <a:pt x="102195" y="617885"/>
                      <a:pt x="59531" y="685353"/>
                    </a:cubicBezTo>
                    <a:lnTo>
                      <a:pt x="0" y="624334"/>
                    </a:lnTo>
                    <a:cubicBezTo>
                      <a:pt x="43656" y="562322"/>
                      <a:pt x="73422" y="496094"/>
                      <a:pt x="89297" y="425648"/>
                    </a:cubicBezTo>
                    <a:close/>
                    <a:moveTo>
                      <a:pt x="312355" y="401092"/>
                    </a:moveTo>
                    <a:lnTo>
                      <a:pt x="312355" y="474017"/>
                    </a:lnTo>
                    <a:lnTo>
                      <a:pt x="483507" y="474017"/>
                    </a:lnTo>
                    <a:lnTo>
                      <a:pt x="483507" y="401092"/>
                    </a:lnTo>
                    <a:close/>
                    <a:moveTo>
                      <a:pt x="368909" y="275332"/>
                    </a:moveTo>
                    <a:cubicBezTo>
                      <a:pt x="357995" y="300633"/>
                      <a:pt x="343361" y="322957"/>
                      <a:pt x="325005" y="342305"/>
                    </a:cubicBezTo>
                    <a:lnTo>
                      <a:pt x="514761" y="342305"/>
                    </a:lnTo>
                    <a:cubicBezTo>
                      <a:pt x="498390" y="323949"/>
                      <a:pt x="483259" y="301625"/>
                      <a:pt x="469368" y="275332"/>
                    </a:cubicBezTo>
                    <a:close/>
                    <a:moveTo>
                      <a:pt x="48377" y="206870"/>
                    </a:moveTo>
                    <a:cubicBezTo>
                      <a:pt x="83600" y="225722"/>
                      <a:pt x="120310" y="249782"/>
                      <a:pt x="158510" y="279052"/>
                    </a:cubicBezTo>
                    <a:lnTo>
                      <a:pt x="107908" y="343048"/>
                    </a:lnTo>
                    <a:cubicBezTo>
                      <a:pt x="67724" y="308817"/>
                      <a:pt x="32998" y="282028"/>
                      <a:pt x="3728" y="262680"/>
                    </a:cubicBezTo>
                    <a:close/>
                    <a:moveTo>
                      <a:pt x="352538" y="139898"/>
                    </a:moveTo>
                    <a:lnTo>
                      <a:pt x="352538" y="212824"/>
                    </a:lnTo>
                    <a:lnTo>
                      <a:pt x="487972" y="212824"/>
                    </a:lnTo>
                    <a:lnTo>
                      <a:pt x="487972" y="139898"/>
                    </a:lnTo>
                    <a:close/>
                    <a:moveTo>
                      <a:pt x="284077" y="0"/>
                    </a:moveTo>
                    <a:lnTo>
                      <a:pt x="352538" y="0"/>
                    </a:lnTo>
                    <a:lnTo>
                      <a:pt x="352538" y="77390"/>
                    </a:lnTo>
                    <a:lnTo>
                      <a:pt x="487972" y="77390"/>
                    </a:lnTo>
                    <a:lnTo>
                      <a:pt x="487972" y="0"/>
                    </a:lnTo>
                    <a:lnTo>
                      <a:pt x="554945" y="0"/>
                    </a:lnTo>
                    <a:lnTo>
                      <a:pt x="554945" y="77390"/>
                    </a:lnTo>
                    <a:lnTo>
                      <a:pt x="677728" y="77390"/>
                    </a:lnTo>
                    <a:lnTo>
                      <a:pt x="677728" y="136178"/>
                    </a:lnTo>
                    <a:lnTo>
                      <a:pt x="554945" y="136178"/>
                    </a:lnTo>
                    <a:lnTo>
                      <a:pt x="554945" y="212824"/>
                    </a:lnTo>
                    <a:lnTo>
                      <a:pt x="688890" y="212824"/>
                    </a:lnTo>
                    <a:lnTo>
                      <a:pt x="688890" y="275332"/>
                    </a:lnTo>
                    <a:lnTo>
                      <a:pt x="546759" y="275332"/>
                    </a:lnTo>
                    <a:cubicBezTo>
                      <a:pt x="566603" y="315516"/>
                      <a:pt x="616708" y="355451"/>
                      <a:pt x="697075" y="395139"/>
                    </a:cubicBezTo>
                    <a:lnTo>
                      <a:pt x="665078" y="461367"/>
                    </a:lnTo>
                    <a:cubicBezTo>
                      <a:pt x="619437" y="434082"/>
                      <a:pt x="581734" y="407045"/>
                      <a:pt x="551968" y="380256"/>
                    </a:cubicBezTo>
                    <a:lnTo>
                      <a:pt x="551968" y="532805"/>
                    </a:lnTo>
                    <a:lnTo>
                      <a:pt x="312355" y="532805"/>
                    </a:lnTo>
                    <a:lnTo>
                      <a:pt x="312355" y="580430"/>
                    </a:lnTo>
                    <a:cubicBezTo>
                      <a:pt x="312355" y="597793"/>
                      <a:pt x="321036" y="606475"/>
                      <a:pt x="338400" y="606475"/>
                    </a:cubicBezTo>
                    <a:lnTo>
                      <a:pt x="559409" y="606475"/>
                    </a:lnTo>
                    <a:cubicBezTo>
                      <a:pt x="580245" y="606475"/>
                      <a:pt x="592648" y="598785"/>
                      <a:pt x="596617" y="583406"/>
                    </a:cubicBezTo>
                    <a:cubicBezTo>
                      <a:pt x="600585" y="567531"/>
                      <a:pt x="604306" y="539998"/>
                      <a:pt x="607779" y="500807"/>
                    </a:cubicBezTo>
                    <a:lnTo>
                      <a:pt x="679216" y="526851"/>
                    </a:lnTo>
                    <a:cubicBezTo>
                      <a:pt x="671279" y="595808"/>
                      <a:pt x="660613" y="637232"/>
                      <a:pt x="647218" y="651123"/>
                    </a:cubicBezTo>
                    <a:cubicBezTo>
                      <a:pt x="634320" y="664517"/>
                      <a:pt x="608771" y="671215"/>
                      <a:pt x="570572" y="671215"/>
                    </a:cubicBezTo>
                    <a:lnTo>
                      <a:pt x="329470" y="671215"/>
                    </a:lnTo>
                    <a:cubicBezTo>
                      <a:pt x="297720" y="671215"/>
                      <a:pt x="275396" y="665262"/>
                      <a:pt x="262497" y="653355"/>
                    </a:cubicBezTo>
                    <a:cubicBezTo>
                      <a:pt x="250095" y="640953"/>
                      <a:pt x="243894" y="617885"/>
                      <a:pt x="243894" y="584150"/>
                    </a:cubicBezTo>
                    <a:lnTo>
                      <a:pt x="243894" y="417463"/>
                    </a:lnTo>
                    <a:cubicBezTo>
                      <a:pt x="231492" y="427881"/>
                      <a:pt x="208671" y="443508"/>
                      <a:pt x="175433" y="464344"/>
                    </a:cubicBezTo>
                    <a:lnTo>
                      <a:pt x="133017" y="401836"/>
                    </a:lnTo>
                    <a:cubicBezTo>
                      <a:pt x="215368" y="364629"/>
                      <a:pt x="267458" y="322709"/>
                      <a:pt x="289286" y="276076"/>
                    </a:cubicBezTo>
                    <a:lnTo>
                      <a:pt x="170224" y="276076"/>
                    </a:lnTo>
                    <a:lnTo>
                      <a:pt x="170224" y="213568"/>
                    </a:lnTo>
                    <a:lnTo>
                      <a:pt x="284077" y="213568"/>
                    </a:lnTo>
                    <a:lnTo>
                      <a:pt x="284077" y="139154"/>
                    </a:lnTo>
                    <a:lnTo>
                      <a:pt x="185107" y="139154"/>
                    </a:lnTo>
                    <a:lnTo>
                      <a:pt x="185107" y="98970"/>
                    </a:lnTo>
                    <a:lnTo>
                      <a:pt x="139714" y="155525"/>
                    </a:lnTo>
                    <a:cubicBezTo>
                      <a:pt x="99034" y="118318"/>
                      <a:pt x="62075" y="89297"/>
                      <a:pt x="28837" y="68461"/>
                    </a:cubicBezTo>
                    <a:lnTo>
                      <a:pt x="77950" y="13394"/>
                    </a:lnTo>
                    <a:cubicBezTo>
                      <a:pt x="120118" y="40183"/>
                      <a:pt x="155837" y="64740"/>
                      <a:pt x="185107" y="87064"/>
                    </a:cubicBezTo>
                    <a:lnTo>
                      <a:pt x="185107" y="77390"/>
                    </a:lnTo>
                    <a:lnTo>
                      <a:pt x="284077" y="7739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</p:grpSp>
      <p:sp>
        <p:nvSpPr>
          <p:cNvPr id="285" name="decision-1-title">
            <a:extLst>
              <a:ext uri="{FF2B5EF4-FFF2-40B4-BE49-F238E27FC236}">
                <a16:creationId xmlns:a16="http://schemas.microsoft.com/office/drawing/2014/main" id="{B5BA699F-0B7D-EDA5-40E6-EC483B8600EF}"/>
              </a:ext>
            </a:extLst>
          </p:cNvPr>
          <p:cNvSpPr>
            <a:spLocks noGrp="1"/>
          </p:cNvSpPr>
          <p:nvPr/>
        </p:nvSpPr>
        <p:spPr>
          <a:xfrm>
            <a:off x="1504950" y="137953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875" b="1" dirty="0">
                <a:solidFill>
                  <a:srgbClr val="102A43"/>
                </a:solidFill>
                <a:latin typeface="Arial"/>
                <a:cs typeface="Arial"/>
              </a:rPr>
              <a:t>Execution plan</a:t>
            </a:r>
          </a:p>
        </p:txBody>
      </p:sp>
      <p:sp>
        <p:nvSpPr>
          <p:cNvPr id="287" name="simple-example-assumptions">
            <a:extLst>
              <a:ext uri="{FF2B5EF4-FFF2-40B4-BE49-F238E27FC236}">
                <a16:creationId xmlns:a16="http://schemas.microsoft.com/office/drawing/2014/main" id="{4D8286D2-8A05-CADF-E101-5607149DFEB8}"/>
              </a:ext>
            </a:extLst>
          </p:cNvPr>
          <p:cNvSpPr>
            <a:spLocks noGrp="1"/>
          </p:cNvSpPr>
          <p:nvPr/>
        </p:nvSpPr>
        <p:spPr>
          <a:xfrm>
            <a:off x="704850" y="21075649"/>
            <a:ext cx="5810250" cy="36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38" lnSpcReduction="10000"/>
          </a:bodyPr>
          <a:lstStyle/>
          <a:p>
            <a:pPr algn="ctr"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lang="en-US" sz="1275" b="0" i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MAX: </a:t>
            </a:r>
            <a:r>
              <a:rPr lang="en-US" altLang="zh-CN" sz="140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Runs one LLM at a time with all GPUs; MIN: Uses minimum-GPU plans to maximize concurrency</a:t>
            </a:r>
            <a:endParaRPr sz="1275" b="0" i="0" dirty="0">
              <a:solidFill>
                <a:srgbClr val="52606D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48586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1237</Words>
  <Application>Microsoft Office PowerPoint</Application>
  <DocSecurity>0</DocSecurity>
  <PresentationFormat>自定义</PresentationFormat>
  <Paragraphs>142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Futura Std Book</vt:lpstr>
      <vt:lpstr>Arial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pudding fang</cp:lastModifiedBy>
  <cp:revision>43</cp:revision>
  <dcterms:created xsi:type="dcterms:W3CDTF">2026-09-01T09:20:49Z</dcterms:created>
  <dcterms:modified xsi:type="dcterms:W3CDTF">2026-09-01T11:36:20Z</dcterms:modified>
</cp:coreProperties>
</file>